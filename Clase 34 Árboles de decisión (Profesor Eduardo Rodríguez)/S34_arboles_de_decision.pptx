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en entrenamiento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15</c:v>
                </c:pt>
                <c:pt idx="9">
                  <c:v>sin límite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0.6993</c:v>
                </c:pt>
                <c:pt idx="1">
                  <c:v>0.829</c:v>
                </c:pt>
                <c:pt idx="2">
                  <c:v>0.8554</c:v>
                </c:pt>
                <c:pt idx="3">
                  <c:v>0.8987</c:v>
                </c:pt>
                <c:pt idx="4">
                  <c:v>0.9275</c:v>
                </c:pt>
                <c:pt idx="5">
                  <c:v>0.9402</c:v>
                </c:pt>
                <c:pt idx="6">
                  <c:v>0.9688</c:v>
                </c:pt>
                <c:pt idx="7">
                  <c:v>0.9851</c:v>
                </c:pt>
                <c:pt idx="8">
                  <c:v>0.9989</c:v>
                </c:pt>
                <c:pt idx="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 en validación cruzada</c:v>
                </c:pt>
              </c:strCache>
            </c:strRef>
          </c:tx>
          <c:spPr>
            <a:solidFill>
              <a:srgbClr val="307FE2"/>
            </a:solidFill>
            <a:ln w="38100" cap="flat">
              <a:solidFill>
                <a:srgbClr val="307F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07FE2"/>
              </a:solidFill>
              <a:ln w="9525" cap="flat">
                <a:solidFill>
                  <a:srgbClr val="307FE2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15</c:v>
                </c:pt>
                <c:pt idx="9">
                  <c:v>sin límite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0.6993</c:v>
                </c:pt>
                <c:pt idx="1">
                  <c:v>0.8107</c:v>
                </c:pt>
                <c:pt idx="2">
                  <c:v>0.8495</c:v>
                </c:pt>
                <c:pt idx="3">
                  <c:v>0.8792</c:v>
                </c:pt>
                <c:pt idx="4">
                  <c:v>0.9058</c:v>
                </c:pt>
                <c:pt idx="5">
                  <c:v>0.9114</c:v>
                </c:pt>
                <c:pt idx="6">
                  <c:v>0.8917</c:v>
                </c:pt>
                <c:pt idx="7">
                  <c:v>0.8817</c:v>
                </c:pt>
                <c:pt idx="8">
                  <c:v>0.8379</c:v>
                </c:pt>
                <c:pt idx="9">
                  <c:v>0.8267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7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784"/>
                    </a:solidFill>
                    <a:latin typeface="Arial"/>
                  </a:rPr>
                  <a:t>Profundidad máxima del árbol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en validación cruzada</c:v>
                </c:pt>
              </c:strCache>
            </c:strRef>
          </c:tx>
          <c:spPr>
            <a:solidFill>
              <a:srgbClr val="9FB3C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3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3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07F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EDB00"/>
              </a:solidFill>
              <a:effectLst/>
            </c:spPr>
          </c:dPt>
          <c:cat>
            <c:strRef>
              <c:f>Sheet1!$A$2:$A$6</c:f>
              <c:strCache>
                <c:ptCount val="5"/>
                <c:pt idx="0">
                  <c:v>Árbol depth=3</c:v>
                </c:pt>
                <c:pt idx="1">
                  <c:v>Árbol depth=5</c:v>
                </c:pt>
                <c:pt idx="2">
                  <c:v>Árbol podado</c:v>
                </c:pt>
                <c:pt idx="3">
                  <c:v>Regresión logística</c:v>
                </c:pt>
                <c:pt idx="4">
                  <c:v>Random 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0.8495</c:v>
                </c:pt>
                <c:pt idx="1">
                  <c:v>0.9058</c:v>
                </c:pt>
                <c:pt idx="2">
                  <c:v>0.8996</c:v>
                </c:pt>
                <c:pt idx="3">
                  <c:v>0.9199</c:v>
                </c:pt>
                <c:pt idx="4">
                  <c:v>0.9736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Dedicar tiempo a leer el árbol en voz alta con la clase antes de pasar al siguiente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salen de barrer 60 umbrales por variable exigiendo al menos 60 casos por lado. Están en el notebook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A da Gini ponderado ~0,168 y ganancia ~0,097. B da ~0,265 y ganancia ~0,000. El árbol elige reclamos. La moraleja es que una variable sin poder de separación produce hijos idénticos al padre y ganancia cero — que es lo que le pasa a edad.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para mencionar: el tercio de clientes que no entra en cada bootstrap se llama out-of-bag y sirve para estimar el error sin separar un test 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200400" cy="107533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Data Science  ·  Sesión 34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97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 de decisión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que se puede dibujar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4224528"/>
            <a:ext cx="2560320" cy="54864"/>
          </a:xfrm>
          <a:prstGeom prst="rect">
            <a:avLst/>
          </a:prstGeom>
          <a:solidFill>
            <a:srgbClr val="FEDB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4453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parte el espacio, cómo se poda y cuándo conviene · 3 horas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Rodríguez Faúndez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67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en Estadística UC · Máster en Big Data &amp; Data Science, MBIT · Matemático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en el diplomado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responde una pregunta distinta sobre los mismos datos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105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9105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9105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datos confiables?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15910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0428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30428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0428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aprende un modelo?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08792" y="23042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01752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0175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y reducción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175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forma se los entrego?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08792" y="30175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73075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7307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selección de variables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307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me quedo?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443984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0F3B7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44398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D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4439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decisión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4439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explico?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157216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15721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5157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/ Taller con datos reales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157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Hacerlo de punta a punta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 de la Sesión 33 que hoy se explican solas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08792" cy="109728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53619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2984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la ganancia de información como filtro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88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el criterio con el que un árbol elige cada corte. Hoy vamos a ver el mismo cálculo desde adentro del modelo.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08792" cy="109728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81635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786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Hablamos de «importancia de árboles» como método embedded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468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selecciona variables mientras se entrena: las que no aparecen en ningún corte quedaron descartadas por el propio algoritmo.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08792" cy="109728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09651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8587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que reclamos era la variable más fuerte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749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vamos a ver por qué siempre queda arriba de todo, y qué pasa justo debajo de ella.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FFF6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cuarta, de la Sesión 32: los árboles no necesitan que escalemos las variables. Vamos a comprobarlo con un número.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sesión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6 bloques · 2 descansos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5727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con la Sesión 33 y encuadre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177272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148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parte el espacio un árbol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724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corte: Gini y entropía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177272" y="2724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FEDB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00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 y poda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177272" y="33009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8770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Interpretar: reglas e importancia de variables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38770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45312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453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Fortalezas, límites y el salto al bosque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44531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3 es el que decide si el árbol sirve o no. Si vamos atrasados, se acorta el 5.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 esta sesión vas a poder…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18872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árbol construye reglas partiendo el espacio de forma recursiva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1168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impureza de Gini y la entropía, y elegir el mejor corte a mano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346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83464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 con la curva de profundidad y controlarlo con poda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6576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65760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entrenado y traducirlo a reglas de negocio comunicables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805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48056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sesgo de la importancia por impureza y corregirlo con permutación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parte el espacio un árbol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binarias, una atrás de otra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idea: preguntas binarias encadenadas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no ajusta una fórmula. Divide el espacio en regiones.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25796" cy="2926080"/>
          </a:xfrm>
          <a:prstGeom prst="roundRect">
            <a:avLst>
              <a:gd name="adj" fmla="val 1250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0992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58568"/>
            <a:ext cx="45857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un único plano que separa todo el espacio. Cada variable pesa igual en todas partes.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081528"/>
            <a:ext cx="4585716" cy="685800"/>
          </a:xfrm>
          <a:prstGeom prst="roundRect">
            <a:avLst>
              <a:gd name="adj" fmla="val 4000"/>
            </a:avLst>
          </a:prstGeom>
          <a:solidFill>
            <a:srgbClr val="0C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081528"/>
            <a:ext cx="43113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P(fuga) = f(β₀ + β₁·reclamos + β₂·segundos + …)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58768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frontera, global y lineal.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3076" y="1481328"/>
            <a:ext cx="5225796" cy="2926080"/>
          </a:xfrm>
          <a:prstGeom prst="roundRect">
            <a:avLst>
              <a:gd name="adj" fmla="val 1250"/>
            </a:avLst>
          </a:prstGeom>
          <a:solidFill>
            <a:srgbClr val="EEF3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3116" y="170992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decisión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643116" y="2258568"/>
            <a:ext cx="45857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el espacio en rectángulos. Dentro de cada uno predice un valor constante.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43116" y="3081528"/>
            <a:ext cx="4585716" cy="685800"/>
          </a:xfrm>
          <a:prstGeom prst="roundRect">
            <a:avLst>
              <a:gd name="adj" fmla="val 4000"/>
            </a:avLst>
          </a:prstGeom>
          <a:solidFill>
            <a:srgbClr val="0C25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80276" y="3081528"/>
            <a:ext cx="43113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¿reclamos &gt; 0?  →  ¿frec_llamadas ≤ 57,5?  →  94 % de fuga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3858768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fronteras, locales y perpendiculares a los ejes.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81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consecuencias de partir en rectángulos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657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no linealidad sola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76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nadie construya un log ni un cuadrado.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0657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interacciones solas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5376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distinta puede usar variables distintas.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0657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solo corta perpendicular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376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frontera diagonal necesita muchos escalones.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árbol de profundidad 3 sobre nuestro churn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3.150 clientes · las 12 variables originales · mínimo 60 casos por hoja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89888"/>
            <a:ext cx="10908792" cy="4233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7332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caja muestra la regla de corte, cuántos clientes caen ahí en número y en porcentaje, y qué proporción de ellos se fuga. El color codifica la clase mayoritaria: naranja se queda, azul se fuga.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árbol, leído como reglas de negocio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fuga real en cada hoja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90879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188720"/>
                <a:gridCol w="1645920"/>
                <a:gridCol w="3227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fuga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&gt; 0  ·  frec_llamadas ≤ 57,5  ·  numero_fallas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Reclamó, usa poco y tuvo fallas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&gt; 0  ·  frec_llamadas ≤ 57,5  ·  numero_fallas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Reclamó y usa poco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= 0  ·  segundos ≤ 934  ·  antiguedad &gt; 28,5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A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bajo pese a la antigüedad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&gt; 0  ·  frec_llamadas &gt; 57,5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A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Reclamó pero sigue usando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= 0  ·  segundos &gt; 934  ·  clv &gt; 61,3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núcleo sano de la cartera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18888"/>
            <a:ext cx="10908792" cy="1188720"/>
          </a:xfrm>
          <a:prstGeom prst="roundRect">
            <a:avLst>
              <a:gd name="adj" fmla="val 3077"/>
            </a:avLst>
          </a:prstGeom>
          <a:solidFill>
            <a:srgbClr val="EEF3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81888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un árbol da y una regresión logística no: reglas accionables. «Cliente que reclamó, usa poco y tuvo fallas» no es un coeficiente — es un segmento de 149 personas con 94 % de fuga, al que se le puede mandar una campaña mañana.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criterio de corte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reclamos y no otra? Gini y entropía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Impureza: qué tan mezclado está un nodo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busca el corte que más reduce la mezcla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es la proporción de la clase i DENTRO DEL NODO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577840" cy="960120"/>
          </a:xfrm>
          <a:prstGeom prst="roundRect">
            <a:avLst>
              <a:gd name="adj" fmla="val 3810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    = 1 − Σ pᵢ²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04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Entropía = − Σ pᵢ · log₂(pᵢ)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5577840" cy="132588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raíz hay 3.150 clientes y 495 se fugan: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552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p_queda = 2.655 / 3.150 = 0,843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4930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p_fuga  =   495 / 3.150 = 0,157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767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   = 1 − 0,843² − 0,157² = 0,265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342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tiene sus propios pᵢ: se recalculan con los clientes que caen ahí.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3168"/>
          <a:ext cx="55778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Composición del nodo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se queda (puro)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 / 16 %  ← nuestra raíz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 / 50 % (máxima mezcla)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6 % / 94 %  ← la hoja de fuga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583680" y="1481328"/>
            <a:ext cx="4965192" cy="5120640"/>
          </a:xfrm>
          <a:prstGeom prst="roundRect">
            <a:avLst>
              <a:gd name="adj" fmla="val 737"/>
            </a:avLst>
          </a:prstGeom>
          <a:solidFill>
            <a:srgbClr val="F7F9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03720" y="1709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elige el corte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variable y cada umbral posible, el algoritmo calcula: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03720" y="2624328"/>
            <a:ext cx="4343400" cy="868680"/>
          </a:xfrm>
          <a:prstGeom prst="roundRect">
            <a:avLst>
              <a:gd name="adj" fmla="val 3158"/>
            </a:avLst>
          </a:prstGeom>
          <a:solidFill>
            <a:srgbClr val="0C254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040880" y="262432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ganancia = impureza(padre)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− Σ (nᵢ/n) · impureza(hijoᵢ)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675888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con el corte de mayor ganancia y repite en cada hijo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algoritmo voraz: elige lo mejor ahora, sin mirar dos pasos adelante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no garantiza el árbol óptimo — solo uno bueno y rápido de construir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903720" y="5413248"/>
            <a:ext cx="4343400" cy="1097280"/>
          </a:xfrm>
          <a:prstGeom prst="roundRect">
            <a:avLst>
              <a:gd name="adj" fmla="val 3333"/>
            </a:avLst>
          </a:prstGeom>
          <a:solidFill>
            <a:srgbClr val="FFF6C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78040" y="54132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de información que usamos como filtro en la Sesión 33 es esta misma fórmula, aplicada una sola vez por variable en lugar de recursivamente.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árbol empieza por reclamos?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no elige: prueba todo y se queda con lo mejor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868680"/>
          </a:xfrm>
          <a:prstGeom prst="roundRect">
            <a:avLst>
              <a:gd name="adj" fmla="val 4211"/>
            </a:avLst>
          </a:prstGeom>
          <a:solidFill>
            <a:srgbClr val="0F3B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4813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una de las 12 variables prueba todos los umbrales posibles, calcula la ganancia de cada corte, y se queda con el mejor de todos. Son miles de evaluaciones para elegir una sola pregunta.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328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corte de cada variable en la raíz, ordenado por ganancia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98648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7373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corte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ponderado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reclamos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frec_llamadas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57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105,6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segundos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1.263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n_contactos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antiguedad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numero_fallas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532888"/>
            <a:ext cx="3959352" cy="3291840"/>
          </a:xfrm>
          <a:prstGeom prst="roundRect">
            <a:avLst>
              <a:gd name="adj" fmla="val 1111"/>
            </a:avLst>
          </a:prstGeom>
          <a:solidFill>
            <a:srgbClr val="F7F9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 tabla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081528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Gini de la raíz es 0,2649. La ganancia es cuánto lo baja cada corte.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gana con 0,0693: más del doble que la segunda. No hay competencia.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aporta 0,0005. Parte la población en dos grupos casi idénticos al original.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mira el futuro: es el mejor corte AHORA. De ahí que el algoritmo sea voraz.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vez elegido reclamos, el algoritmo repite el mismo barrido completo dentro de cada uno de los dos hijos, por separado.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Ejercicio: elegir el primer corte a mano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0F3B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Raíz: 3.150 clientes, 495 se fugan (15,7 %).   Gini del padre = 1 − 0,843² − 0,157² = 0,265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candidatos a primer corte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25796" cy="16002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88036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 A:  reclamos &gt; 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91840"/>
            <a:ext cx="44028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278 clientes, 211 se fugan (75,9 %)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2.872 clientes, 284 se fugan (9,9 %)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3076" y="2697480"/>
            <a:ext cx="5225796" cy="1600200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43116" y="288036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 B:  edad &gt; 40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34556" y="3291840"/>
            <a:ext cx="44028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1.559 clientes, 240 se fugan (15,4 %)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1.591 clientes, 255 se fugan (16,0 %)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2963"/>
            </a:avLst>
          </a:prstGeom>
          <a:solidFill>
            <a:srgbClr val="FFF6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5262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el Gini ponderado de cada candidato y la ganancia respecto de 0,265. ¿Cuál elegiría el árbol y por qué? ¿Qué le pasa a la ganancia cuando los dos hijos se parecen al padre?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y visualizar el árbol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sin escalar, sin imputar más de lo necesario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(DecisionTreeClassifier,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plot_tree, export_text)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arbol = DecisionTreeClassifier(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criterion    = "gini",     # o "entropy"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    = 3,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min_samples_leaf = 60,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 = 0,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).fit(X, y)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Diagrama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plt.subplots(figsize=(16, 7))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plot_tree(arbol, feature_names=list(X.columns),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class_names=["Se queda","Se fuga"],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filled=True, rounded=True,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proportion=True, ax=ax)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 mismas reglas, en texto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print(export_text(arbol,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feature_names=list(X.columns)))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library(rpart); library(rpart.plot)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arbol &lt;- rpart(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fuga ~ .,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   = dt,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 = "class",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parms   = list(split = "gini"),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 = rpart.control(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maxdepth = 3,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minbucket = 60,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 = 0.001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Diagrama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rpart.plot(arbol, type = 2, extra = 106,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box.palette = "BuRd")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 mismas reglas, en texto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rpart.rules(arbol)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printcp(arbol)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R, extra = 106 muestra la probabilidad de la clase positiva y el porcentaje de observaciones en cada nodo. Es la vista más útil para leer el árbol con gente de negocio.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 y poda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sin límites memoriza el dataset entero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medimos el desempeño sin engañarnos · ejemplo con un árbol de profundidad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822960"/>
          </a:xfrm>
          <a:prstGeom prst="roundRect">
            <a:avLst>
              <a:gd name="adj" fmla="val 4444"/>
            </a:avLst>
          </a:prstGeom>
          <a:solidFill>
            <a:srgbClr val="0F3B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4813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si medimos sobre los mismos datos con que entrenamos, el número siempre sale bien. Un árbol sin límites acierta el 100 % en sus propios datos y no sirve para nada.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en UNA ronda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329184" cy="329184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163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los 3.150 clientes en 5 bloques de 630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329184" cy="329184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832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árbol con 4 bloques: 2.520 clientes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329184" cy="329184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5020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AUC sobre el bloque restante: 630 clientes que el árbol nunca vio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360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da UN número. Después se rota qué bloque se usa para medir, y se repite cinco veces.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487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rondas y su resultado, con un árbol de profundidad 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8529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2852928"/>
            <a:ext cx="694944" cy="347472"/>
          </a:xfrm>
          <a:prstGeom prst="roundRect">
            <a:avLst>
              <a:gd name="adj" fmla="val 7895"/>
            </a:avLst>
          </a:prstGeom>
          <a:solidFill>
            <a:srgbClr val="FEDB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285292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653528" y="2852928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53528" y="285292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03336" y="2852928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03336" y="285292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153144" y="2852928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53144" y="285292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902952" y="2852928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02952" y="285292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744200" y="28529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0,9005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2552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3255264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03720" y="32552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653528" y="3255264"/>
            <a:ext cx="694944" cy="347472"/>
          </a:xfrm>
          <a:prstGeom prst="roundRect">
            <a:avLst>
              <a:gd name="adj" fmla="val 7895"/>
            </a:avLst>
          </a:prstGeom>
          <a:solidFill>
            <a:srgbClr val="FEDB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53528" y="32552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403336" y="3255264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03336" y="32552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53144" y="3255264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53144" y="32552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902952" y="3255264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902952" y="325526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0744200" y="32552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0,9204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080760" y="36576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3657600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03720" y="365760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53528" y="3657600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653528" y="365760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403336" y="3657600"/>
            <a:ext cx="694944" cy="347472"/>
          </a:xfrm>
          <a:prstGeom prst="roundRect">
            <a:avLst>
              <a:gd name="adj" fmla="val 7895"/>
            </a:avLst>
          </a:prstGeom>
          <a:solidFill>
            <a:srgbClr val="FEDB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03336" y="365760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153144" y="3657600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53144" y="365760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02952" y="3657600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902952" y="365760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0744200" y="3657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0,9107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080760" y="4059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903720" y="4059936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903720" y="40599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653528" y="4059936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53528" y="40599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403336" y="4059936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403336" y="40599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53144" y="4059936"/>
            <a:ext cx="694944" cy="347472"/>
          </a:xfrm>
          <a:prstGeom prst="roundRect">
            <a:avLst>
              <a:gd name="adj" fmla="val 7895"/>
            </a:avLst>
          </a:prstGeom>
          <a:solidFill>
            <a:srgbClr val="FEDB00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153144" y="40599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902952" y="4059936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902952" y="40599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0744200" y="4059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0,9175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080760" y="44622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03720" y="4462272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903720" y="44622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653528" y="4462272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653528" y="44622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403336" y="4462272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403336" y="44622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153144" y="4462272"/>
            <a:ext cx="694944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153144" y="44622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902952" y="4462272"/>
            <a:ext cx="694944" cy="347472"/>
          </a:xfrm>
          <a:prstGeom prst="roundRect">
            <a:avLst>
              <a:gd name="adj" fmla="val 7895"/>
            </a:avLst>
          </a:prstGeom>
          <a:solidFill>
            <a:srgbClr val="FEDB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902952" y="446227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10744200" y="4462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0,8799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080760" y="4956048"/>
            <a:ext cx="5468112" cy="6858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309360" y="49560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0,9058     ·     desvío = 0,0146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640080" y="5779008"/>
            <a:ext cx="10908792" cy="713232"/>
          </a:xfrm>
          <a:prstGeom prst="roundRect">
            <a:avLst>
              <a:gd name="adj" fmla="val 5128"/>
            </a:avLst>
          </a:prstGeom>
          <a:solidFill>
            <a:srgbClr val="FFF6C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60120" y="577900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desvío importa tanto como el promedio: si las rondas dieran 0,70 y 0,95, un promedio de 0,82 no significaría nada. Y usamos StratifiedKFold para que cada bloque conserve el 15,7 % de fuga — al azar, alguno podría quedar casi sin casos positivos.</a:t>
            </a:r>
            <a:endParaRPr lang="en-US" sz="1250" dirty="0"/>
          </a:p>
        </p:txBody>
      </p:sp>
      <p:sp>
        <p:nvSpPr>
          <p:cNvPr id="82" name="Text 80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pasa cuando el árbol crece sin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dataset de churn, AUC en entrenamiento vs. validación cruzada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7040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481328"/>
            <a:ext cx="3593592" cy="4114800"/>
          </a:xfrm>
          <a:prstGeom prst="roundRect">
            <a:avLst>
              <a:gd name="adj" fmla="val 1018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709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 curva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121408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entrenamiento sube siempre, hasta llegar a 1,000: el árbol termina con una hoja por cliente.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sube hasta profundidad 6 y después baja.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punto de quiebre es el ajuste adecuado del que hablaba la Sesión 31.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límite, el árbol pasa de 0,911 a 0,827. Perdió 8 puntos por memorizar.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controlarlo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 antes de crecer, o dejar crecer y podar después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25796" cy="2788920"/>
          </a:xfrm>
          <a:prstGeom prst="roundRect">
            <a:avLst>
              <a:gd name="adj" fmla="val 1311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Pre-poda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48256"/>
            <a:ext cx="4585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límites antes de entrenar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35000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máxima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71576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casos por hoja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308152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para intentar partir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44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max_leaf_nodes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44728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total de hojas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5876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directo. El riesgo: un corte pobre puede esconder uno muy bueno debajo.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3076" y="1481328"/>
            <a:ext cx="5225796" cy="2788920"/>
          </a:xfrm>
          <a:prstGeom prst="roundRect">
            <a:avLst>
              <a:gd name="adj" fmla="val 1311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43116" y="164592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Post-poda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43116" y="2048256"/>
            <a:ext cx="4585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crecer y recortar ramas que no pagan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88836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ccp_alpha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7676" y="235000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cada hoja (Python)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88836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837676" y="271576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equivalente en rpart (R)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43116" y="385876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costoso, pero evalúa cada rama por lo que aporta al conjunto ya construido.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453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exactamente ccp_alpha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791456"/>
            <a:ext cx="5074920" cy="502920"/>
          </a:xfrm>
          <a:prstGeom prst="roundRect">
            <a:avLst>
              <a:gd name="adj" fmla="val 5455"/>
            </a:avLst>
          </a:prstGeom>
          <a:solidFill>
            <a:srgbClr val="0C25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7914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costo(T) = error(T) + α · nº de hojas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413248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es cuánto «cobra» cada hoja. Con α = 0 no hay penalización y sobrevive el árbol completo. Al subir α, cada hoja tiene que justificar su existencia reduciendo el error más de lo que cuesta. Para cada α existe un único subárbol que minimiza ese costo, y la validación cruzada elige cuál.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4531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Post-poda sobre nuestro churn: cada α, su árbol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791456"/>
          <a:ext cx="578815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896112"/>
                <a:gridCol w="731520"/>
                <a:gridCol w="731520"/>
                <a:gridCol w="731520"/>
                <a:gridCol w="56692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ccp_alpha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760720" y="6007608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α = 0,001 el árbol pasa de 224 hojas a 42 y el AUC sube de 0,827 a 0,900.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Podar de verdad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alpha con validación cruzada, no a ojo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Los alphas que el árbol considera relevantes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DecisionTreeClassifier(random_state=0)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base.cost_complexity_pruning_path(X, y)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alphas = path.ccp_alphas[:-1]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Elegir por validación cruzada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DecisionTreeClassifier(random_state=0),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{"ccp_alpha": alphas[::5]},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 = 5, scoring = "roc_auc", n_jobs = -1,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).fit(X, y)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print(grid.best_params_, grid.best_score_.round(4))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 = grid.best_estimator_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print("hojas:", mejor.get_n_leaves())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{'ccp_alpha': 0.001} 0.8996  ·  hojas: 42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library(rpart)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Dejar crecer con cp bajo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arbol &lt;- rpart(fuga ~ ., data = dt,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method = "class",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control = rpart.control(cp = 0.0001,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minbucket = 5))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rpart ya corre validación cruzada interna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printcp(arbol)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plotcp(arbol)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Podar con el cp de menor xerror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cp_opt &lt;- arbol$cptable[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which.min(arbol$cptable[, "xerror"]), "CP"]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podado &lt;- prune(arbol, cp = cp_opt)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rpart.plot(podado)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rpart hace la validación cruzada de la poda por su cuenta y la deja en cptable. En sklearn hay que pedirla explícitamente con GridSearchCV.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el árbol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importancia y una trampa muy común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importancia por impureza engaña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sobre el churn: dos formas de medir lo mismo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1031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Importancia por impureza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Importancia por permutación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únicos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reclamos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segundos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frec_llamadas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numero_fallas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81328"/>
            <a:ext cx="3319272" cy="3337560"/>
          </a:xfrm>
          <a:prstGeom prst="roundRect">
            <a:avLst>
              <a:gd name="adj" fmla="val 1102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709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sesgo por cardinalidad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03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con muchos valores distintos ofrece más cortes posibles. Por puro azar, alguno reduce la impureza. La importancia por impureza premia eso.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4472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y edad se ven importantes y no lo son. numero_fallas y estado se ven modestas y aportan más.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5047488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0F3B7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50474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siempre importancia por permutación, y calculada sobre datos que el modelo no vio. Es más lenta, pero mide lo que uno cree que está midiendo: cuánto empeora el modelo si esa variable se vuelve ruido.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la importancia bien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294376" cy="4352544"/>
          </a:xfrm>
          <a:prstGeom prst="roundRect">
            <a:avLst>
              <a:gd name="adj" fmla="val 630"/>
            </a:avLst>
          </a:prstGeom>
          <a:solidFill>
            <a:srgbClr val="0C25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27632"/>
            <a:ext cx="489204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sklearn.inspection import permutation_importance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test_size=0.25, stratify=y, random_state=42)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n_estimators=300, random_state=0).fit(Xtr, ytr)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SESGADA: mide sobre el entrenamiento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imp_gini = pd.Series(rf.feature_importances_,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index=X.columns)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CORRECTA: mide sobre datos no vistos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permutation_importance(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rf, Xte, yte, n_repeats=20,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random_state=0, scoring="roc_auc")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imp_perm = pd.Series(pi.importances_mean,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index=X.columns)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print(imp_perm.sort_values(ascending=False))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54496" y="1188720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4496" y="1517904"/>
            <a:ext cx="5294376" cy="4352544"/>
          </a:xfrm>
          <a:prstGeom prst="roundRect">
            <a:avLst>
              <a:gd name="adj" fmla="val 630"/>
            </a:avLst>
          </a:prstGeom>
          <a:solidFill>
            <a:srgbClr val="0C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55664" y="1627632"/>
            <a:ext cx="489204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library(ranger); library(vip)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&lt;- sample(nrow(dt), 0.75 * nrow(dt))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SESGADA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rf_g &lt;- ranger(fuga ~ ., data = dt[idx, ],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importance = "impurity",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num.trees = 300)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CORRECTA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 &lt;- ranger(fuga ~ ., data = dt[idx, ],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importance = "permutation",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num.trees = 300)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vip(rf_p, num_features = 12)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sort(rf_p$variable.importance,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decreasing = TRUE)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ranger, el argumento importance igual a «permutation» hace el cálculo con las observaciones out-of-bag, así que no hace falta separar un test aparte.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Fortalezas, límites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salto al bosque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 un árbol y cuándo conviene otra cosa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árboles no necesitan que escalemos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diferencia práctica con todo lo de la Sesión 32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Corrimos el mismo experimento dos veces: con las variables originales, y aplicando log a segundos y raíz cuadrada a clv.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109087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2743200"/>
                <a:gridCol w="2404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originales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log y raíz cuadrada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(profundidad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0,9058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0,9058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exactamente cero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0,9199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0,9231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355848"/>
            <a:ext cx="10908792" cy="1051560"/>
          </a:xfrm>
          <a:prstGeom prst="roundRect">
            <a:avLst>
              <a:gd name="adj" fmla="val 3478"/>
            </a:avLst>
          </a:prstGeom>
          <a:solidFill>
            <a:srgbClr val="EEF3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335584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el árbol solo pregunta «¿está por encima o por debajo de este umbral?». Cualquier transformación que respete el orden mueve el umbral pero no cambia qué observaciones caen de cada lado. El resultado es idéntico, no parecido.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902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les molesta: la inestabilidad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56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seis árboles con seis muestras distintas del 70 %. La raíz fue reclamos en las seis veces, porque domina. Pero justo debajo: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5367528"/>
            <a:ext cx="10908792" cy="868680"/>
          </a:xfrm>
          <a:prstGeom prst="roundRect">
            <a:avLst>
              <a:gd name="adj" fmla="val 3158"/>
            </a:avLst>
          </a:prstGeom>
          <a:solidFill>
            <a:srgbClr val="0C254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53675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semilla 0 → clv (73,5)     semilla 1 → segundos (629,0)     semilla 2 → clv (73,5)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semilla 3 → frec_llamadas (13,5)     semilla 4 → segundos (935,5)     semilla 5 → segundos (574,0)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conviene un árbol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25796" cy="3200400"/>
          </a:xfrm>
          <a:prstGeom prst="roundRect">
            <a:avLst>
              <a:gd name="adj" fmla="val 1143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41732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965960"/>
            <a:ext cx="44028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dibujar y explicar a alguien que no sabe estadística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no linealidad e interacciones sin que nadie las escriba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a transformaciones monótonas: no hay que escalar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variables categóricas y numéricas juntas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selección de variables por su cuenta mientras se entrena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23076" y="1188720"/>
            <a:ext cx="5225796" cy="3200400"/>
          </a:xfrm>
          <a:prstGeom prst="roundRect">
            <a:avLst>
              <a:gd name="adj" fmla="val 1143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43116" y="141732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734556" y="1965960"/>
            <a:ext cx="44028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Inestable: cambiar unas pocas observaciones cambia el árbol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corta perpendicular a los ejes; una diagonal le cuesta muchos escalones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Sobreajusta con facilidad si no se poda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valores constantes por región: no extrapola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solo suele rendir menos que una logística bien especificada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908792" cy="1051560"/>
          </a:xfrm>
          <a:prstGeom prst="roundRect">
            <a:avLst>
              <a:gd name="adj" fmla="val 3478"/>
            </a:avLst>
          </a:prstGeom>
          <a:solidFill>
            <a:srgbClr val="FFF6C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6634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límite es el más importante y el más incómodo: en nuestro churn, la logística da 0,920 y el mejor árbol solo 0,911. Si lo único que importa es predecir, el árbol pierde. Se elige un árbol cuando la explicación vale más que el punto de AUC.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qué es exactamente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problema del árbol es la inestabilidad, la solución es promediar muchos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receta, en tres pasos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65376"/>
            <a:ext cx="5577840" cy="1152144"/>
          </a:xfrm>
          <a:prstGeom prst="roundRect">
            <a:avLst>
              <a:gd name="adj" fmla="val 3175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39696"/>
            <a:ext cx="365760" cy="365760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una muestra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40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3.150 clientes se sortean 3.150 CON reemplazo. Algunos entran varias veces y cerca de un tercio no entra. Eso se llama bootstrap.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5577840" cy="1152144"/>
          </a:xfrm>
          <a:prstGeom prst="roundRect">
            <a:avLst>
              <a:gd name="adj" fmla="val 3175"/>
            </a:avLst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438144"/>
            <a:ext cx="365760" cy="365760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las variables en cada corte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393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nodo el árbol solo puede mirar 3 de las 12 variables, sorteadas de nuevo cada vez. Así ningún árbol puede apoyarse siempre en reclamos.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5577840" cy="1152144"/>
          </a:xfrm>
          <a:prstGeom prst="roundRect">
            <a:avLst>
              <a:gd name="adj" fmla="val 3175"/>
            </a:avLst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736592"/>
            <a:ext cx="365760" cy="365760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268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y promediar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entrenan cientos de árboles así y la predicción final es el promedio de sus probabilidades.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481328"/>
            <a:ext cx="5056632" cy="2011680"/>
          </a:xfrm>
          <a:prstGeom prst="roundRect">
            <a:avLst>
              <a:gd name="adj" fmla="val 1818"/>
            </a:avLst>
          </a:prstGeom>
          <a:solidFill>
            <a:srgbClr val="0F3B7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984248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árbol sobreajusta, pero cada uno sobreajusta a un ruido DISTINTO, porque vio otra muestra y otras variables. Al promediar, los errores idiosincráticos se cancelan y queda la señal común.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75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árboles hacen falta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041648"/>
          <a:ext cx="505663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C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492240" y="4864608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árbol del bosque rinde 0,797 — peor que el árbol podado. La ganancia no está en los árboles: está en promediarlos. Y se estabiliza cerca de 100: agregar más no empeora, solo cuesta tiempo.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5641848"/>
            <a:ext cx="10908792" cy="658368"/>
          </a:xfrm>
          <a:prstGeom prst="roundRect">
            <a:avLst>
              <a:gd name="adj" fmla="val 5556"/>
            </a:avLst>
          </a:prstGeom>
          <a:solidFill>
            <a:srgbClr val="FFF6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56418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precio: un bosque de 300 árboles ya no se puede dibujar ni convertir en ocho reglas para el call center. Ganamos 6 puntos de AUC y perdimos la explicación — el mismo trade-off que la Sesión 32 planteó con PCA.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árbol al bosque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problema es la inestabilidad, la solución es promediar muchos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81328"/>
            <a:ext cx="3776472" cy="3931920"/>
          </a:xfrm>
          <a:prstGeom prst="roundRect">
            <a:avLst>
              <a:gd name="adj" fmla="val 969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709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del bosque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121408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árbol solo llega a 0,906; la logística a 0,920.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bosque salta a 0,974: seis puntos sobre cualquier árbol individual.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árbol de profundidad 3 se dibuja en una lámina y el bosque no.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cuál gana, sino para qué es el modelo.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961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trade-off de la Sesión 32 con PCA: se cede interpretabilidad a cambio de otra cosa. La decisión depende de para qué es el modelo, no de cuál número se ve más alto.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llevamos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parte el espacio en rectángulos y predice una constante en cada uno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cada corte maximizando la reducción de impureza — la misma ganancia de información de la Sesión 33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poda memoriza: 1,000 en entrenamiento y 0,827 en validación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por impureza premia la cardinalidad; usá permutación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un árbol cuando la explicación vale más que el punto de AUC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766560" y="731520"/>
            <a:ext cx="4782312" cy="4526280"/>
          </a:xfrm>
          <a:prstGeom prst="roundRect">
            <a:avLst>
              <a:gd name="adj" fmla="val 1010"/>
            </a:avLst>
          </a:prstGeom>
          <a:solidFill>
            <a:srgbClr val="1B4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86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463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/ Taller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reales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4231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diplomado aplicado de punta a punta sobre un dataset real, con la suciedad, los desbalances y las decisiones ambiguas que no tiene un dataset de clase.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4069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datos, representación, selección y modelo. En equipos y contra reloj.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antes de la próxima clase:  ¿en qué problema de tu trabajo preferirías un árbol de 8 reglas antes que un modelo con mejor AUC?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 · Árboles de decisión · Diplomado en Data Science UC · Facultad de Matemáticas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Pontificia Universidad Católica de Chile · Facultad de Matemáticas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34: Árboles de decisión</dc:title>
  <dc:subject>PptxGenJS Presentation</dc:subject>
  <dc:creator>Eduardo Rodríguez Faúndez</dc:creator>
  <cp:lastModifiedBy>Eduardo Rodríguez Faúndez</cp:lastModifiedBy>
  <cp:revision>1</cp:revision>
  <dcterms:created xsi:type="dcterms:W3CDTF">2026-09-03T16:54:52Z</dcterms:created>
  <dcterms:modified xsi:type="dcterms:W3CDTF">2026-09-03T16:54:52Z</dcterms:modified>
</cp:coreProperties>
</file>