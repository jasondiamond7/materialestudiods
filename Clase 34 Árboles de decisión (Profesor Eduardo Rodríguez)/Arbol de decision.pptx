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 id="2147483672" r:id="rId6"/>
  </p:sldMasterIdLst>
  <p:notesMasterIdLst>
    <p:notesMasterId r:id="rId27"/>
  </p:notesMasterIdLst>
  <p:sldIdLst>
    <p:sldId id="260" r:id="rId7"/>
    <p:sldId id="259" r:id="rId8"/>
    <p:sldId id="267" r:id="rId9"/>
    <p:sldId id="268" r:id="rId10"/>
    <p:sldId id="269" r:id="rId11"/>
    <p:sldId id="270" r:id="rId12"/>
    <p:sldId id="271" r:id="rId13"/>
    <p:sldId id="272" r:id="rId14"/>
    <p:sldId id="279" r:id="rId15"/>
    <p:sldId id="280" r:id="rId16"/>
    <p:sldId id="302" r:id="rId17"/>
    <p:sldId id="285" r:id="rId18"/>
    <p:sldId id="286" r:id="rId19"/>
    <p:sldId id="287" r:id="rId20"/>
    <p:sldId id="295" r:id="rId21"/>
    <p:sldId id="296" r:id="rId22"/>
    <p:sldId id="297" r:id="rId23"/>
    <p:sldId id="298" r:id="rId24"/>
    <p:sldId id="301" r:id="rId25"/>
    <p:sldId id="30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27275A-5004-4488-BB2B-8541C3EB84DB}" v="6" dt="2018-08-08T09:05:58.3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51"/>
    <p:restoredTop sz="94647"/>
  </p:normalViewPr>
  <p:slideViewPr>
    <p:cSldViewPr snapToGrid="0" snapToObjects="1">
      <p:cViewPr varScale="1">
        <p:scale>
          <a:sx n="99" d="100"/>
          <a:sy n="99" d="100"/>
        </p:scale>
        <p:origin x="108"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notesMaster" Target="notesMasters/notesMaster1.xml"/><Relationship Id="rId30" Type="http://schemas.openxmlformats.org/officeDocument/2006/relationships/theme" Target="theme/them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lineChart>
        <c:grouping val="standard"/>
        <c:varyColors val="0"/>
        <c:ser>
          <c:idx val="0"/>
          <c:order val="0"/>
          <c:tx>
            <c:v>Entrenamiento</c:v>
          </c:tx>
          <c:spPr>
            <a:ln w="28575">
              <a:solidFill>
                <a:srgbClr val="3A4A56"/>
              </a:solidFill>
            </a:ln>
          </c:spPr>
          <c:marker>
            <c:symbol val="none"/>
          </c:marker>
          <c:cat>
            <c:strLit>
              <c:ptCount val="12"/>
              <c:pt idx="0">
                <c:v>1</c:v>
              </c:pt>
              <c:pt idx="1">
                <c:v>2</c:v>
              </c:pt>
              <c:pt idx="2">
                <c:v>3</c:v>
              </c:pt>
              <c:pt idx="3">
                <c:v>4</c:v>
              </c:pt>
              <c:pt idx="4">
                <c:v>5</c:v>
              </c:pt>
              <c:pt idx="5">
                <c:v>6</c:v>
              </c:pt>
              <c:pt idx="6">
                <c:v>7</c:v>
              </c:pt>
              <c:pt idx="7">
                <c:v>8</c:v>
              </c:pt>
              <c:pt idx="8">
                <c:v>9</c:v>
              </c:pt>
              <c:pt idx="9">
                <c:v>10</c:v>
              </c:pt>
              <c:pt idx="10">
                <c:v>11</c:v>
              </c:pt>
              <c:pt idx="11">
                <c:v>12</c:v>
              </c:pt>
            </c:strLit>
          </c:cat>
          <c:val>
            <c:numLit>
              <c:formatCode>General</c:formatCode>
              <c:ptCount val="12"/>
              <c:pt idx="0">
                <c:v>72</c:v>
              </c:pt>
              <c:pt idx="1">
                <c:v>79</c:v>
              </c:pt>
              <c:pt idx="2">
                <c:v>84</c:v>
              </c:pt>
              <c:pt idx="3">
                <c:v>88</c:v>
              </c:pt>
              <c:pt idx="4">
                <c:v>91</c:v>
              </c:pt>
              <c:pt idx="5">
                <c:v>94</c:v>
              </c:pt>
              <c:pt idx="6">
                <c:v>96</c:v>
              </c:pt>
              <c:pt idx="7">
                <c:v>98</c:v>
              </c:pt>
              <c:pt idx="8">
                <c:v>99</c:v>
              </c:pt>
              <c:pt idx="9">
                <c:v>100</c:v>
              </c:pt>
              <c:pt idx="10">
                <c:v>100</c:v>
              </c:pt>
              <c:pt idx="11">
                <c:v>100</c:v>
              </c:pt>
            </c:numLit>
          </c:val>
          <c:smooth val="0"/>
          <c:extLst>
            <c:ext xmlns:c16="http://schemas.microsoft.com/office/drawing/2014/chart" uri="{C3380CC4-5D6E-409C-BE32-E72D297353CC}">
              <c16:uniqueId val="{00000002-F1D5-4614-B086-B954D65C63AD}"/>
            </c:ext>
          </c:extLst>
        </c:ser>
        <c:ser>
          <c:idx val="1"/>
          <c:order val="1"/>
          <c:tx>
            <c:v>Prueba</c:v>
          </c:tx>
          <c:spPr>
            <a:ln w="28575">
              <a:solidFill>
                <a:srgbClr val="2C5F7C"/>
              </a:solidFill>
            </a:ln>
          </c:spPr>
          <c:marker>
            <c:symbol val="none"/>
          </c:marker>
          <c:dLbls>
            <c:dLbl>
              <c:idx val="4"/>
              <c:tx>
                <c:rich>
                  <a:bodyPr/>
                  <a:lstStyle/>
                  <a:p>
                    <a:r>
                      <a:rPr lang="en-US" sz="1400" b="1">
                        <a:solidFill>
                          <a:srgbClr val="2C5F7C"/>
                        </a:solidFill>
                        <a:latin typeface="Segoe UI"/>
                      </a:rPr>
                      <a:t>óptimo 86%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F1D5-4614-B086-B954D65C63AD}"/>
                </c:ext>
              </c:extLst>
            </c:dLbl>
            <c:dLbl>
              <c:idx val="11"/>
              <c:tx>
                <c:rich>
                  <a:bodyPr/>
                  <a:lstStyle/>
                  <a:p>
                    <a:r>
                      <a:rPr lang="en-US" sz="1400" b="1">
                        <a:solidFill>
                          <a:srgbClr val="2C5F7C"/>
                        </a:solidFill>
                        <a:latin typeface="Segoe UI"/>
                      </a:rPr>
                      <a:t>77%</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F1D5-4614-B086-B954D65C63A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Lit>
              <c:ptCount val="12"/>
              <c:pt idx="0">
                <c:v>1</c:v>
              </c:pt>
              <c:pt idx="1">
                <c:v>2</c:v>
              </c:pt>
              <c:pt idx="2">
                <c:v>3</c:v>
              </c:pt>
              <c:pt idx="3">
                <c:v>4</c:v>
              </c:pt>
              <c:pt idx="4">
                <c:v>5</c:v>
              </c:pt>
              <c:pt idx="5">
                <c:v>6</c:v>
              </c:pt>
              <c:pt idx="6">
                <c:v>7</c:v>
              </c:pt>
              <c:pt idx="7">
                <c:v>8</c:v>
              </c:pt>
              <c:pt idx="8">
                <c:v>9</c:v>
              </c:pt>
              <c:pt idx="9">
                <c:v>10</c:v>
              </c:pt>
              <c:pt idx="10">
                <c:v>11</c:v>
              </c:pt>
              <c:pt idx="11">
                <c:v>12</c:v>
              </c:pt>
            </c:strLit>
          </c:cat>
          <c:val>
            <c:numLit>
              <c:formatCode>General</c:formatCode>
              <c:ptCount val="12"/>
              <c:pt idx="0">
                <c:v>70</c:v>
              </c:pt>
              <c:pt idx="1">
                <c:v>77</c:v>
              </c:pt>
              <c:pt idx="2">
                <c:v>82</c:v>
              </c:pt>
              <c:pt idx="3">
                <c:v>85</c:v>
              </c:pt>
              <c:pt idx="4">
                <c:v>86</c:v>
              </c:pt>
              <c:pt idx="5">
                <c:v>85</c:v>
              </c:pt>
              <c:pt idx="6">
                <c:v>83</c:v>
              </c:pt>
              <c:pt idx="7">
                <c:v>81</c:v>
              </c:pt>
              <c:pt idx="8">
                <c:v>79</c:v>
              </c:pt>
              <c:pt idx="9">
                <c:v>78</c:v>
              </c:pt>
              <c:pt idx="10">
                <c:v>77</c:v>
              </c:pt>
              <c:pt idx="11">
                <c:v>77</c:v>
              </c:pt>
            </c:numLit>
          </c:val>
          <c:smooth val="0"/>
          <c:extLst>
            <c:ext xmlns:c16="http://schemas.microsoft.com/office/drawing/2014/chart" uri="{C3380CC4-5D6E-409C-BE32-E72D297353CC}">
              <c16:uniqueId val="{00000005-F1D5-4614-B086-B954D65C63AD}"/>
            </c:ext>
          </c:extLst>
        </c:ser>
        <c:dLbls>
          <c:showLegendKey val="0"/>
          <c:showVal val="0"/>
          <c:showCatName val="0"/>
          <c:showSerName val="0"/>
          <c:showPercent val="0"/>
          <c:showBubbleSize val="0"/>
        </c:dLbls>
        <c:smooth val="0"/>
        <c:axId val="1"/>
        <c:axId val="2"/>
      </c:line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1E2A32"/>
                </a:solidFill>
                <a:latin typeface="Segoe UI"/>
              </a:defRPr>
            </a:pPr>
            <a:endParaRPr lang="es-CL"/>
          </a:p>
        </c:txPr>
        <c:crossAx val="2"/>
        <c:crosses val="autoZero"/>
        <c:auto val="1"/>
        <c:lblAlgn val="ctr"/>
        <c:lblOffset val="100"/>
        <c:noMultiLvlLbl val="1"/>
      </c:catAx>
      <c:valAx>
        <c:axId val="2"/>
        <c:scaling>
          <c:orientation val="minMax"/>
          <c:max val="100"/>
          <c:min val="60"/>
        </c:scaling>
        <c:delete val="0"/>
        <c:axPos val="l"/>
        <c:numFmt formatCode="0&quot;%&quot;" sourceLinked="0"/>
        <c:majorTickMark val="none"/>
        <c:minorTickMark val="none"/>
        <c:tickLblPos val="nextTo"/>
        <c:spPr>
          <a:ln w="9525">
            <a:solidFill>
              <a:srgbClr val="C9C9C9"/>
            </a:solidFill>
          </a:ln>
        </c:spPr>
        <c:txPr>
          <a:bodyPr rot="0" vert="horz"/>
          <a:lstStyle/>
          <a:p>
            <a:pPr>
              <a:defRPr sz="1400" b="0">
                <a:solidFill>
                  <a:srgbClr val="3A4A56"/>
                </a:solidFill>
                <a:latin typeface="Segoe UI"/>
              </a:defRPr>
            </a:pPr>
            <a:endParaRPr lang="es-CL"/>
          </a:p>
        </c:txPr>
        <c:crossAx val="1"/>
        <c:crosses val="autoZero"/>
        <c:crossBetween val="between"/>
        <c:majorUnit val="10"/>
      </c:valAx>
      <c:spPr>
        <a:noFill/>
        <a:ln>
          <a:noFill/>
        </a:ln>
      </c:spPr>
    </c:plotArea>
    <c:legend>
      <c:legendPos val="t"/>
      <c:overlay val="0"/>
      <c:txPr>
        <a:bodyPr/>
        <a:lstStyle/>
        <a:p>
          <a:pPr>
            <a:defRPr sz="1400">
              <a:solidFill>
                <a:srgbClr val="1E2A32"/>
              </a:solidFill>
              <a:latin typeface="Segoe UI"/>
            </a:defRPr>
          </a:pPr>
          <a:endParaRPr lang="es-CL"/>
        </a:p>
      </c:txPr>
    </c:legend>
    <c:plotVisOnly val="1"/>
    <c:dispBlanksAs val="gap"/>
    <c:showDLblsOverMax val="1"/>
  </c:chart>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barChart>
        <c:barDir val="bar"/>
        <c:grouping val="clustered"/>
        <c:varyColors val="0"/>
        <c:ser>
          <c:idx val="0"/>
          <c:order val="0"/>
          <c:tx>
            <c:v>Values</c:v>
          </c:tx>
          <c:spPr>
            <a:solidFill>
              <a:srgbClr val="9AA7B1"/>
            </a:solidFill>
            <a:ln>
              <a:noFill/>
            </a:ln>
          </c:spPr>
          <c:invertIfNegative val="1"/>
          <c:dPt>
            <c:idx val="5"/>
            <c:invertIfNegative val="1"/>
            <c:bubble3D val="0"/>
            <c:spPr>
              <a:solidFill>
                <a:srgbClr val="2C5F7C"/>
              </a:solidFill>
              <a:ln>
                <a:noFill/>
              </a:ln>
            </c:spPr>
            <c:extLst>
              <c:ext xmlns:c16="http://schemas.microsoft.com/office/drawing/2014/chart" uri="{C3380CC4-5D6E-409C-BE32-E72D297353CC}">
                <c16:uniqueId val="{00000001-DBCC-4EF3-A3DC-D3CA02704140}"/>
              </c:ext>
            </c:extLst>
          </c:dPt>
          <c:dLbls>
            <c:numFmt formatCode="0&quot;%&quot;" sourceLinked="0"/>
            <c:spPr>
              <a:noFill/>
              <a:ln>
                <a:noFill/>
              </a:ln>
              <a:effectLst/>
            </c:spPr>
            <c:txPr>
              <a:bodyPr/>
              <a:lstStyle/>
              <a:p>
                <a:pPr>
                  <a:defRPr sz="1400" b="1">
                    <a:solidFill>
                      <a:srgbClr val="1E2A32"/>
                    </a:solidFill>
                    <a:latin typeface="Segoe UI"/>
                  </a:defRPr>
                </a:pPr>
                <a:endParaRPr lang="es-C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Región</c:v>
              </c:pt>
              <c:pt idx="1">
                <c:v>Número de productos</c:v>
              </c:pt>
              <c:pt idx="2">
                <c:v>Edad</c:v>
              </c:pt>
              <c:pt idx="3">
                <c:v>Antigüedad laboral</c:v>
              </c:pt>
              <c:pt idx="4">
                <c:v>Deuda / ingreso</c:v>
              </c:pt>
              <c:pt idx="5">
                <c:v>Ingreso mensual</c:v>
              </c:pt>
            </c:strLit>
          </c:cat>
          <c:val>
            <c:numLit>
              <c:formatCode>General</c:formatCode>
              <c:ptCount val="6"/>
              <c:pt idx="0">
                <c:v>5</c:v>
              </c:pt>
              <c:pt idx="1">
                <c:v>7</c:v>
              </c:pt>
              <c:pt idx="2">
                <c:v>11</c:v>
              </c:pt>
              <c:pt idx="3">
                <c:v>16</c:v>
              </c:pt>
              <c:pt idx="4">
                <c:v>27</c:v>
              </c:pt>
              <c:pt idx="5">
                <c:v>34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DBCC-4EF3-A3DC-D3CA02704140}"/>
            </c:ext>
          </c:extLst>
        </c:ser>
        <c:dLbls>
          <c:showLegendKey val="0"/>
          <c:showVal val="0"/>
          <c:showCatName val="0"/>
          <c:showSerName val="0"/>
          <c:showPercent val="0"/>
          <c:showBubbleSize val="0"/>
        </c:dLbls>
        <c:gapWidth val="50"/>
        <c:axId val="1"/>
        <c:axId val="2"/>
      </c:barChart>
      <c:catAx>
        <c:axId val="1"/>
        <c:scaling>
          <c:orientation val="minMax"/>
        </c:scaling>
        <c:delete val="0"/>
        <c:axPos val="l"/>
        <c:numFmt formatCode="General" sourceLinked="0"/>
        <c:majorTickMark val="none"/>
        <c:minorTickMark val="none"/>
        <c:tickLblPos val="nextTo"/>
        <c:spPr>
          <a:ln w="9525">
            <a:solidFill>
              <a:srgbClr val="C9C9C9"/>
            </a:solidFill>
          </a:ln>
        </c:spPr>
        <c:txPr>
          <a:bodyPr rot="0" vert="horz"/>
          <a:lstStyle/>
          <a:p>
            <a:pPr>
              <a:defRPr sz="1400" b="0">
                <a:solidFill>
                  <a:srgbClr val="1E2A32"/>
                </a:solidFill>
                <a:latin typeface="Segoe UI"/>
              </a:defRPr>
            </a:pPr>
            <a:endParaRPr lang="es-CL"/>
          </a:p>
        </c:txPr>
        <c:crossAx val="2"/>
        <c:crosses val="autoZero"/>
        <c:auto val="1"/>
        <c:lblAlgn val="ctr"/>
        <c:lblOffset val="100"/>
        <c:noMultiLvlLbl val="1"/>
      </c:catAx>
      <c:valAx>
        <c:axId val="2"/>
        <c:scaling>
          <c:orientation val="minMax"/>
          <c:min val="0"/>
        </c:scaling>
        <c:delete val="1"/>
        <c:axPos val="b"/>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96DFF0-4DAD-45E2-A604-040A2F80FEFB}" type="datetimeFigureOut">
              <a:rPr lang="es-CL" smtClean="0"/>
              <a:t>08-09-2026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131F89-4C56-414E-9583-2D3A62A6F616}" type="slidenum">
              <a:rPr lang="es-CL" smtClean="0"/>
              <a:t>‹Nº›</a:t>
            </a:fld>
            <a:endParaRPr lang="es-CL"/>
          </a:p>
        </p:txBody>
      </p:sp>
    </p:spTree>
    <p:extLst>
      <p:ext uri="{BB962C8B-B14F-4D97-AF65-F5344CB8AC3E}">
        <p14:creationId xmlns:p14="http://schemas.microsoft.com/office/powerpoint/2010/main" val="1968491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Bienvenida. Este módulo cubre árboles de decisión: el modelo base más interpretable del aprendizaje supervisado y el ladrillo de los ensambles (Random Forest, XGBoost). Objetivo del módulo: que puedas entrenar, regularizar, evaluar e interpretar un árbol, y explicar por qué toma cada decisión. Requisitos previos: probabilidad básica, pandas y nociones de train/test split.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Enmarca el módulo. Recalca que el árbol es un modelo no paramétrico y no lineal, que no requiere escalado de variables. Menciona que la evaluación del diplomado se apoya en poder justificar decisiones del modelo, no solo en la métrica. Pide a los participantes anotar sus dudas sobre la parte matemática: se resuelve con el ejemplo numérico de la diapositiva 7.</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Dibuja el árbol en pizarra mientras lo explicas. Enfatiza tres ideas: (1) el árbol divide el espacio de atributos en regiones rectangulares disjuntas; (2) cada hoja contiene un subconjunto de observaciones y predice la clase mayoritaria (o la media, en regresión); (3) la profundidad controla la complejidad. Pregunta al grupo qué pasaría si añadimos una pregunta por cada cliente: llegamos a hojas puras y sobreajuste, que es el tema de la diapositiva 11.</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El algoritmo es el mismo: partición recursiva binaria. Solo cambia la función de impureza y la regla de predicción en la hoja. Recalca ventajas prácticas comunes a ambos: no requieren escalado ni normalización, aceptan variables numéricas y categóricas, capturan interacciones y no linealidades sin especificarlas, y toleran valores atípicos en la X. Aclara que sí son sensibles a atípicos en la Y en regresión, porque la hoja predice la media.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Insiste en el coste computacional: para cada nodo se prueban todas las variables por todos los umbrales candidatos, del orden de O(n·p·log n) para entrenar. Explica que 'ganancia' es la reducción de impureza ponderada por el tamaño de los hijos. Señala que la voracidad es la razón de que árboles distintos aparezcan al cambiar unas pocas filas: esa inestabilidad es lo que Random Forest aprovecha después.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Dibuja la curva de impureza contra p: una parábola invertida para Gini y una campana algo más alta para la entropía, ambas con máximo en p=0,5 y ceros en 0 y 1. La clave conceptual: el árbol busca cortes que produzcan hijos lo más puros posible, y la impureza de la división se pondera por el número de observaciones de cada hijo para no premiar cortes que aíslan una sola fila. Si alguien pregunta por 'misclassification error' como criterio, explica que es menos sensible y no favorece divisiones que mejoran la pureza sin cambiar la clase mayoritaria.</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Haz este cálculo en vivo y pide al grupo que verifique un número. Puntos a subrayar: (1) la ganancia siempre es no negativa; (2) la ponderación por tamaño evita premiar cortes que aíslan pocas observaciones; (3) la ganancia de entropía y la de Gini casi siempre ordenan igual los candidatos. Como ejercicio en clase, pide calcular el corte de un tercer candidato y comprobar que sigue ganando Viento. Menciona que C4.5 usa 'gain ratio' para corregir el sesgo de la ganancia hacia variables con muchas categorías, tema de la diapositiva siguiente.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Aclara una confusión frecuente: scikit-learn no implementa ID3 ni C4.5, solo CART, y por eso siempre produce árboles binarios y no acepta categóricas sin codificar. Explica el gain ratio de C4.5: divide la ganancia por la entropía de la propia partición para castigar variables con muchas categorías (por ejemplo un ID de cliente, que daría ganancia máxima y valor predictivo nulo). Menciona que en scikit-learn los faltantes se admiten desde la versión 1.3 en los árboles, pero la práctica habitual sigue siendo imputar antes.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Ejercicio rápido: con la variable Edad y valores 22, 25, 31, 40, los umbrales candidatos son 23,5 / 28 / 35,5. Explica que scikit-learn no prueba todos los valores reales sino los puntos medios entre valores observados consecutivos. Sobre categóricas, insiste en el riesgo de fuga de información con target encoding si se calcula antes del split train/test: siempre dentro de un Pipeline con validación cruzada. Advierte que one-hot con muchas categorías fragmenta la muestra y produce árboles profundos y débiles.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Dibuja en pizarra una nube de puntos con tendencia curva y superpón la predicción del árbol: una escalera. Esa imagen explica de golpe las dos limitaciones clave, la falta de suavidad y la ausencia de extrapolación. Recalca que en regresión la reducción de MSE es equivalente a reducir la varianza intranodo. Pregunta qué ocurre con min_samples_leaf=1 en regresión: cada hoja contiene una sola observación, el R² de entrenamiento es 1 y el de prueba se desploma.</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Esta es la diapositiva central del módulo. Explica la descomposición sesgo-varianza: un árbol de profundidad 1 (stump) tiene sesgo alto y varianza baja; un árbol sin poda, sesgo casi nulo y varianza enorme. Pide a los participantes que reproduzcan esta curva en el laboratorio con validation_curve de scikit-learn sobre su propio dataset. Advierte del error más común del diplomado: seleccionar hiperparámetros mirando el conjunto de prueba. La curva debe construirse con validación cruzada sobre el train y el test se toca una sola vez al final.</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Distingue prepoda (early stopping: max_depth, min_samples_leaf) de pospoda (cost-complexity pruning con ccp_alpha, que crece el árbol completo y luego recorta). La segunda es teóricamente preferible porque evalúa el subárbol completo, pero la primera es más rápida. Muestra cómo obtener los alphas candidatos: path = clf.cost_complexity_pruning_path(X_train, y_train) y luego validación cruzada sobre path.ccp_alphas. Recomienda min_samples_leaf como el hiperparámetro con mejor relación esfuerzo-beneficio, alrededor del 1-5% de las observaciones.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Repasa cada argumento en voz alta. stratify=y mantiene la proporción de clases en train y test, imprescindible con clases desbalanceadas. random_state fija la semilla: sin ella el árbol puede cambiar entre ejecuciones porque los empates entre cortes se rompen al azar. class_weight='balanced' pesa las clases por su frecuencia inversa y suele mejorar el recall de la clase minoritaria. Recuerda que no hace falta StandardScaler. Si trabajan con un Pipeline, el ColumnTransformer con OneHotEncoder va antes del árbol. export_text convierte el árbol en un modelo auditable ante un área de riesgos.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Explica el bucle de la validación cruzada: por cada combinación de hiperparámetros se entrenan 5 modelos y se promedia la métrica de validación. Con esta rejilla son 6 x 4 x 2 = 48 combinaciones, es decir 240 ajustes, algo perfectamente viable con un árbol. Advierte sobre la fuga de datos: si el OneHotEncoder o el imputador se ajustan antes del split, la CV se vuelve optimista. Comenta que ccp_alpha también puede entrar en la rejilla usando los valores de cost_complexity_pruning_path. Cierra recordando que el objetivo del ajuste no es maximizar un número sino elegir la complejidad correcta.</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Aclara qué mide feature_importances_ en scikit-learn: la suma de la reducción de impureza aportada por cada variable, ponderada por las observaciones que pasan por cada nodo, normalizada a 1. Advierte de sus dos sesgos conocidos: infla variables continuas o de alta cardinalidad y reparte arbitrariamente la importancia entre variables correlacionadas. La alternativa recomendada es permutation_importance sobre el conjunto de validación. Insiste en que una importancia alta no dice si el efecto es positivo o negativo: para eso hay que leer las reglas o usar dependencias parciales.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Esta diapositiva es material de examen y de entrevista de trabajo. Pide a los participantes que memoricen dos ventajas y dos limitaciones con su justificación. Para ilustrar la inestabilidad, entrena el mismo árbol quitando el 5% de las filas y compara la variable de la raíz. Para las fronteras ortogonales, dibuja dos clases separadas por la recta y=x: el árbol necesita una escalera de muchos cortes para aproximarla. Cierra con el argumento de negocio: cuando el requisito es explicar la decisión a un cliente o a un regulador, un árbol podado gana a un modelo más preciso pero opaco.</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Conecta con la inestabilidad de la diapositiva 16: precisamente porque un árbol tiene varianza alta, promediar muchos funciona tan bien. Explica bagging con la analogía del promedio de opiniones independientes y boosting con la del alumno que repasa solo los ejercicios que falló. Señala el compromiso: se gana desempeño y se pierde interpretabilidad directa, aunque quedan la importancia de variables y SHAP. Recomienda el orden de trabajo en proyectos del diplomado: árbol podado como línea base, luego Random Forest, y boosting solo si el desempeño lo justifica.</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Diapositiva de repaso: sugiere imprimirla o tenerla abierta durante el laboratorio y el examen. Pide a los participantes que cierren el material y expliquen tres términos con sus propias palabras. Buen ejercicio de cierre: dar un nodo con 20 observaciones y 12 positivas y calcular Gini y entropía de memoria usando solo esta hoja.</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Deja tres minutos de trabajo individual y luego dos de discusión en parejas antes de mostrar las respuestas. La pregunta 2 es la única de cálculo: verifica que usen p=0,75. La pregunta 5 es la más importante de todas porque evalúa criterio, no memoria: la respuesta correcta empieza por regularizar y validar, no por cambiar de modelo.</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s-ES" dirty="0"/>
              <a:t>Al corregir, insiste en el razonamiento más que en la respuesta literal. En la 2, si alguien obtiene 0,375 pero no sabe interpretarlo, recuérdale que el máximo con dos clases es 0,5. En la 5, marca como incompleta cualquier respuesta que empiece por 'cambio a Random Forest': primero hay que diagnosticar y regularizar. Cierra el módulo anunciando el laboratorio: entrenar, validar, podar e interpretar un árbol sobre un dataset propio y documentar las reglas de las tres hojas más frecuentes.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1151746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23371617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11517461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23371617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11517461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9/8/2026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‹Nº›</a:t>
            </a:fld>
            <a:endParaRPr lang="en-US"/>
          </a:p>
        </p:txBody>
      </p:sp>
    </p:spTree>
    <p:extLst>
      <p:ext uri="{BB962C8B-B14F-4D97-AF65-F5344CB8AC3E}">
        <p14:creationId xmlns:p14="http://schemas.microsoft.com/office/powerpoint/2010/main" val="2337161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9/8/2026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‹Nº›</a:t>
            </a:fld>
            <a:endParaRPr lang="en-US"/>
          </a:p>
        </p:txBody>
      </p:sp>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9/8/2026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‹Nº›</a:t>
            </a:fld>
            <a:endParaRPr lang="en-US"/>
          </a:p>
        </p:txBody>
      </p:sp>
      <p:grpSp>
        <p:nvGrpSpPr>
          <p:cNvPr id="90" name="Deco"/>
          <p:cNvGrpSpPr/>
          <p:nvPr/>
        </p:nvGrpSpPr>
        <p:grpSpPr>
          <a:xfrm>
            <a:off x="0" y="0"/>
            <a:ext cx="12192000" cy="6858000"/>
            <a:chOff x="0" y="0"/>
            <a:chExt cx="12192000" cy="6858000"/>
          </a:xfrm>
        </p:grpSpPr>
        <p:sp>
          <p:nvSpPr>
            <p:cNvPr id="91" name="AccentBar"/>
            <p:cNvSpPr/>
            <p:nvPr/>
          </p:nvSpPr>
          <p:spPr>
            <a:xfrm>
              <a:off x="0" y="0"/>
              <a:ext cx="101600" cy="6858000"/>
            </a:xfrm>
            <a:prstGeom prst="rect">
              <a:avLst/>
            </a:prstGeom>
            <a:solidFill>
              <a:srgbClr val="2C5F7C"/>
            </a:solidFill>
            <a:ln>
              <a:noFill/>
            </a:ln>
          </p:spPr>
          <p:txBody>
            <a:bodyPr/>
            <a:lstStyle/>
            <a:p>
              <a:endParaRPr lang="es-ES"/>
            </a:p>
          </p:txBody>
        </p:sp>
        <p:sp>
          <p:nvSpPr>
            <p:cNvPr id="92" name="AccentBarGreen"/>
            <p:cNvSpPr/>
            <p:nvPr/>
          </p:nvSpPr>
          <p:spPr>
            <a:xfrm>
              <a:off x="0" y="4800600"/>
              <a:ext cx="101600" cy="2057400"/>
            </a:xfrm>
            <a:prstGeom prst="rect">
              <a:avLst/>
            </a:prstGeom>
            <a:solidFill>
              <a:srgbClr val="5A8F7B"/>
            </a:solidFill>
            <a:ln>
              <a:noFill/>
            </a:ln>
          </p:spPr>
          <p:txBody>
            <a:bodyPr/>
            <a:lstStyle/>
            <a:p>
              <a:endParaRPr lang="es-ES"/>
            </a:p>
          </p:txBody>
        </p:sp>
        <p:sp>
          <p:nvSpPr>
            <p:cNvPr id="93" name="Hairline"/>
            <p:cNvSpPr/>
            <p:nvPr/>
          </p:nvSpPr>
          <p:spPr>
            <a:xfrm>
              <a:off x="609600" y="6540500"/>
              <a:ext cx="11074400" cy="12700"/>
            </a:xfrm>
            <a:prstGeom prst="rect">
              <a:avLst/>
            </a:prstGeom>
            <a:solidFill>
              <a:srgbClr val="D8D2C6"/>
            </a:solidFill>
            <a:ln>
              <a:noFill/>
            </a:ln>
          </p:spPr>
          <p:txBody>
            <a:bodyPr/>
            <a:lstStyle/>
            <a:p>
              <a:endParaRPr lang="es-ES"/>
            </a:p>
          </p:txBody>
        </p:sp>
      </p:grpSp>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1E2A3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B3A44"/>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B3A44"/>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B3A44"/>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B3A44"/>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B3A4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2B3A44"/>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2B3A44"/>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2B3A44"/>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2B3A44"/>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9/8/2026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‹Nº›</a:t>
            </a:fld>
            <a:endParaRPr lang="en-US"/>
          </a:p>
        </p:txBody>
      </p:sp>
      <p:sp>
        <p:nvSpPr>
          <p:cNvPr id="91" name="AccentBar"/>
          <p:cNvSpPr/>
          <p:nvPr/>
        </p:nvSpPr>
        <p:spPr>
          <a:xfrm>
            <a:off x="0" y="0"/>
            <a:ext cx="127000" cy="4800600"/>
          </a:xfrm>
          <a:prstGeom prst="rect">
            <a:avLst/>
          </a:prstGeom>
          <a:solidFill>
            <a:srgbClr val="2C5F7C"/>
          </a:solidFill>
          <a:ln>
            <a:noFill/>
          </a:ln>
        </p:spPr>
        <p:txBody>
          <a:bodyPr/>
          <a:lstStyle/>
          <a:p>
            <a:endParaRPr lang="es-ES"/>
          </a:p>
        </p:txBody>
      </p:sp>
      <p:sp>
        <p:nvSpPr>
          <p:cNvPr id="92" name="AccentBarGreen"/>
          <p:cNvSpPr/>
          <p:nvPr/>
        </p:nvSpPr>
        <p:spPr>
          <a:xfrm>
            <a:off x="0" y="4800600"/>
            <a:ext cx="127000" cy="2057400"/>
          </a:xfrm>
          <a:prstGeom prst="rect">
            <a:avLst/>
          </a:prstGeom>
          <a:solidFill>
            <a:srgbClr val="5A8F7B"/>
          </a:solidFill>
          <a:ln>
            <a:noFill/>
          </a:ln>
        </p:spPr>
        <p:txBody>
          <a:bodyPr/>
          <a:lstStyle/>
          <a:p>
            <a:endParaRPr lang="es-ES"/>
          </a:p>
        </p:txBody>
      </p:sp>
      <p:sp>
        <p:nvSpPr>
          <p:cNvPr id="93" name="Hairline"/>
          <p:cNvSpPr/>
          <p:nvPr/>
        </p:nvSpPr>
        <p:spPr>
          <a:xfrm>
            <a:off x="762000" y="6553200"/>
            <a:ext cx="10668000" cy="12700"/>
          </a:xfrm>
          <a:prstGeom prst="rect">
            <a:avLst/>
          </a:prstGeom>
          <a:solidFill>
            <a:srgbClr val="D8D2C6"/>
          </a:solidFill>
          <a:ln>
            <a:noFill/>
          </a:ln>
        </p:spPr>
        <p:txBody>
          <a:bodyPr/>
          <a:lstStyle/>
          <a:p>
            <a:endParaRPr lang="es-ES"/>
          </a:p>
        </p:txBody>
      </p:sp>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1E2471-1853-CDF1-1E2E-86ED43045126}"/>
              </a:ext>
            </a:extLst>
          </p:cNvPr>
          <p:cNvSpPr>
            <a:spLocks noGrp="1"/>
          </p:cNvSpPr>
          <p:nvPr>
            <p:ph type="ctrTitle"/>
          </p:nvPr>
        </p:nvSpPr>
        <p:spPr/>
        <p:txBody>
          <a:bodyPr/>
          <a:lstStyle/>
          <a:p>
            <a:pPr algn="ctr">
              <a:buNone/>
            </a:pPr>
            <a:r>
              <a:rPr lang="es-ES" sz="4000" b="1" dirty="0"/>
              <a:t>Árboles de Decisión para Machine Learning</a:t>
            </a:r>
          </a:p>
        </p:txBody>
      </p:sp>
      <p:sp>
        <p:nvSpPr>
          <p:cNvPr id="3" name="Subtítulo 2">
            <a:extLst>
              <a:ext uri="{FF2B5EF4-FFF2-40B4-BE49-F238E27FC236}">
                <a16:creationId xmlns:a16="http://schemas.microsoft.com/office/drawing/2014/main" id="{685DCF0B-A861-BE3A-2339-5BD8FEBA0D8B}"/>
              </a:ext>
            </a:extLst>
          </p:cNvPr>
          <p:cNvSpPr>
            <a:spLocks noGrp="1"/>
          </p:cNvSpPr>
          <p:nvPr>
            <p:ph type="subTitle" idx="1"/>
          </p:nvPr>
        </p:nvSpPr>
        <p:spPr/>
        <p:txBody>
          <a:bodyPr/>
          <a:lstStyle/>
          <a:p>
            <a:pPr algn="ctr">
              <a:buNone/>
            </a:pPr>
            <a:r>
              <a:rPr lang="es-ES" sz="2000" dirty="0">
                <a:solidFill>
                  <a:schemeClr val="accent1"/>
                </a:solidFill>
              </a:rPr>
              <a:t>Diplomado en Data Science · Aprendizaje supervisado</a:t>
            </a:r>
          </a:p>
          <a:p>
            <a:pPr algn="ctr">
              <a:buNone/>
            </a:pPr>
            <a:r>
              <a:rPr lang="es-ES" sz="1600" dirty="0">
                <a:solidFill>
                  <a:srgbClr val="6B7C8C"/>
                </a:solidFill>
              </a:rPr>
              <a:t>De la partición recursiva a scikit-learn</a:t>
            </a:r>
          </a:p>
        </p:txBody>
      </p:sp>
    </p:spTree>
    <p:extLst>
      <p:ext uri="{BB962C8B-B14F-4D97-AF65-F5344CB8AC3E}">
        <p14:creationId xmlns:p14="http://schemas.microsoft.com/office/powerpoint/2010/main" val="3000078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5B66C3-64E2-CB7E-7D7F-ED33DC8F0491}"/>
              </a:ext>
            </a:extLst>
          </p:cNvPr>
          <p:cNvSpPr>
            <a:spLocks noGrp="1"/>
          </p:cNvSpPr>
          <p:nvPr>
            <p:ph type="title"/>
          </p:nvPr>
        </p:nvSpPr>
        <p:spPr/>
        <p:txBody>
          <a:bodyPr/>
          <a:lstStyle/>
          <a:p>
            <a:pPr>
              <a:buNone/>
            </a:pPr>
            <a:r>
              <a:rPr lang="es-ES" sz="3200" b="1" dirty="0"/>
              <a:t>Objetivos de aprendizaje y ruta del módulo</a:t>
            </a:r>
          </a:p>
        </p:txBody>
      </p:sp>
      <p:sp>
        <p:nvSpPr>
          <p:cNvPr id="3" name="Marcador de contenido 2">
            <a:extLst>
              <a:ext uri="{FF2B5EF4-FFF2-40B4-BE49-F238E27FC236}">
                <a16:creationId xmlns:a16="http://schemas.microsoft.com/office/drawing/2014/main" id="{703A0E9B-5FA4-0DE8-8FF0-B248D2301C0C}"/>
              </a:ext>
            </a:extLst>
          </p:cNvPr>
          <p:cNvSpPr>
            <a:spLocks noGrp="1"/>
          </p:cNvSpPr>
          <p:nvPr>
            <p:ph sz="half" idx="1"/>
          </p:nvPr>
        </p:nvSpPr>
        <p:spPr/>
        <p:txBody>
          <a:bodyPr/>
          <a:lstStyle/>
          <a:p>
            <a:pPr marL="0" indent="0">
              <a:spcAft>
                <a:spcPts val="600"/>
              </a:spcAft>
              <a:buNone/>
            </a:pPr>
            <a:r>
              <a:rPr lang="es-ES" sz="2000" b="1" dirty="0">
                <a:solidFill>
                  <a:schemeClr val="accent1"/>
                </a:solidFill>
              </a:rPr>
              <a:t>Al finalizar serás capaz de</a:t>
            </a:r>
          </a:p>
          <a:p>
            <a:pPr marL="285750" indent="-285750">
              <a:lnSpc>
                <a:spcPct val="100000"/>
              </a:lnSpc>
              <a:spcAft>
                <a:spcPts val="500"/>
              </a:spcAft>
              <a:buFont typeface="Arial"/>
              <a:buChar char="•"/>
            </a:pPr>
            <a:r>
              <a:rPr lang="es-ES" sz="1700" dirty="0"/>
              <a:t>Explicar cómo un árbol particiona el espacio de atributos</a:t>
            </a:r>
          </a:p>
          <a:p>
            <a:pPr marL="285750" indent="-285750">
              <a:lnSpc>
                <a:spcPct val="100000"/>
              </a:lnSpc>
              <a:spcAft>
                <a:spcPts val="500"/>
              </a:spcAft>
              <a:buFont typeface="Arial"/>
              <a:buChar char="•"/>
            </a:pPr>
            <a:r>
              <a:rPr lang="es-ES" sz="1700" dirty="0"/>
              <a:t>Calcular Gini, entropía y ganancia de información a mano</a:t>
            </a:r>
          </a:p>
          <a:p>
            <a:pPr marL="285750" indent="-285750">
              <a:lnSpc>
                <a:spcPct val="100000"/>
              </a:lnSpc>
              <a:spcAft>
                <a:spcPts val="500"/>
              </a:spcAft>
              <a:buFont typeface="Arial"/>
              <a:buChar char="•"/>
            </a:pPr>
            <a:r>
              <a:rPr lang="es-ES" sz="1700" dirty="0"/>
              <a:t>Entrenar y regularizar un árbol con scikit-learn</a:t>
            </a:r>
          </a:p>
          <a:p>
            <a:pPr marL="285750" indent="-285750">
              <a:lnSpc>
                <a:spcPct val="100000"/>
              </a:lnSpc>
              <a:spcAft>
                <a:spcPts val="500"/>
              </a:spcAft>
              <a:buFont typeface="Arial"/>
              <a:buChar char="•"/>
            </a:pPr>
            <a:r>
              <a:rPr lang="es-ES" sz="1700" dirty="0"/>
              <a:t>Diagnosticar sobreajuste y aplicar poda</a:t>
            </a:r>
          </a:p>
          <a:p>
            <a:pPr marL="285750" indent="-285750">
              <a:lnSpc>
                <a:spcPct val="100000"/>
              </a:lnSpc>
              <a:spcAft>
                <a:spcPts val="500"/>
              </a:spcAft>
              <a:buFont typeface="Arial"/>
              <a:buChar char="•"/>
            </a:pPr>
            <a:r>
              <a:rPr lang="es-ES" sz="1700" dirty="0"/>
              <a:t>Interpretar reglas e importancia de variables</a:t>
            </a:r>
          </a:p>
        </p:txBody>
      </p:sp>
      <p:sp>
        <p:nvSpPr>
          <p:cNvPr id="4" name="Marcador de contenido 3">
            <a:extLst>
              <a:ext uri="{FF2B5EF4-FFF2-40B4-BE49-F238E27FC236}">
                <a16:creationId xmlns:a16="http://schemas.microsoft.com/office/drawing/2014/main" id="{449386CE-63D4-09C2-1907-0CA20101C2FB}"/>
              </a:ext>
            </a:extLst>
          </p:cNvPr>
          <p:cNvSpPr>
            <a:spLocks noGrp="1"/>
          </p:cNvSpPr>
          <p:nvPr>
            <p:ph sz="half" idx="2"/>
          </p:nvPr>
        </p:nvSpPr>
        <p:spPr/>
        <p:txBody>
          <a:bodyPr/>
          <a:lstStyle/>
          <a:p>
            <a:pPr marL="0" indent="0">
              <a:spcAft>
                <a:spcPts val="600"/>
              </a:spcAft>
              <a:buNone/>
            </a:pPr>
            <a:r>
              <a:rPr lang="es-ES" sz="2000" b="1" dirty="0">
                <a:solidFill>
                  <a:schemeClr val="accent1"/>
                </a:solidFill>
              </a:rPr>
              <a:t>Ruta del módulo</a:t>
            </a:r>
          </a:p>
          <a:p>
            <a:pPr marL="285750" indent="-285750">
              <a:lnSpc>
                <a:spcPct val="100000"/>
              </a:lnSpc>
              <a:spcAft>
                <a:spcPts val="500"/>
              </a:spcAft>
              <a:buFont typeface="Arial"/>
              <a:buChar char="•"/>
            </a:pPr>
            <a:r>
              <a:rPr lang="es-ES" sz="1700" dirty="0"/>
              <a:t>Fundamentos: anatomía y partición recursiva</a:t>
            </a:r>
          </a:p>
          <a:p>
            <a:pPr marL="285750" indent="-285750">
              <a:lnSpc>
                <a:spcPct val="100000"/>
              </a:lnSpc>
              <a:spcAft>
                <a:spcPts val="500"/>
              </a:spcAft>
              <a:buFont typeface="Arial"/>
              <a:buChar char="•"/>
            </a:pPr>
            <a:r>
              <a:rPr lang="es-ES" sz="1700" dirty="0"/>
              <a:t>Criterios de división: impureza y ganancia</a:t>
            </a:r>
          </a:p>
          <a:p>
            <a:pPr marL="285750" indent="-285750">
              <a:lnSpc>
                <a:spcPct val="100000"/>
              </a:lnSpc>
              <a:spcAft>
                <a:spcPts val="500"/>
              </a:spcAft>
              <a:buFont typeface="Arial"/>
              <a:buChar char="•"/>
            </a:pPr>
            <a:r>
              <a:rPr lang="es-ES" sz="1700" dirty="0"/>
              <a:t>Familias: ID3, C4.5 y CART</a:t>
            </a:r>
          </a:p>
          <a:p>
            <a:pPr marL="285750" indent="-285750">
              <a:lnSpc>
                <a:spcPct val="100000"/>
              </a:lnSpc>
              <a:spcAft>
                <a:spcPts val="500"/>
              </a:spcAft>
              <a:buFont typeface="Arial"/>
              <a:buChar char="•"/>
            </a:pPr>
            <a:r>
              <a:rPr lang="es-ES" sz="1700" dirty="0"/>
              <a:t>Regresión con árboles</a:t>
            </a:r>
          </a:p>
          <a:p>
            <a:pPr marL="285750" indent="-285750">
              <a:lnSpc>
                <a:spcPct val="100000"/>
              </a:lnSpc>
              <a:spcAft>
                <a:spcPts val="500"/>
              </a:spcAft>
              <a:buFont typeface="Arial"/>
              <a:buChar char="•"/>
            </a:pPr>
            <a:r>
              <a:rPr lang="es-ES" sz="1700" dirty="0"/>
              <a:t>Sobreajuste, poda e hiperparámetros</a:t>
            </a:r>
          </a:p>
          <a:p>
            <a:pPr marL="285750" indent="-285750">
              <a:lnSpc>
                <a:spcPct val="100000"/>
              </a:lnSpc>
              <a:spcAft>
                <a:spcPts val="500"/>
              </a:spcAft>
              <a:buFont typeface="Arial"/>
              <a:buChar char="•"/>
            </a:pPr>
            <a:r>
              <a:rPr lang="es-ES" sz="1700" dirty="0"/>
              <a:t>Práctica en scikit-learn e interpretabilidad</a:t>
            </a:r>
          </a:p>
          <a:p>
            <a:pPr marL="285750" indent="-285750">
              <a:lnSpc>
                <a:spcPct val="100000"/>
              </a:lnSpc>
              <a:spcAft>
                <a:spcPts val="500"/>
              </a:spcAft>
              <a:buFont typeface="Arial"/>
              <a:buChar char="•"/>
            </a:pPr>
            <a:r>
              <a:rPr lang="es-ES" sz="1700" dirty="0"/>
              <a:t>Puente a ensambles: Random Forest y Boosting</a:t>
            </a:r>
          </a:p>
        </p:txBody>
      </p:sp>
    </p:spTree>
    <p:extLst>
      <p:ext uri="{BB962C8B-B14F-4D97-AF65-F5344CB8AC3E}">
        <p14:creationId xmlns:p14="http://schemas.microsoft.com/office/powerpoint/2010/main" val="3723717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387DF4-20FB-BCB3-6461-E88E4E59FADA}"/>
              </a:ext>
            </a:extLst>
          </p:cNvPr>
          <p:cNvSpPr>
            <a:spLocks noGrp="1"/>
          </p:cNvSpPr>
          <p:nvPr>
            <p:ph type="title"/>
          </p:nvPr>
        </p:nvSpPr>
        <p:spPr/>
        <p:txBody>
          <a:bodyPr/>
          <a:lstStyle/>
          <a:p>
            <a:pPr>
              <a:buNone/>
            </a:pPr>
            <a:r>
              <a:rPr lang="es-ES" sz="3200" b="1" dirty="0"/>
              <a:t>Anatomía de un árbol de decisión</a:t>
            </a:r>
          </a:p>
        </p:txBody>
      </p:sp>
      <p:cxnSp>
        <p:nvCxnSpPr>
          <p:cNvPr id="21" name="L21"/>
          <p:cNvCxnSpPr/>
          <p:nvPr/>
        </p:nvCxnSpPr>
        <p:spPr>
          <a:xfrm flipH="1">
            <a:off x="2667000" y="2438400"/>
            <a:ext cx="2032000" cy="736600"/>
          </a:xfrm>
          <a:prstGeom prst="line">
            <a:avLst/>
          </a:prstGeom>
          <a:ln w="15875">
            <a:solidFill>
              <a:srgbClr val="6B7C8C"/>
            </a:solidFill>
          </a:ln>
        </p:spPr>
      </p:cxnSp>
      <p:cxnSp>
        <p:nvCxnSpPr>
          <p:cNvPr id="22" name="L22"/>
          <p:cNvCxnSpPr/>
          <p:nvPr/>
        </p:nvCxnSpPr>
        <p:spPr>
          <a:xfrm>
            <a:off x="4699000" y="2438400"/>
            <a:ext cx="2032000" cy="736600"/>
          </a:xfrm>
          <a:prstGeom prst="line">
            <a:avLst/>
          </a:prstGeom>
          <a:ln w="15875">
            <a:solidFill>
              <a:srgbClr val="6B7C8C"/>
            </a:solidFill>
          </a:ln>
        </p:spPr>
      </p:cxnSp>
      <p:cxnSp>
        <p:nvCxnSpPr>
          <p:cNvPr id="23" name="L23"/>
          <p:cNvCxnSpPr/>
          <p:nvPr/>
        </p:nvCxnSpPr>
        <p:spPr>
          <a:xfrm flipH="1">
            <a:off x="1663700" y="3835400"/>
            <a:ext cx="1003300" cy="736600"/>
          </a:xfrm>
          <a:prstGeom prst="line">
            <a:avLst/>
          </a:prstGeom>
          <a:ln w="15875">
            <a:solidFill>
              <a:srgbClr val="6B7C8C"/>
            </a:solidFill>
          </a:ln>
        </p:spPr>
      </p:cxnSp>
      <p:cxnSp>
        <p:nvCxnSpPr>
          <p:cNvPr id="24" name="L24"/>
          <p:cNvCxnSpPr/>
          <p:nvPr/>
        </p:nvCxnSpPr>
        <p:spPr>
          <a:xfrm>
            <a:off x="2667000" y="3835400"/>
            <a:ext cx="825500" cy="736600"/>
          </a:xfrm>
          <a:prstGeom prst="line">
            <a:avLst/>
          </a:prstGeom>
          <a:ln w="15875">
            <a:solidFill>
              <a:srgbClr val="6B7C8C"/>
            </a:solidFill>
          </a:ln>
        </p:spPr>
      </p:cxnSp>
      <p:cxnSp>
        <p:nvCxnSpPr>
          <p:cNvPr id="25" name="L25"/>
          <p:cNvCxnSpPr/>
          <p:nvPr/>
        </p:nvCxnSpPr>
        <p:spPr>
          <a:xfrm flipH="1">
            <a:off x="5651500" y="3835400"/>
            <a:ext cx="1079500" cy="736600"/>
          </a:xfrm>
          <a:prstGeom prst="line">
            <a:avLst/>
          </a:prstGeom>
          <a:ln w="15875">
            <a:solidFill>
              <a:srgbClr val="6B7C8C"/>
            </a:solidFill>
          </a:ln>
        </p:spPr>
      </p:cxnSp>
      <p:cxnSp>
        <p:nvCxnSpPr>
          <p:cNvPr id="26" name="L26"/>
          <p:cNvCxnSpPr/>
          <p:nvPr/>
        </p:nvCxnSpPr>
        <p:spPr>
          <a:xfrm>
            <a:off x="6731000" y="3835400"/>
            <a:ext cx="698500" cy="736600"/>
          </a:xfrm>
          <a:prstGeom prst="line">
            <a:avLst/>
          </a:prstGeom>
          <a:ln w="15875">
            <a:solidFill>
              <a:srgbClr val="6B7C8C"/>
            </a:solidFill>
          </a:ln>
        </p:spPr>
      </p:cxnSp>
      <p:sp>
        <p:nvSpPr>
          <p:cNvPr id="27" name="N27"/>
          <p:cNvSpPr/>
          <p:nvPr/>
        </p:nvSpPr>
        <p:spPr>
          <a:xfrm>
            <a:off x="3556000" y="1778000"/>
            <a:ext cx="2286000" cy="660400"/>
          </a:xfrm>
          <a:prstGeom prst="roundRect">
            <a:avLst>
              <a:gd name="adj" fmla="val 12000"/>
            </a:avLst>
          </a:prstGeom>
          <a:solidFill>
            <a:srgbClr val="2C5F7C"/>
          </a:solidFill>
          <a:ln w="12700">
            <a:solidFill>
              <a:srgbClr val="2C5F7C"/>
            </a:solidFill>
          </a:ln>
        </p:spPr>
        <p:txBody>
          <a:bodyPr wrap="square" lIns="45720" tIns="18288" rIns="45720" bIns="18288" anchor="ctr">
            <a:noAutofit/>
          </a:bodyPr>
          <a:lstStyle/>
          <a:p>
            <a:pPr algn="ctr">
              <a:buNone/>
            </a:pPr>
            <a:r>
              <a:rPr lang="es-ES" sz="1500" b="1" dirty="0">
                <a:solidFill>
                  <a:srgbClr val="FFFFFF"/>
                </a:solidFill>
              </a:rPr>
              <a:t>¿Ingreso &gt; 50k?</a:t>
            </a:r>
          </a:p>
        </p:txBody>
      </p:sp>
      <p:sp>
        <p:nvSpPr>
          <p:cNvPr id="28" name="N28"/>
          <p:cNvSpPr/>
          <p:nvPr/>
        </p:nvSpPr>
        <p:spPr>
          <a:xfrm>
            <a:off x="1524000" y="3175000"/>
            <a:ext cx="2286000" cy="660400"/>
          </a:xfrm>
          <a:prstGeom prst="roundRect">
            <a:avLst>
              <a:gd name="adj" fmla="val 12000"/>
            </a:avLst>
          </a:prstGeom>
          <a:solidFill>
            <a:srgbClr val="E7E2D8"/>
          </a:solidFill>
          <a:ln w="12700">
            <a:solidFill>
              <a:srgbClr val="2C5F7C"/>
            </a:solidFill>
          </a:ln>
        </p:spPr>
        <p:txBody>
          <a:bodyPr wrap="square" lIns="45720" tIns="18288" rIns="45720" bIns="18288" anchor="ctr">
            <a:noAutofit/>
          </a:bodyPr>
          <a:lstStyle/>
          <a:p>
            <a:pPr algn="ctr">
              <a:buNone/>
            </a:pPr>
            <a:r>
              <a:rPr lang="es-ES" sz="1500" b="1" dirty="0">
                <a:solidFill>
                  <a:srgbClr val="1E2A32"/>
                </a:solidFill>
              </a:rPr>
              <a:t>¿Edad &lt; 30?</a:t>
            </a:r>
          </a:p>
        </p:txBody>
      </p:sp>
      <p:sp>
        <p:nvSpPr>
          <p:cNvPr id="29" name="N29"/>
          <p:cNvSpPr/>
          <p:nvPr/>
        </p:nvSpPr>
        <p:spPr>
          <a:xfrm>
            <a:off x="5588000" y="3175000"/>
            <a:ext cx="2286000" cy="660400"/>
          </a:xfrm>
          <a:prstGeom prst="roundRect">
            <a:avLst>
              <a:gd name="adj" fmla="val 12000"/>
            </a:avLst>
          </a:prstGeom>
          <a:solidFill>
            <a:srgbClr val="E7E2D8"/>
          </a:solidFill>
          <a:ln w="12700">
            <a:solidFill>
              <a:srgbClr val="2C5F7C"/>
            </a:solidFill>
          </a:ln>
        </p:spPr>
        <p:txBody>
          <a:bodyPr wrap="square" lIns="45720" tIns="18288" rIns="45720" bIns="18288" anchor="ctr">
            <a:noAutofit/>
          </a:bodyPr>
          <a:lstStyle/>
          <a:p>
            <a:pPr algn="ctr">
              <a:buNone/>
            </a:pPr>
            <a:r>
              <a:rPr lang="es-ES" sz="1500" b="1" dirty="0">
                <a:solidFill>
                  <a:srgbClr val="1E2A32"/>
                </a:solidFill>
              </a:rPr>
              <a:t>¿Deuda alta?</a:t>
            </a:r>
          </a:p>
        </p:txBody>
      </p:sp>
      <p:sp>
        <p:nvSpPr>
          <p:cNvPr id="30" name="N30"/>
          <p:cNvSpPr/>
          <p:nvPr/>
        </p:nvSpPr>
        <p:spPr>
          <a:xfrm>
            <a:off x="838200" y="4572000"/>
            <a:ext cx="1651000" cy="609600"/>
          </a:xfrm>
          <a:prstGeom prst="roundRect">
            <a:avLst>
              <a:gd name="adj" fmla="val 12000"/>
            </a:avLst>
          </a:prstGeom>
          <a:solidFill>
            <a:srgbClr val="5A8F7B"/>
          </a:solidFill>
          <a:ln w="12700">
            <a:solidFill>
              <a:srgbClr val="2C5F7C"/>
            </a:solidFill>
          </a:ln>
        </p:spPr>
        <p:txBody>
          <a:bodyPr wrap="square" lIns="45720" tIns="18288" rIns="45720" bIns="18288" anchor="ctr">
            <a:noAutofit/>
          </a:bodyPr>
          <a:lstStyle/>
          <a:p>
            <a:pPr algn="ctr">
              <a:buNone/>
            </a:pPr>
            <a:r>
              <a:rPr lang="es-ES" sz="1400" b="1" dirty="0">
                <a:solidFill>
                  <a:srgbClr val="FFFFFF"/>
                </a:solidFill>
              </a:rPr>
              <a:t>Rechazar</a:t>
            </a:r>
          </a:p>
        </p:txBody>
      </p:sp>
      <p:sp>
        <p:nvSpPr>
          <p:cNvPr id="31" name="N31"/>
          <p:cNvSpPr/>
          <p:nvPr/>
        </p:nvSpPr>
        <p:spPr>
          <a:xfrm>
            <a:off x="2667000" y="4572000"/>
            <a:ext cx="1651000" cy="609600"/>
          </a:xfrm>
          <a:prstGeom prst="roundRect">
            <a:avLst>
              <a:gd name="adj" fmla="val 12000"/>
            </a:avLst>
          </a:prstGeom>
          <a:solidFill>
            <a:srgbClr val="5A8F7B"/>
          </a:solidFill>
          <a:ln w="12700">
            <a:solidFill>
              <a:srgbClr val="2C5F7C"/>
            </a:solidFill>
          </a:ln>
        </p:spPr>
        <p:txBody>
          <a:bodyPr wrap="square" lIns="45720" tIns="18288" rIns="45720" bIns="18288" anchor="ctr">
            <a:noAutofit/>
          </a:bodyPr>
          <a:lstStyle/>
          <a:p>
            <a:pPr algn="ctr">
              <a:buNone/>
            </a:pPr>
            <a:r>
              <a:rPr lang="es-ES" sz="1400" b="1" dirty="0">
                <a:solidFill>
                  <a:srgbClr val="FFFFFF"/>
                </a:solidFill>
              </a:rPr>
              <a:t>Aprobar</a:t>
            </a:r>
          </a:p>
        </p:txBody>
      </p:sp>
      <p:sp>
        <p:nvSpPr>
          <p:cNvPr id="32" name="N32"/>
          <p:cNvSpPr/>
          <p:nvPr/>
        </p:nvSpPr>
        <p:spPr>
          <a:xfrm>
            <a:off x="4826000" y="4572000"/>
            <a:ext cx="1651000" cy="609600"/>
          </a:xfrm>
          <a:prstGeom prst="roundRect">
            <a:avLst>
              <a:gd name="adj" fmla="val 12000"/>
            </a:avLst>
          </a:prstGeom>
          <a:solidFill>
            <a:srgbClr val="5A8F7B"/>
          </a:solidFill>
          <a:ln w="12700">
            <a:solidFill>
              <a:srgbClr val="2C5F7C"/>
            </a:solidFill>
          </a:ln>
        </p:spPr>
        <p:txBody>
          <a:bodyPr wrap="square" lIns="45720" tIns="18288" rIns="45720" bIns="18288" anchor="ctr">
            <a:noAutofit/>
          </a:bodyPr>
          <a:lstStyle/>
          <a:p>
            <a:pPr algn="ctr">
              <a:buNone/>
            </a:pPr>
            <a:r>
              <a:rPr lang="es-ES" sz="1400" b="1" dirty="0">
                <a:solidFill>
                  <a:srgbClr val="FFFFFF"/>
                </a:solidFill>
              </a:rPr>
              <a:t>Aprobar</a:t>
            </a:r>
          </a:p>
        </p:txBody>
      </p:sp>
      <p:sp>
        <p:nvSpPr>
          <p:cNvPr id="33" name="N33"/>
          <p:cNvSpPr/>
          <p:nvPr/>
        </p:nvSpPr>
        <p:spPr>
          <a:xfrm>
            <a:off x="6604000" y="4572000"/>
            <a:ext cx="1651000" cy="609600"/>
          </a:xfrm>
          <a:prstGeom prst="roundRect">
            <a:avLst>
              <a:gd name="adj" fmla="val 12000"/>
            </a:avLst>
          </a:prstGeom>
          <a:solidFill>
            <a:srgbClr val="5A8F7B"/>
          </a:solidFill>
          <a:ln w="12700">
            <a:solidFill>
              <a:srgbClr val="2C5F7C"/>
            </a:solidFill>
          </a:ln>
        </p:spPr>
        <p:txBody>
          <a:bodyPr wrap="square" lIns="45720" tIns="18288" rIns="45720" bIns="18288" anchor="ctr">
            <a:noAutofit/>
          </a:bodyPr>
          <a:lstStyle/>
          <a:p>
            <a:pPr algn="ctr">
              <a:buNone/>
            </a:pPr>
            <a:r>
              <a:rPr lang="es-ES" sz="1400" b="1" dirty="0">
                <a:solidFill>
                  <a:srgbClr val="FFFFFF"/>
                </a:solidFill>
              </a:rPr>
              <a:t>Rechazar</a:t>
            </a:r>
          </a:p>
        </p:txBody>
      </p:sp>
      <p:sp>
        <p:nvSpPr>
          <p:cNvPr id="34" name="T34"/>
          <p:cNvSpPr txBox="1"/>
          <p:nvPr/>
        </p:nvSpPr>
        <p:spPr>
          <a:xfrm>
            <a:off x="3048000" y="2540000"/>
            <a:ext cx="635000" cy="279400"/>
          </a:xfrm>
          <a:prstGeom prst="rect">
            <a:avLst/>
          </a:prstGeom>
          <a:noFill/>
        </p:spPr>
        <p:txBody>
          <a:bodyPr wrap="square" lIns="0" tIns="0" rIns="0" bIns="0">
            <a:noAutofit/>
          </a:bodyPr>
          <a:lstStyle/>
          <a:p>
            <a:pPr algn="ctr">
              <a:buNone/>
            </a:pPr>
            <a:r>
              <a:rPr lang="es-ES" sz="1400" b="1" dirty="0">
                <a:solidFill>
                  <a:srgbClr val="B5651D"/>
                </a:solidFill>
              </a:rPr>
              <a:t>Sí</a:t>
            </a:r>
          </a:p>
        </p:txBody>
      </p:sp>
      <p:sp>
        <p:nvSpPr>
          <p:cNvPr id="35" name="T35"/>
          <p:cNvSpPr txBox="1"/>
          <p:nvPr/>
        </p:nvSpPr>
        <p:spPr>
          <a:xfrm>
            <a:off x="5461000" y="2540000"/>
            <a:ext cx="635000" cy="279400"/>
          </a:xfrm>
          <a:prstGeom prst="rect">
            <a:avLst/>
          </a:prstGeom>
          <a:noFill/>
        </p:spPr>
        <p:txBody>
          <a:bodyPr wrap="square" lIns="0" tIns="0" rIns="0" bIns="0">
            <a:noAutofit/>
          </a:bodyPr>
          <a:lstStyle/>
          <a:p>
            <a:pPr algn="ctr">
              <a:buNone/>
            </a:pPr>
            <a:r>
              <a:rPr lang="es-ES" sz="1400" b="1" dirty="0">
                <a:solidFill>
                  <a:srgbClr val="B5651D"/>
                </a:solidFill>
              </a:rPr>
              <a:t>No</a:t>
            </a:r>
          </a:p>
        </p:txBody>
      </p:sp>
      <p:sp>
        <p:nvSpPr>
          <p:cNvPr id="36" name="T36"/>
          <p:cNvSpPr txBox="1"/>
          <p:nvPr/>
        </p:nvSpPr>
        <p:spPr>
          <a:xfrm>
            <a:off x="838200" y="5397500"/>
            <a:ext cx="7416800" cy="558800"/>
          </a:xfrm>
          <a:prstGeom prst="rect">
            <a:avLst/>
          </a:prstGeom>
          <a:noFill/>
        </p:spPr>
        <p:txBody>
          <a:bodyPr wrap="square" lIns="0" tIns="0" rIns="0" bIns="0">
            <a:noAutofit/>
          </a:bodyPr>
          <a:lstStyle/>
          <a:p>
            <a:pPr>
              <a:buNone/>
            </a:pPr>
            <a:r>
              <a:rPr lang="es-ES" sz="1500" i="1" dirty="0">
                <a:solidFill>
                  <a:srgbClr val="4A5A66"/>
                </a:solidFill>
              </a:rPr>
              <a:t>Cada nodo interno es una pregunta sobre una variable; cada hoja, una predicción. El modelo es una secuencia de reglas si-entonces.</a:t>
            </a:r>
          </a:p>
        </p:txBody>
      </p:sp>
      <p:sp>
        <p:nvSpPr>
          <p:cNvPr id="37" name="T37"/>
          <p:cNvSpPr txBox="1"/>
          <p:nvPr/>
        </p:nvSpPr>
        <p:spPr>
          <a:xfrm>
            <a:off x="8636000" y="1778000"/>
            <a:ext cx="2717800" cy="4318000"/>
          </a:xfrm>
          <a:prstGeom prst="rect">
            <a:avLst/>
          </a:prstGeom>
          <a:noFill/>
        </p:spPr>
        <p:txBody>
          <a:bodyPr wrap="square" lIns="0" tIns="0" rIns="0" bIns="0">
            <a:noAutofit/>
          </a:bodyPr>
          <a:lstStyle/>
          <a:p>
            <a:pPr marL="0" indent="0">
              <a:spcAft>
                <a:spcPts val="700"/>
              </a:spcAft>
              <a:buNone/>
            </a:pPr>
            <a:r>
              <a:rPr lang="es-ES" sz="1800" b="1" dirty="0">
                <a:solidFill>
                  <a:srgbClr val="1E2A32"/>
                </a:solidFill>
              </a:rPr>
              <a:t>Vocabulario</a:t>
            </a:r>
          </a:p>
          <a:p>
            <a:pPr marL="0" indent="0">
              <a:spcAft>
                <a:spcPts val="600"/>
              </a:spcAft>
              <a:buNone/>
            </a:pPr>
            <a:r>
              <a:rPr lang="es-ES" sz="1500" b="1" dirty="0">
                <a:solidFill>
                  <a:schemeClr val="accent1"/>
                </a:solidFill>
              </a:rPr>
              <a:t>Raíz: </a:t>
            </a:r>
            <a:r>
              <a:rPr lang="es-ES" sz="1500" dirty="0"/>
              <a:t>primera pregunta, usa toda la muestra.</a:t>
            </a:r>
          </a:p>
          <a:p>
            <a:pPr marL="0" indent="0">
              <a:spcAft>
                <a:spcPts val="600"/>
              </a:spcAft>
              <a:buNone/>
            </a:pPr>
            <a:r>
              <a:rPr lang="es-ES" sz="1500" b="1" dirty="0">
                <a:solidFill>
                  <a:schemeClr val="accent1"/>
                </a:solidFill>
              </a:rPr>
              <a:t>Nodo interno: </a:t>
            </a:r>
            <a:r>
              <a:rPr lang="es-ES" sz="1500" dirty="0"/>
              <a:t>condición sobre una variable.</a:t>
            </a:r>
          </a:p>
          <a:p>
            <a:pPr marL="0" indent="0">
              <a:spcAft>
                <a:spcPts val="600"/>
              </a:spcAft>
              <a:buNone/>
            </a:pPr>
            <a:r>
              <a:rPr lang="es-ES" sz="1500" b="1" dirty="0">
                <a:solidFill>
                  <a:schemeClr val="accent1"/>
                </a:solidFill>
              </a:rPr>
              <a:t>Rama: </a:t>
            </a:r>
            <a:r>
              <a:rPr lang="es-ES" sz="1500" dirty="0"/>
              <a:t>resultado de la condición.</a:t>
            </a:r>
          </a:p>
          <a:p>
            <a:pPr marL="0" indent="0">
              <a:spcAft>
                <a:spcPts val="600"/>
              </a:spcAft>
              <a:buNone/>
            </a:pPr>
            <a:r>
              <a:rPr lang="es-ES" sz="1500" b="1" dirty="0">
                <a:solidFill>
                  <a:schemeClr val="accent1"/>
                </a:solidFill>
              </a:rPr>
              <a:t>Hoja: </a:t>
            </a:r>
            <a:r>
              <a:rPr lang="es-ES" sz="1500" dirty="0"/>
              <a:t>predicción final (clase o valor).</a:t>
            </a:r>
          </a:p>
          <a:p>
            <a:pPr marL="0" indent="0">
              <a:spcAft>
                <a:spcPts val="600"/>
              </a:spcAft>
              <a:buNone/>
            </a:pPr>
            <a:r>
              <a:rPr lang="es-ES" sz="1500" b="1" dirty="0">
                <a:solidFill>
                  <a:schemeClr val="accent1"/>
                </a:solidFill>
              </a:rPr>
              <a:t>Profundidad: </a:t>
            </a:r>
            <a:r>
              <a:rPr lang="es-ES" sz="1500" dirty="0"/>
              <a:t>nº de preguntas encadenadas.</a:t>
            </a:r>
          </a:p>
        </p:txBody>
      </p:sp>
    </p:spTree>
    <p:extLst>
      <p:ext uri="{BB962C8B-B14F-4D97-AF65-F5344CB8AC3E}">
        <p14:creationId xmlns:p14="http://schemas.microsoft.com/office/powerpoint/2010/main" val="3462427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4406DA-7EFE-4A76-EC6B-6F1AB5CFB2E1}"/>
              </a:ext>
            </a:extLst>
          </p:cNvPr>
          <p:cNvSpPr>
            <a:spLocks noGrp="1"/>
          </p:cNvSpPr>
          <p:nvPr>
            <p:ph type="title"/>
          </p:nvPr>
        </p:nvSpPr>
        <p:spPr/>
        <p:txBody>
          <a:bodyPr/>
          <a:lstStyle/>
          <a:p>
            <a:pPr>
              <a:buNone/>
            </a:pPr>
            <a:r>
              <a:rPr lang="es-ES" sz="3200" b="1" dirty="0"/>
              <a:t>Clasificación o regresión: la misma idea, otro criterio</a:t>
            </a:r>
          </a:p>
        </p:txBody>
      </p:sp>
      <p:sp>
        <p:nvSpPr>
          <p:cNvPr id="3" name="Marcador de texto 2">
            <a:extLst>
              <a:ext uri="{FF2B5EF4-FFF2-40B4-BE49-F238E27FC236}">
                <a16:creationId xmlns:a16="http://schemas.microsoft.com/office/drawing/2014/main" id="{C77A6AA8-DF4E-A372-0697-BEC1E6DBFDAF}"/>
              </a:ext>
            </a:extLst>
          </p:cNvPr>
          <p:cNvSpPr>
            <a:spLocks noGrp="1"/>
          </p:cNvSpPr>
          <p:nvPr>
            <p:ph type="body" idx="1"/>
          </p:nvPr>
        </p:nvSpPr>
        <p:spPr/>
        <p:txBody>
          <a:bodyPr/>
          <a:lstStyle/>
          <a:p>
            <a:pPr algn="l">
              <a:buNone/>
            </a:pPr>
            <a:r>
              <a:rPr lang="es-ES" sz="2000" b="1" dirty="0">
                <a:solidFill>
                  <a:schemeClr val="accent1"/>
                </a:solidFill>
              </a:rPr>
              <a:t>Árbol de clasificación</a:t>
            </a:r>
          </a:p>
        </p:txBody>
      </p:sp>
      <p:sp>
        <p:nvSpPr>
          <p:cNvPr id="4" name="Marcador de contenido 3">
            <a:extLst>
              <a:ext uri="{FF2B5EF4-FFF2-40B4-BE49-F238E27FC236}">
                <a16:creationId xmlns:a16="http://schemas.microsoft.com/office/drawing/2014/main" id="{3A27AB2E-A603-B6F2-A131-5153EF837E53}"/>
              </a:ext>
            </a:extLst>
          </p:cNvPr>
          <p:cNvSpPr>
            <a:spLocks noGrp="1"/>
          </p:cNvSpPr>
          <p:nvPr>
            <p:ph sz="half" idx="2"/>
          </p:nvPr>
        </p:nvSpPr>
        <p:spPr/>
        <p:txBody>
          <a:bodyPr/>
          <a:lstStyle/>
          <a:p>
            <a:pPr marL="285750" indent="-285750">
              <a:spcAft>
                <a:spcPts val="500"/>
              </a:spcAft>
              <a:buFont typeface="Arial"/>
              <a:buChar char="•"/>
            </a:pPr>
            <a:r>
              <a:rPr lang="es-ES" sz="1600" b="1" dirty="0"/>
              <a:t>Objetivo: </a:t>
            </a:r>
            <a:r>
              <a:rPr lang="es-ES" sz="1600" dirty="0"/>
              <a:t>predecir una clase (fuga sí/no, tipo de flor).</a:t>
            </a:r>
          </a:p>
          <a:p>
            <a:pPr marL="285750" indent="-285750">
              <a:spcAft>
                <a:spcPts val="500"/>
              </a:spcAft>
              <a:buFont typeface="Arial"/>
              <a:buChar char="•"/>
            </a:pPr>
            <a:r>
              <a:rPr lang="es-ES" sz="1600" b="1" dirty="0"/>
              <a:t>Criterio de división: </a:t>
            </a:r>
            <a:r>
              <a:rPr lang="es-ES" sz="1600" dirty="0"/>
              <a:t>Gini o entropía.</a:t>
            </a:r>
          </a:p>
          <a:p>
            <a:pPr marL="285750" indent="-285750">
              <a:spcAft>
                <a:spcPts val="500"/>
              </a:spcAft>
              <a:buFont typeface="Arial"/>
              <a:buChar char="•"/>
            </a:pPr>
            <a:r>
              <a:rPr lang="es-ES" sz="1600" b="1" dirty="0"/>
              <a:t>Predicción en la hoja: </a:t>
            </a:r>
            <a:r>
              <a:rPr lang="es-ES" sz="1600" dirty="0"/>
              <a:t>clase mayoritaria.</a:t>
            </a:r>
          </a:p>
          <a:p>
            <a:pPr marL="285750" indent="-285750">
              <a:spcAft>
                <a:spcPts val="500"/>
              </a:spcAft>
              <a:buFont typeface="Arial"/>
              <a:buChar char="•"/>
            </a:pPr>
            <a:r>
              <a:rPr lang="es-ES" sz="1600" b="1" dirty="0"/>
              <a:t>Probabilidades: </a:t>
            </a:r>
            <a:r>
              <a:rPr lang="es-ES" sz="1600" dirty="0"/>
              <a:t>proporción de cada clase en la hoja.</a:t>
            </a:r>
          </a:p>
          <a:p>
            <a:pPr marL="285750" indent="-285750">
              <a:spcAft>
                <a:spcPts val="500"/>
              </a:spcAft>
              <a:buFont typeface="Arial"/>
              <a:buChar char="•"/>
            </a:pPr>
            <a:r>
              <a:rPr lang="es-ES" sz="1600" b="1" dirty="0"/>
              <a:t>Métricas: </a:t>
            </a:r>
            <a:r>
              <a:rPr lang="es-ES" sz="1600" dirty="0"/>
              <a:t>accuracy, F1, AUC, matriz de confusión.</a:t>
            </a:r>
          </a:p>
          <a:p>
            <a:pPr marL="285750" indent="-285750">
              <a:spcAft>
                <a:spcPts val="500"/>
              </a:spcAft>
              <a:buFont typeface="Arial"/>
              <a:buChar char="•"/>
            </a:pPr>
            <a:r>
              <a:rPr lang="es-ES" sz="1600" b="1" dirty="0"/>
              <a:t>Casos típicos: </a:t>
            </a:r>
            <a:r>
              <a:rPr lang="es-ES" sz="1600" dirty="0"/>
              <a:t>riesgo de crédito, diagnóstico, churn.</a:t>
            </a:r>
          </a:p>
        </p:txBody>
      </p:sp>
      <p:sp>
        <p:nvSpPr>
          <p:cNvPr id="5" name="Marcador de texto 4">
            <a:extLst>
              <a:ext uri="{FF2B5EF4-FFF2-40B4-BE49-F238E27FC236}">
                <a16:creationId xmlns:a16="http://schemas.microsoft.com/office/drawing/2014/main" id="{EB16FFC8-5037-F7DD-F7C2-34B33FC2E150}"/>
              </a:ext>
            </a:extLst>
          </p:cNvPr>
          <p:cNvSpPr>
            <a:spLocks noGrp="1"/>
          </p:cNvSpPr>
          <p:nvPr>
            <p:ph type="body" sz="quarter" idx="3"/>
          </p:nvPr>
        </p:nvSpPr>
        <p:spPr/>
        <p:txBody>
          <a:bodyPr/>
          <a:lstStyle/>
          <a:p>
            <a:pPr algn="l">
              <a:buNone/>
            </a:pPr>
            <a:r>
              <a:rPr lang="es-ES" sz="2000" b="1" dirty="0">
                <a:solidFill>
                  <a:schemeClr val="accent1"/>
                </a:solidFill>
              </a:rPr>
              <a:t>Árbol de regresión</a:t>
            </a:r>
          </a:p>
        </p:txBody>
      </p:sp>
      <p:sp>
        <p:nvSpPr>
          <p:cNvPr id="6" name="Marcador de contenido 5">
            <a:extLst>
              <a:ext uri="{FF2B5EF4-FFF2-40B4-BE49-F238E27FC236}">
                <a16:creationId xmlns:a16="http://schemas.microsoft.com/office/drawing/2014/main" id="{D5463137-6446-B525-4736-EAB82FD79DDA}"/>
              </a:ext>
            </a:extLst>
          </p:cNvPr>
          <p:cNvSpPr>
            <a:spLocks noGrp="1"/>
          </p:cNvSpPr>
          <p:nvPr>
            <p:ph sz="quarter" idx="4"/>
          </p:nvPr>
        </p:nvSpPr>
        <p:spPr/>
        <p:txBody>
          <a:bodyPr/>
          <a:lstStyle/>
          <a:p>
            <a:pPr marL="285750" indent="-285750">
              <a:spcAft>
                <a:spcPts val="500"/>
              </a:spcAft>
              <a:buFont typeface="Arial"/>
              <a:buChar char="•"/>
            </a:pPr>
            <a:r>
              <a:rPr lang="es-ES" sz="1600" b="1" dirty="0"/>
              <a:t>Objetivo: </a:t>
            </a:r>
            <a:r>
              <a:rPr lang="es-ES" sz="1600" dirty="0"/>
              <a:t>predecir un valor continuo (precio, demanda).</a:t>
            </a:r>
          </a:p>
          <a:p>
            <a:pPr marL="285750" indent="-285750">
              <a:spcAft>
                <a:spcPts val="500"/>
              </a:spcAft>
              <a:buFont typeface="Arial"/>
              <a:buChar char="•"/>
            </a:pPr>
            <a:r>
              <a:rPr lang="es-ES" sz="1600" b="1" dirty="0"/>
              <a:t>Criterio de división: </a:t>
            </a:r>
            <a:r>
              <a:rPr lang="es-ES" sz="1600" dirty="0"/>
              <a:t>MSE o MAE (varianza intranodo).</a:t>
            </a:r>
          </a:p>
          <a:p>
            <a:pPr marL="285750" indent="-285750">
              <a:spcAft>
                <a:spcPts val="500"/>
              </a:spcAft>
              <a:buFont typeface="Arial"/>
              <a:buChar char="•"/>
            </a:pPr>
            <a:r>
              <a:rPr lang="es-ES" sz="1600" b="1" dirty="0"/>
              <a:t>Predicción en la hoja: </a:t>
            </a:r>
            <a:r>
              <a:rPr lang="es-ES" sz="1600" dirty="0"/>
              <a:t>media de los valores.</a:t>
            </a:r>
          </a:p>
          <a:p>
            <a:pPr marL="285750" indent="-285750">
              <a:spcAft>
                <a:spcPts val="500"/>
              </a:spcAft>
              <a:buFont typeface="Arial"/>
              <a:buChar char="•"/>
            </a:pPr>
            <a:r>
              <a:rPr lang="es-ES" sz="1600" b="1" dirty="0"/>
              <a:t>Forma de la salida: </a:t>
            </a:r>
            <a:r>
              <a:rPr lang="es-ES" sz="1600" dirty="0"/>
              <a:t>escalonada, constante por región.</a:t>
            </a:r>
          </a:p>
          <a:p>
            <a:pPr marL="285750" indent="-285750">
              <a:spcAft>
                <a:spcPts val="500"/>
              </a:spcAft>
              <a:buFont typeface="Arial"/>
              <a:buChar char="•"/>
            </a:pPr>
            <a:r>
              <a:rPr lang="es-ES" sz="1600" b="1" dirty="0"/>
              <a:t>Métricas: </a:t>
            </a:r>
            <a:r>
              <a:rPr lang="es-ES" sz="1600" dirty="0"/>
              <a:t>RMSE, MAE, R².</a:t>
            </a:r>
          </a:p>
          <a:p>
            <a:pPr marL="285750" indent="-285750">
              <a:spcAft>
                <a:spcPts val="500"/>
              </a:spcAft>
              <a:buFont typeface="Arial"/>
              <a:buChar char="•"/>
            </a:pPr>
            <a:r>
              <a:rPr lang="es-ES" sz="1600" b="1" dirty="0"/>
              <a:t>Casos típicos: </a:t>
            </a:r>
            <a:r>
              <a:rPr lang="es-ES" sz="1600" dirty="0"/>
              <a:t>valuación inmobiliaria, consumo.</a:t>
            </a:r>
          </a:p>
        </p:txBody>
      </p:sp>
    </p:spTree>
    <p:extLst>
      <p:ext uri="{BB962C8B-B14F-4D97-AF65-F5344CB8AC3E}">
        <p14:creationId xmlns:p14="http://schemas.microsoft.com/office/powerpoint/2010/main" val="2930936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91F91C-82EE-521D-7DB5-0B38ACA6C81A}"/>
              </a:ext>
            </a:extLst>
          </p:cNvPr>
          <p:cNvSpPr>
            <a:spLocks noGrp="1"/>
          </p:cNvSpPr>
          <p:nvPr>
            <p:ph type="title"/>
          </p:nvPr>
        </p:nvSpPr>
        <p:spPr/>
        <p:txBody>
          <a:bodyPr/>
          <a:lstStyle/>
          <a:p>
            <a:pPr>
              <a:buNone/>
            </a:pPr>
            <a:r>
              <a:rPr lang="es-ES" sz="3200" b="1" dirty="0"/>
              <a:t>Cómo aprende: partición recursiva voraz</a:t>
            </a:r>
          </a:p>
        </p:txBody>
      </p:sp>
      <p:sp>
        <p:nvSpPr>
          <p:cNvPr id="3" name="Marcador de contenido 2">
            <a:extLst>
              <a:ext uri="{FF2B5EF4-FFF2-40B4-BE49-F238E27FC236}">
                <a16:creationId xmlns:a16="http://schemas.microsoft.com/office/drawing/2014/main" id="{8431B34C-0DF7-0829-AEFC-3531700BFD2C}"/>
              </a:ext>
            </a:extLst>
          </p:cNvPr>
          <p:cNvSpPr>
            <a:spLocks noGrp="1"/>
          </p:cNvSpPr>
          <p:nvPr>
            <p:ph sz="half" idx="1"/>
          </p:nvPr>
        </p:nvSpPr>
        <p:spPr/>
        <p:txBody>
          <a:bodyPr>
            <a:normAutofit fontScale="77500" lnSpcReduction="20000"/>
          </a:bodyPr>
          <a:lstStyle/>
          <a:p>
            <a:pPr marL="0" indent="0">
              <a:spcAft>
                <a:spcPts val="600"/>
              </a:spcAft>
              <a:buNone/>
            </a:pPr>
            <a:r>
              <a:rPr lang="es-ES" sz="2000" b="1" dirty="0">
                <a:solidFill>
                  <a:schemeClr val="accent1"/>
                </a:solidFill>
              </a:rPr>
              <a:t>El algoritmo, en palabras</a:t>
            </a:r>
          </a:p>
          <a:p>
            <a:pPr marL="342900" indent="-342900">
              <a:spcAft>
                <a:spcPts val="500"/>
              </a:spcAft>
              <a:buFont typeface="+mj-lt"/>
              <a:buAutoNum type="arabicPeriod"/>
            </a:pPr>
            <a:r>
              <a:rPr lang="es-ES" sz="1600" dirty="0"/>
              <a:t>Coloca todas las observaciones en la raíz.</a:t>
            </a:r>
          </a:p>
          <a:p>
            <a:pPr marL="342900" indent="-342900">
              <a:spcAft>
                <a:spcPts val="500"/>
              </a:spcAft>
              <a:buFont typeface="+mj-lt"/>
              <a:buAutoNum type="arabicPeriod"/>
            </a:pPr>
            <a:r>
              <a:rPr lang="es-ES" sz="1600" dirty="0"/>
              <a:t>Evalúa todos los pares (variable, umbral) posibles.</a:t>
            </a:r>
          </a:p>
          <a:p>
            <a:pPr marL="342900" indent="-342900">
              <a:spcAft>
                <a:spcPts val="500"/>
              </a:spcAft>
              <a:buFont typeface="+mj-lt"/>
              <a:buAutoNum type="arabicPeriod"/>
            </a:pPr>
            <a:r>
              <a:rPr lang="es-ES" sz="1600" dirty="0"/>
              <a:t>Elige el corte que más reduce la impureza.</a:t>
            </a:r>
          </a:p>
          <a:p>
            <a:pPr marL="342900" indent="-342900">
              <a:spcAft>
                <a:spcPts val="500"/>
              </a:spcAft>
              <a:buFont typeface="+mj-lt"/>
              <a:buAutoNum type="arabicPeriod"/>
            </a:pPr>
            <a:r>
              <a:rPr lang="es-ES" sz="1600" dirty="0"/>
              <a:t>Divide la muestra en dos nodos hijos.</a:t>
            </a:r>
          </a:p>
          <a:p>
            <a:pPr marL="342900" indent="-342900">
              <a:spcAft>
                <a:spcPts val="500"/>
              </a:spcAft>
              <a:buFont typeface="+mj-lt"/>
              <a:buAutoNum type="arabicPeriod"/>
            </a:pPr>
            <a:r>
              <a:rPr lang="es-ES" sz="1600" dirty="0"/>
              <a:t>Repite el proceso en cada hijo (recursión).</a:t>
            </a:r>
          </a:p>
          <a:p>
            <a:pPr marL="342900" indent="-342900">
              <a:spcAft>
                <a:spcPts val="500"/>
              </a:spcAft>
              <a:buFont typeface="+mj-lt"/>
              <a:buAutoNum type="arabicPeriod"/>
            </a:pPr>
            <a:r>
              <a:rPr lang="es-ES" sz="1600" dirty="0"/>
              <a:t>Se detiene con un criterio de parada: profundidad máxima, mínimo de muestras u hoja pura.</a:t>
            </a:r>
          </a:p>
          <a:p>
            <a:pPr marL="0" indent="0">
              <a:spcBef>
                <a:spcPts val="600"/>
              </a:spcBef>
              <a:buNone/>
            </a:pPr>
            <a:r>
              <a:rPr lang="es-ES" sz="1500" i="1" dirty="0">
                <a:solidFill>
                  <a:srgbClr val="B5651D"/>
                </a:solidFill>
              </a:rPr>
              <a:t>Es voraz: decide localmente y nunca revisa un corte anterior, por eso no garantiza el árbol óptimo global.</a:t>
            </a:r>
          </a:p>
        </p:txBody>
      </p:sp>
      <p:sp>
        <p:nvSpPr>
          <p:cNvPr id="4" name="Marcador de contenido 3">
            <a:extLst>
              <a:ext uri="{FF2B5EF4-FFF2-40B4-BE49-F238E27FC236}">
                <a16:creationId xmlns:a16="http://schemas.microsoft.com/office/drawing/2014/main" id="{C0A5B15F-E2E6-2218-6680-12B9A9D43050}"/>
              </a:ext>
            </a:extLst>
          </p:cNvPr>
          <p:cNvSpPr>
            <a:spLocks noGrp="1"/>
          </p:cNvSpPr>
          <p:nvPr>
            <p:ph sz="half" idx="2"/>
          </p:nvPr>
        </p:nvSpPr>
        <p:spPr>
          <a:solidFill>
            <a:srgbClr val="F1EDE4"/>
          </a:solidFill>
        </p:spPr>
        <p:txBody>
          <a:bodyPr lIns="137160" tIns="91440" rIns="91440">
            <a:normAutofit fontScale="77500" lnSpcReduction="20000"/>
          </a:bodyPr>
          <a:lstStyle/>
          <a:p>
            <a:pPr marL="0" indent="0">
              <a:spcAft>
                <a:spcPts val="600"/>
              </a:spcAft>
              <a:buNone/>
            </a:pPr>
            <a:r>
              <a:rPr lang="es-ES" sz="2000" b="1" dirty="0">
                <a:solidFill>
                  <a:schemeClr val="accent1"/>
                </a:solidFill>
              </a:rPr>
              <a:t>Pseudocódigo</a:t>
            </a:r>
          </a:p>
          <a:p>
            <a:pPr marL="0" indent="0">
              <a:lnSpc>
                <a:spcPct val="100000"/>
              </a:lnSpc>
              <a:buNone/>
            </a:pPr>
            <a:r>
              <a:rPr lang="en-US" sz="1400" dirty="0">
                <a:latin typeface="Consolas"/>
                <a:cs typeface="Consolas"/>
              </a:rPr>
              <a:t>construir(D):</a:t>
            </a:r>
          </a:p>
          <a:p>
            <a:pPr marL="0" indent="0">
              <a:lnSpc>
                <a:spcPct val="100000"/>
              </a:lnSpc>
              <a:buNone/>
            </a:pPr>
            <a:r>
              <a:rPr lang="en-US" sz="1400" dirty="0">
                <a:latin typeface="Consolas"/>
                <a:cs typeface="Consolas"/>
              </a:rPr>
              <a:t>  si parada(D):</a:t>
            </a:r>
          </a:p>
          <a:p>
            <a:pPr marL="0" indent="0">
              <a:lnSpc>
                <a:spcPct val="100000"/>
              </a:lnSpc>
              <a:buNone/>
            </a:pPr>
            <a:r>
              <a:rPr lang="en-US" sz="1400" dirty="0">
                <a:latin typeface="Consolas"/>
                <a:cs typeface="Consolas"/>
              </a:rPr>
              <a:t>      devolver Hoja(pred(D))</a:t>
            </a:r>
          </a:p>
          <a:p>
            <a:pPr marL="0" indent="0">
              <a:lnSpc>
                <a:spcPct val="100000"/>
              </a:lnSpc>
              <a:buNone/>
            </a:pPr>
            <a:r>
              <a:rPr lang="en-US" sz="1400" dirty="0">
                <a:latin typeface="Consolas"/>
                <a:cs typeface="Consolas"/>
              </a:rPr>
              <a:t>  mejor, G_max = None, 0</a:t>
            </a:r>
          </a:p>
          <a:p>
            <a:pPr marL="0" indent="0">
              <a:lnSpc>
                <a:spcPct val="100000"/>
              </a:lnSpc>
              <a:buNone/>
            </a:pPr>
            <a:r>
              <a:rPr lang="en-US" sz="1400" dirty="0">
                <a:latin typeface="Consolas"/>
                <a:cs typeface="Consolas"/>
              </a:rPr>
              <a:t>  para cada variable j:</a:t>
            </a:r>
          </a:p>
          <a:p>
            <a:pPr marL="0" indent="0">
              <a:lnSpc>
                <a:spcPct val="100000"/>
              </a:lnSpc>
              <a:buNone/>
            </a:pPr>
            <a:r>
              <a:rPr lang="en-US" sz="1400" dirty="0">
                <a:latin typeface="Consolas"/>
                <a:cs typeface="Consolas"/>
              </a:rPr>
              <a:t>    para cada umbral t:</a:t>
            </a:r>
          </a:p>
          <a:p>
            <a:pPr marL="0" indent="0">
              <a:lnSpc>
                <a:spcPct val="100000"/>
              </a:lnSpc>
              <a:buNone/>
            </a:pPr>
            <a:r>
              <a:rPr lang="en-US" sz="1400" dirty="0">
                <a:latin typeface="Consolas"/>
                <a:cs typeface="Consolas"/>
              </a:rPr>
              <a:t>      G = ganancia(D, j, t)</a:t>
            </a:r>
          </a:p>
          <a:p>
            <a:pPr marL="0" indent="0">
              <a:lnSpc>
                <a:spcPct val="100000"/>
              </a:lnSpc>
              <a:buNone/>
            </a:pPr>
            <a:r>
              <a:rPr lang="en-US" sz="1400" dirty="0">
                <a:latin typeface="Consolas"/>
                <a:cs typeface="Consolas"/>
              </a:rPr>
              <a:t>      si G &gt; G_max:</a:t>
            </a:r>
          </a:p>
          <a:p>
            <a:pPr marL="0" indent="0">
              <a:lnSpc>
                <a:spcPct val="100000"/>
              </a:lnSpc>
              <a:buNone/>
            </a:pPr>
            <a:r>
              <a:rPr lang="en-US" sz="1400" dirty="0">
                <a:latin typeface="Consolas"/>
                <a:cs typeface="Consolas"/>
              </a:rPr>
              <a:t>          G_max, mejor = G, (j, t)</a:t>
            </a:r>
          </a:p>
          <a:p>
            <a:pPr marL="0" indent="0">
              <a:lnSpc>
                <a:spcPct val="100000"/>
              </a:lnSpc>
              <a:buNone/>
            </a:pPr>
            <a:r>
              <a:rPr lang="en-US" sz="1400" dirty="0">
                <a:latin typeface="Consolas"/>
                <a:cs typeface="Consolas"/>
              </a:rPr>
              <a:t>  si mejor es None:</a:t>
            </a:r>
          </a:p>
          <a:p>
            <a:pPr marL="0" indent="0">
              <a:lnSpc>
                <a:spcPct val="100000"/>
              </a:lnSpc>
              <a:buNone/>
            </a:pPr>
            <a:r>
              <a:rPr lang="en-US" sz="1400" dirty="0">
                <a:latin typeface="Consolas"/>
                <a:cs typeface="Consolas"/>
              </a:rPr>
              <a:t>      devolver Hoja(pred(D))</a:t>
            </a:r>
          </a:p>
          <a:p>
            <a:pPr marL="0" indent="0">
              <a:lnSpc>
                <a:spcPct val="100000"/>
              </a:lnSpc>
              <a:buNone/>
            </a:pPr>
            <a:r>
              <a:rPr lang="en-US" sz="1400" dirty="0">
                <a:latin typeface="Consolas"/>
                <a:cs typeface="Consolas"/>
              </a:rPr>
              <a:t>  Di, Dd = dividir(D, mejor)</a:t>
            </a:r>
          </a:p>
          <a:p>
            <a:pPr marL="0" indent="0">
              <a:lnSpc>
                <a:spcPct val="100000"/>
              </a:lnSpc>
              <a:buNone/>
            </a:pPr>
            <a:r>
              <a:rPr lang="en-US" sz="1400" dirty="0">
                <a:latin typeface="Consolas"/>
                <a:cs typeface="Consolas"/>
              </a:rPr>
              <a:t>  devolver Nodo(mejor,</a:t>
            </a:r>
          </a:p>
          <a:p>
            <a:pPr marL="0" indent="0">
              <a:lnSpc>
                <a:spcPct val="100000"/>
              </a:lnSpc>
              <a:buNone/>
            </a:pPr>
            <a:r>
              <a:rPr lang="en-US" sz="1400" dirty="0">
                <a:latin typeface="Consolas"/>
                <a:cs typeface="Consolas"/>
              </a:rPr>
              <a:t>               construir(Di),</a:t>
            </a:r>
          </a:p>
          <a:p>
            <a:pPr marL="0" indent="0">
              <a:lnSpc>
                <a:spcPct val="100000"/>
              </a:lnSpc>
              <a:buNone/>
            </a:pPr>
            <a:r>
              <a:rPr lang="en-US" sz="1400" dirty="0">
                <a:latin typeface="Consolas"/>
                <a:cs typeface="Consolas"/>
              </a:rPr>
              <a:t>               construir(Dd))</a:t>
            </a:r>
          </a:p>
        </p:txBody>
      </p:sp>
    </p:spTree>
    <p:extLst>
      <p:ext uri="{BB962C8B-B14F-4D97-AF65-F5344CB8AC3E}">
        <p14:creationId xmlns:p14="http://schemas.microsoft.com/office/powerpoint/2010/main" val="4071715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3AA225-4F2A-997F-F9F3-7710DA20C223}"/>
              </a:ext>
            </a:extLst>
          </p:cNvPr>
          <p:cNvSpPr>
            <a:spLocks noGrp="1"/>
          </p:cNvSpPr>
          <p:nvPr>
            <p:ph type="title"/>
          </p:nvPr>
        </p:nvSpPr>
        <p:spPr/>
        <p:txBody>
          <a:bodyPr/>
          <a:lstStyle/>
          <a:p>
            <a:pPr>
              <a:buNone/>
            </a:pPr>
            <a:r>
              <a:rPr lang="es-ES" sz="3200" b="1" dirty="0"/>
              <a:t>Medidas de impureza: Gini y entropía</a:t>
            </a:r>
          </a:p>
        </p:txBody>
      </p:sp>
      <p:sp>
        <p:nvSpPr>
          <p:cNvPr id="3" name="Marcador de contenido 2">
            <a:extLst>
              <a:ext uri="{FF2B5EF4-FFF2-40B4-BE49-F238E27FC236}">
                <a16:creationId xmlns:a16="http://schemas.microsoft.com/office/drawing/2014/main" id="{FB3F3714-97C7-6161-0246-C2B1F8AF445D}"/>
              </a:ext>
            </a:extLst>
          </p:cNvPr>
          <p:cNvSpPr>
            <a:spLocks noGrp="1"/>
          </p:cNvSpPr>
          <p:nvPr>
            <p:ph sz="half" idx="1"/>
          </p:nvPr>
        </p:nvSpPr>
        <p:spPr/>
        <p:txBody>
          <a:bodyPr/>
          <a:lstStyle/>
          <a:p>
            <a:pPr marL="0" indent="0">
              <a:spcAft>
                <a:spcPts val="600"/>
              </a:spcAft>
              <a:buNone/>
            </a:pPr>
            <a:r>
              <a:rPr lang="es-ES" sz="2000" b="1" dirty="0">
                <a:solidFill>
                  <a:schemeClr val="accent1"/>
                </a:solidFill>
              </a:rPr>
              <a:t>Las fórmulas</a:t>
            </a:r>
          </a:p>
          <a:p>
            <a:pPr marL="0" indent="0">
              <a:spcAft>
                <a:spcPts val="700"/>
              </a:spcAft>
              <a:buNone/>
            </a:pPr>
            <a:r>
              <a:rPr lang="es-ES" sz="1900" b="1" i="1" dirty="0">
                <a:solidFill>
                  <a:srgbClr val="2C5F7C"/>
                </a:solidFill>
              </a:rPr>
              <a:t>Gini(t) = 1 − Σₖ pₖ²</a:t>
            </a:r>
          </a:p>
          <a:p>
            <a:pPr marL="0" indent="0">
              <a:spcAft>
                <a:spcPts val="700"/>
              </a:spcAft>
              <a:buNone/>
            </a:pPr>
            <a:r>
              <a:rPr lang="es-ES" sz="1900" b="1" i="1" dirty="0">
                <a:solidFill>
                  <a:srgbClr val="5A8F7B"/>
                </a:solidFill>
              </a:rPr>
              <a:t>H(t) = − Σₖ pₖ · log₂ pₖ</a:t>
            </a:r>
          </a:p>
          <a:p>
            <a:pPr marL="0" indent="0">
              <a:spcAft>
                <a:spcPts val="700"/>
              </a:spcAft>
              <a:buNone/>
            </a:pPr>
            <a:r>
              <a:rPr lang="es-ES" sz="1900" b="1" i="1" dirty="0">
                <a:solidFill>
                  <a:srgbClr val="B5651D"/>
                </a:solidFill>
              </a:rPr>
              <a:t>I(división) = (n_izq/n)·I(izq) + (n_der/n)·I(der)</a:t>
            </a:r>
          </a:p>
          <a:p>
            <a:pPr marL="0" indent="0">
              <a:spcBef>
                <a:spcPts val="400"/>
              </a:spcBef>
              <a:spcAft>
                <a:spcPts val="400"/>
              </a:spcAft>
              <a:buNone/>
            </a:pPr>
            <a:r>
              <a:rPr lang="es-ES" sz="1500" dirty="0"/>
              <a:t>pₖ = proporción de la clase k en el nodo t.</a:t>
            </a:r>
          </a:p>
          <a:p>
            <a:pPr marL="0" indent="0">
              <a:spcAft>
                <a:spcPts val="300"/>
              </a:spcAft>
              <a:buNone/>
            </a:pPr>
            <a:r>
              <a:rPr lang="es-ES" sz="1500" dirty="0">
                <a:latin typeface="Consolas"/>
              </a:rPr>
              <a:t>  p        Gini      Entropía</a:t>
            </a:r>
          </a:p>
          <a:p>
            <a:pPr marL="0" indent="0">
              <a:spcAft>
                <a:spcPts val="300"/>
              </a:spcAft>
              <a:buNone/>
            </a:pPr>
            <a:r>
              <a:rPr lang="es-ES" sz="1500" dirty="0">
                <a:latin typeface="Consolas"/>
              </a:rPr>
              <a:t>0.50       0.500      1.000 bits</a:t>
            </a:r>
          </a:p>
          <a:p>
            <a:pPr marL="0" indent="0">
              <a:spcAft>
                <a:spcPts val="300"/>
              </a:spcAft>
              <a:buNone/>
            </a:pPr>
            <a:r>
              <a:rPr lang="es-ES" sz="1500" dirty="0">
                <a:latin typeface="Consolas"/>
              </a:rPr>
              <a:t>0.80       0.320      0.722 bits</a:t>
            </a:r>
          </a:p>
          <a:p>
            <a:pPr marL="0" indent="0">
              <a:spcAft>
                <a:spcPts val="300"/>
              </a:spcAft>
              <a:buNone/>
            </a:pPr>
            <a:r>
              <a:rPr lang="es-ES" sz="1500" dirty="0">
                <a:latin typeface="Consolas"/>
              </a:rPr>
              <a:t>1.00       0.000      0.000 bits</a:t>
            </a:r>
          </a:p>
        </p:txBody>
      </p:sp>
      <p:sp>
        <p:nvSpPr>
          <p:cNvPr id="4" name="Marcador de contenido 3">
            <a:extLst>
              <a:ext uri="{FF2B5EF4-FFF2-40B4-BE49-F238E27FC236}">
                <a16:creationId xmlns:a16="http://schemas.microsoft.com/office/drawing/2014/main" id="{88568716-CA0F-B1ED-E53C-96CDB3D8FA33}"/>
              </a:ext>
            </a:extLst>
          </p:cNvPr>
          <p:cNvSpPr>
            <a:spLocks noGrp="1"/>
          </p:cNvSpPr>
          <p:nvPr>
            <p:ph sz="half" idx="2"/>
          </p:nvPr>
        </p:nvSpPr>
        <p:spPr/>
        <p:txBody>
          <a:bodyPr/>
          <a:lstStyle/>
          <a:p>
            <a:pPr marL="0" indent="0">
              <a:spcAft>
                <a:spcPts val="600"/>
              </a:spcAft>
              <a:buNone/>
            </a:pPr>
            <a:r>
              <a:rPr lang="es-ES" sz="2000" b="1" dirty="0">
                <a:solidFill>
                  <a:schemeClr val="accent1"/>
                </a:solidFill>
              </a:rPr>
              <a:t>Cómo interpretarlas</a:t>
            </a:r>
          </a:p>
          <a:p>
            <a:pPr marL="285750" indent="-285750">
              <a:spcAft>
                <a:spcPts val="500"/>
              </a:spcAft>
              <a:buFont typeface="Arial"/>
              <a:buChar char="•"/>
            </a:pPr>
            <a:r>
              <a:rPr lang="es-ES" sz="1600" dirty="0"/>
              <a:t>Impureza = 0 significa nodo puro: todas las observaciones son de la misma clase.</a:t>
            </a:r>
          </a:p>
          <a:p>
            <a:pPr marL="285750" indent="-285750">
              <a:spcAft>
                <a:spcPts val="500"/>
              </a:spcAft>
              <a:buFont typeface="Arial"/>
              <a:buChar char="•"/>
            </a:pPr>
            <a:r>
              <a:rPr lang="es-ES" sz="1600" dirty="0"/>
              <a:t>El máximo ocurre con clases perfectamente balanceadas: Gini 0,5 y entropía 1 bit con dos clases.</a:t>
            </a:r>
          </a:p>
          <a:p>
            <a:pPr marL="285750" indent="-285750">
              <a:spcAft>
                <a:spcPts val="500"/>
              </a:spcAft>
              <a:buFont typeface="Arial"/>
              <a:buChar char="•"/>
            </a:pPr>
            <a:r>
              <a:rPr lang="es-ES" sz="1600" dirty="0"/>
              <a:t>Gini se calcula más rápido (no usa logaritmos) y es el criterio por defecto en scikit-learn.</a:t>
            </a:r>
          </a:p>
          <a:p>
            <a:pPr marL="285750" indent="-285750">
              <a:spcAft>
                <a:spcPts val="500"/>
              </a:spcAft>
              <a:buFont typeface="Arial"/>
              <a:buChar char="•"/>
            </a:pPr>
            <a:r>
              <a:rPr lang="es-ES" sz="1600" dirty="0"/>
              <a:t>La entropía penaliza algo más los nodos muy mezclados, pero en la práctica produce árboles casi idénticos.</a:t>
            </a:r>
          </a:p>
          <a:p>
            <a:pPr marL="285750" indent="-285750">
              <a:spcAft>
                <a:spcPts val="500"/>
              </a:spcAft>
              <a:buFont typeface="Arial"/>
              <a:buChar char="•"/>
            </a:pPr>
            <a:r>
              <a:rPr lang="es-ES" sz="1600" dirty="0"/>
              <a:t>Elegir entre ambas rara vez cambia el desempeño: la profundidad y el tamaño mínimo de hoja importan mucho más.</a:t>
            </a:r>
          </a:p>
        </p:txBody>
      </p:sp>
    </p:spTree>
    <p:extLst>
      <p:ext uri="{BB962C8B-B14F-4D97-AF65-F5344CB8AC3E}">
        <p14:creationId xmlns:p14="http://schemas.microsoft.com/office/powerpoint/2010/main" val="947377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923419-8CFC-DB4B-8186-818535C71FFD}"/>
              </a:ext>
            </a:extLst>
          </p:cNvPr>
          <p:cNvSpPr>
            <a:spLocks noGrp="1"/>
          </p:cNvSpPr>
          <p:nvPr>
            <p:ph type="title"/>
          </p:nvPr>
        </p:nvSpPr>
        <p:spPr/>
        <p:txBody>
          <a:bodyPr/>
          <a:lstStyle/>
          <a:p>
            <a:pPr>
              <a:buNone/>
            </a:pPr>
            <a:r>
              <a:rPr lang="es-ES" sz="3200" b="1" dirty="0"/>
              <a:t>Ganancia de información: ejemplo paso a paso</a:t>
            </a:r>
          </a:p>
        </p:txBody>
      </p:sp>
      <p:sp>
        <p:nvSpPr>
          <p:cNvPr id="3" name="Marcador de contenido 2">
            <a:extLst>
              <a:ext uri="{FF2B5EF4-FFF2-40B4-BE49-F238E27FC236}">
                <a16:creationId xmlns:a16="http://schemas.microsoft.com/office/drawing/2014/main" id="{1F647C0B-E2BF-0DB2-FBB5-18B72FB303A5}"/>
              </a:ext>
            </a:extLst>
          </p:cNvPr>
          <p:cNvSpPr>
            <a:spLocks noGrp="1"/>
          </p:cNvSpPr>
          <p:nvPr>
            <p:ph idx="1"/>
          </p:nvPr>
        </p:nvSpPr>
        <p:spPr>
          <a:xfrm>
            <a:off x="838200" y="1676400"/>
            <a:ext cx="5334000" cy="4673600"/>
          </a:xfrm>
        </p:spPr>
        <p:txBody>
          <a:bodyPr>
            <a:normAutofit fontScale="92500" lnSpcReduction="20000"/>
          </a:bodyPr>
          <a:lstStyle/>
          <a:p>
            <a:pPr marL="0" indent="0">
              <a:spcAft>
                <a:spcPts val="500"/>
              </a:spcAft>
              <a:buNone/>
            </a:pPr>
            <a:r>
              <a:rPr lang="es-ES" sz="1900" b="1" dirty="0">
                <a:solidFill>
                  <a:srgbClr val="2C5F7C"/>
                </a:solidFill>
              </a:rPr>
              <a:t>Con Gini</a:t>
            </a:r>
          </a:p>
          <a:p>
            <a:pPr marL="0" indent="0">
              <a:spcAft>
                <a:spcPts val="200"/>
              </a:spcAft>
              <a:buNone/>
            </a:pPr>
            <a:r>
              <a:rPr lang="es-ES" sz="1500" b="1" dirty="0">
                <a:latin typeface="Consolas"/>
              </a:rPr>
              <a:t>Nodo padre: 10 clientes -&gt; 6 Sí / 4 No</a:t>
            </a:r>
          </a:p>
          <a:p>
            <a:pPr marL="0" indent="0">
              <a:spcAft>
                <a:spcPts val="200"/>
              </a:spcAft>
              <a:buNone/>
            </a:pPr>
            <a:r>
              <a:rPr lang="es-ES" sz="1500" b="1" dirty="0">
                <a:latin typeface="Consolas"/>
              </a:rPr>
              <a:t>Gini(padre) = 1 - (0,6² + 0,4²) = 0,480</a:t>
            </a:r>
          </a:p>
          <a:p>
            <a:pPr marL="0" indent="0">
              <a:spcAft>
                <a:spcPts val="200"/>
              </a:spcAft>
              <a:buNone/>
            </a:pPr>
            <a:r>
              <a:rPr lang="es-ES" sz="1500" dirty="0">
                <a:latin typeface="Consolas"/>
              </a:rPr>
              <a:t> </a:t>
            </a:r>
          </a:p>
          <a:p>
            <a:pPr marL="0" indent="0">
              <a:spcAft>
                <a:spcPts val="200"/>
              </a:spcAft>
              <a:buNone/>
            </a:pPr>
            <a:r>
              <a:rPr lang="es-ES" sz="1500" b="1" dirty="0">
                <a:latin typeface="Consolas"/>
              </a:rPr>
              <a:t>A) ¿Clima = Sol?</a:t>
            </a:r>
          </a:p>
          <a:p>
            <a:pPr marL="0" indent="0">
              <a:spcAft>
                <a:spcPts val="200"/>
              </a:spcAft>
              <a:buNone/>
            </a:pPr>
            <a:r>
              <a:rPr lang="es-ES" sz="1500" dirty="0">
                <a:latin typeface="Consolas"/>
              </a:rPr>
              <a:t>  izq 5 (4 Sí/1 No): Gini = 0,320</a:t>
            </a:r>
          </a:p>
          <a:p>
            <a:pPr marL="0" indent="0">
              <a:spcAft>
                <a:spcPts val="200"/>
              </a:spcAft>
              <a:buNone/>
            </a:pPr>
            <a:r>
              <a:rPr lang="es-ES" sz="1500" dirty="0">
                <a:latin typeface="Consolas"/>
              </a:rPr>
              <a:t>  der 5 (2 Sí/3 No): Gini = 0,480</a:t>
            </a:r>
          </a:p>
          <a:p>
            <a:pPr marL="0" indent="0">
              <a:spcAft>
                <a:spcPts val="200"/>
              </a:spcAft>
              <a:buNone/>
            </a:pPr>
            <a:r>
              <a:rPr lang="es-ES" sz="1500" dirty="0">
                <a:latin typeface="Consolas"/>
              </a:rPr>
              <a:t>  ponderada = 0,5·0,320 + 0,5·0,480 = 0,400</a:t>
            </a:r>
          </a:p>
          <a:p>
            <a:pPr marL="0" indent="0">
              <a:spcAft>
                <a:spcPts val="200"/>
              </a:spcAft>
              <a:buNone/>
            </a:pPr>
            <a:r>
              <a:rPr lang="es-ES" sz="1500" dirty="0">
                <a:latin typeface="Consolas"/>
              </a:rPr>
              <a:t>  ganancia   = 0,480 - 0,400 = 0,080</a:t>
            </a:r>
          </a:p>
          <a:p>
            <a:pPr marL="0" indent="0">
              <a:spcAft>
                <a:spcPts val="200"/>
              </a:spcAft>
              <a:buNone/>
            </a:pPr>
            <a:r>
              <a:rPr lang="es-ES" sz="1500" dirty="0">
                <a:latin typeface="Consolas"/>
              </a:rPr>
              <a:t> </a:t>
            </a:r>
          </a:p>
          <a:p>
            <a:pPr marL="0" indent="0">
              <a:spcAft>
                <a:spcPts val="200"/>
              </a:spcAft>
              <a:buNone/>
            </a:pPr>
            <a:r>
              <a:rPr lang="es-ES" sz="1500" b="1" dirty="0">
                <a:latin typeface="Consolas"/>
              </a:rPr>
              <a:t>B) ¿Viento = Sí?</a:t>
            </a:r>
          </a:p>
          <a:p>
            <a:pPr marL="0" indent="0">
              <a:spcAft>
                <a:spcPts val="200"/>
              </a:spcAft>
              <a:buNone/>
            </a:pPr>
            <a:r>
              <a:rPr lang="es-ES" sz="1500" dirty="0">
                <a:latin typeface="Consolas"/>
              </a:rPr>
              <a:t>  izq 4 (1 Sí/3 No): Gini = 0,375</a:t>
            </a:r>
          </a:p>
          <a:p>
            <a:pPr marL="0" indent="0">
              <a:spcAft>
                <a:spcPts val="200"/>
              </a:spcAft>
              <a:buNone/>
            </a:pPr>
            <a:r>
              <a:rPr lang="es-ES" sz="1500" dirty="0">
                <a:latin typeface="Consolas"/>
              </a:rPr>
              <a:t>  der 6 (5 Sí/1 No): Gini = 0,278</a:t>
            </a:r>
          </a:p>
          <a:p>
            <a:pPr marL="0" indent="0">
              <a:spcAft>
                <a:spcPts val="200"/>
              </a:spcAft>
              <a:buNone/>
            </a:pPr>
            <a:r>
              <a:rPr lang="es-ES" sz="1500" dirty="0">
                <a:latin typeface="Consolas"/>
              </a:rPr>
              <a:t>  ponderada = 0,4·0,375 + 0,6·0,278 = 0,317</a:t>
            </a:r>
          </a:p>
          <a:p>
            <a:pPr marL="0" indent="0">
              <a:spcAft>
                <a:spcPts val="200"/>
              </a:spcAft>
              <a:buNone/>
            </a:pPr>
            <a:r>
              <a:rPr lang="es-ES" sz="1500" b="1" dirty="0">
                <a:latin typeface="Consolas"/>
              </a:rPr>
              <a:t>  ganancia   = 0,480 - 0,317 = 0,163</a:t>
            </a:r>
          </a:p>
        </p:txBody>
      </p:sp>
      <p:sp>
        <p:nvSpPr>
          <p:cNvPr id="31" name="B31"/>
          <p:cNvSpPr txBox="1"/>
          <p:nvPr/>
        </p:nvSpPr>
        <p:spPr>
          <a:xfrm>
            <a:off x="6553200" y="1676400"/>
            <a:ext cx="4800600" cy="1905000"/>
          </a:xfrm>
          <a:prstGeom prst="rect">
            <a:avLst/>
          </a:prstGeom>
          <a:noFill/>
        </p:spPr>
        <p:txBody>
          <a:bodyPr wrap="square" lIns="0" tIns="0" rIns="0" bIns="0">
            <a:noAutofit/>
          </a:bodyPr>
          <a:lstStyle/>
          <a:p>
            <a:pPr marL="0" indent="0">
              <a:spcAft>
                <a:spcPts val="500"/>
              </a:spcAft>
              <a:buNone/>
            </a:pPr>
            <a:r>
              <a:rPr lang="es-ES" sz="1900" b="1" dirty="0">
                <a:solidFill>
                  <a:srgbClr val="5A8F7B"/>
                </a:solidFill>
              </a:rPr>
              <a:t>Con entropía</a:t>
            </a:r>
          </a:p>
          <a:p>
            <a:pPr marL="0" indent="0">
              <a:spcAft>
                <a:spcPts val="200"/>
              </a:spcAft>
              <a:buNone/>
            </a:pPr>
            <a:r>
              <a:rPr lang="es-ES" sz="1500" b="1" dirty="0">
                <a:latin typeface="Consolas"/>
              </a:rPr>
              <a:t>H(padre) = 0,971 bits</a:t>
            </a:r>
          </a:p>
          <a:p>
            <a:pPr marL="0" indent="0">
              <a:spcAft>
                <a:spcPts val="200"/>
              </a:spcAft>
              <a:buNone/>
            </a:pPr>
            <a:r>
              <a:rPr lang="es-ES" sz="1500" dirty="0">
                <a:latin typeface="Consolas"/>
              </a:rPr>
              <a:t>A) ganancia = 0,971 - 0,847 = 0,124</a:t>
            </a:r>
          </a:p>
          <a:p>
            <a:pPr marL="0" indent="0">
              <a:spcAft>
                <a:spcPts val="200"/>
              </a:spcAft>
              <a:buNone/>
            </a:pPr>
            <a:r>
              <a:rPr lang="es-ES" sz="1500" b="1" dirty="0">
                <a:latin typeface="Consolas"/>
              </a:rPr>
              <a:t>B) ganancia = 0,971 - 0,715 = 0,256</a:t>
            </a:r>
          </a:p>
          <a:p>
            <a:pPr marL="0" indent="0">
              <a:spcAft>
                <a:spcPts val="200"/>
              </a:spcAft>
              <a:buNone/>
            </a:pPr>
            <a:r>
              <a:rPr lang="es-ES" sz="1500" dirty="0">
                <a:latin typeface="Consolas"/>
              </a:rPr>
              <a:t>Mismo ganador que con Gini.</a:t>
            </a:r>
          </a:p>
        </p:txBody>
      </p:sp>
      <p:sp>
        <p:nvSpPr>
          <p:cNvPr id="32" name="B32"/>
          <p:cNvSpPr txBox="1"/>
          <p:nvPr/>
        </p:nvSpPr>
        <p:spPr>
          <a:xfrm>
            <a:off x="6553200" y="3810000"/>
            <a:ext cx="4800600" cy="1092200"/>
          </a:xfrm>
          <a:prstGeom prst="roundRect">
            <a:avLst/>
          </a:prstGeom>
          <a:solidFill>
            <a:srgbClr val="2C5F7C"/>
          </a:solidFill>
        </p:spPr>
        <p:txBody>
          <a:bodyPr wrap="square" lIns="137160" tIns="91440" rIns="137160" bIns="91440">
            <a:noAutofit/>
          </a:bodyPr>
          <a:lstStyle/>
          <a:p>
            <a:pPr marL="0" indent="0">
              <a:buNone/>
            </a:pPr>
            <a:r>
              <a:rPr lang="es-ES" sz="1700" b="1" dirty="0">
                <a:solidFill>
                  <a:srgbClr val="FFFFFF"/>
                </a:solidFill>
              </a:rPr>
              <a:t>La raíz será «¿Viento = Sí?»: 0,163 &gt; 0,080. El corte con mayor ganancia gana.</a:t>
            </a:r>
          </a:p>
        </p:txBody>
      </p:sp>
      <p:sp>
        <p:nvSpPr>
          <p:cNvPr id="33" name="B33"/>
          <p:cNvSpPr txBox="1"/>
          <p:nvPr/>
        </p:nvSpPr>
        <p:spPr>
          <a:xfrm>
            <a:off x="6553200" y="5080000"/>
            <a:ext cx="4800600" cy="1270000"/>
          </a:xfrm>
          <a:prstGeom prst="rect">
            <a:avLst/>
          </a:prstGeom>
          <a:noFill/>
        </p:spPr>
        <p:txBody>
          <a:bodyPr wrap="square" lIns="0" tIns="0" rIns="0" bIns="0">
            <a:noAutofit/>
          </a:bodyPr>
          <a:lstStyle/>
          <a:p>
            <a:pPr marL="285750" indent="-285750">
              <a:spcAft>
                <a:spcPts val="400"/>
              </a:spcAft>
              <a:buFont typeface="Arial"/>
              <a:buChar char="•"/>
            </a:pPr>
            <a:r>
              <a:rPr lang="es-ES" sz="1600" dirty="0"/>
              <a:t>El ranking de cortes casi siempre coincide entre Gini y entropía.</a:t>
            </a:r>
          </a:p>
          <a:p>
            <a:pPr marL="285750" indent="-285750">
              <a:spcAft>
                <a:spcPts val="400"/>
              </a:spcAft>
              <a:buFont typeface="Arial"/>
              <a:buChar char="•"/>
            </a:pPr>
            <a:r>
              <a:rPr lang="es-ES" sz="1600" dirty="0"/>
              <a:t>El cálculo se repite en cada hijo hasta cumplir el criterio de parada.</a:t>
            </a:r>
          </a:p>
        </p:txBody>
      </p:sp>
    </p:spTree>
    <p:extLst>
      <p:ext uri="{BB962C8B-B14F-4D97-AF65-F5344CB8AC3E}">
        <p14:creationId xmlns:p14="http://schemas.microsoft.com/office/powerpoint/2010/main" val="2581404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EB9172-A2C6-731A-0163-0DB74EC57060}"/>
              </a:ext>
            </a:extLst>
          </p:cNvPr>
          <p:cNvSpPr>
            <a:spLocks noGrp="1"/>
          </p:cNvSpPr>
          <p:nvPr>
            <p:ph type="title"/>
          </p:nvPr>
        </p:nvSpPr>
        <p:spPr>
          <a:xfrm>
            <a:off x="838200" y="365125"/>
            <a:ext cx="10515600" cy="787400"/>
          </a:xfrm>
        </p:spPr>
        <p:txBody>
          <a:bodyPr/>
          <a:lstStyle/>
          <a:p>
            <a:pPr>
              <a:buNone/>
            </a:pPr>
            <a:r>
              <a:rPr lang="es-ES" sz="3200" b="1" dirty="0"/>
              <a:t>Familias de algoritmos: ID3, C4.5 y CART</a:t>
            </a:r>
          </a:p>
        </p:txBody>
      </p:sp>
      <p:graphicFrame>
        <p:nvGraphicFramePr>
          <p:cNvPr id="40" name="TablaAlgoritmos"/>
          <p:cNvGraphicFramePr>
            <a:graphicFrameLocks noGrp="1"/>
          </p:cNvGraphicFramePr>
          <p:nvPr/>
        </p:nvGraphicFramePr>
        <p:xfrm>
          <a:off x="838200" y="1549400"/>
          <a:ext cx="10515600" cy="4152900"/>
        </p:xfrm>
        <a:graphic>
          <a:graphicData uri="http://schemas.openxmlformats.org/drawingml/2006/table">
            <a:tbl>
              <a:tblPr firstRow="1"/>
              <a:tblGrid>
                <a:gridCol w="2133600">
                  <a:extLst>
                    <a:ext uri="{9D8B030D-6E8A-4147-A177-3AD203B41FA5}">
                      <a16:colId xmlns:a16="http://schemas.microsoft.com/office/drawing/2014/main" val="20000"/>
                    </a:ext>
                  </a:extLst>
                </a:gridCol>
                <a:gridCol w="2616200">
                  <a:extLst>
                    <a:ext uri="{9D8B030D-6E8A-4147-A177-3AD203B41FA5}">
                      <a16:colId xmlns:a16="http://schemas.microsoft.com/office/drawing/2014/main" val="20001"/>
                    </a:ext>
                  </a:extLst>
                </a:gridCol>
                <a:gridCol w="2819400">
                  <a:extLst>
                    <a:ext uri="{9D8B030D-6E8A-4147-A177-3AD203B41FA5}">
                      <a16:colId xmlns:a16="http://schemas.microsoft.com/office/drawing/2014/main" val="20002"/>
                    </a:ext>
                  </a:extLst>
                </a:gridCol>
                <a:gridCol w="2946400">
                  <a:extLst>
                    <a:ext uri="{9D8B030D-6E8A-4147-A177-3AD203B41FA5}">
                      <a16:colId xmlns:a16="http://schemas.microsoft.com/office/drawing/2014/main" val="20003"/>
                    </a:ext>
                  </a:extLst>
                </a:gridCol>
              </a:tblGrid>
              <a:tr h="508000">
                <a:tc>
                  <a:txBody>
                    <a:bodyPr/>
                    <a:lstStyle/>
                    <a:p>
                      <a:pPr algn="l">
                        <a:buNone/>
                      </a:pPr>
                      <a:r>
                        <a:rPr lang="es-ES" sz="1500" b="1" dirty="0">
                          <a:solidFill>
                            <a:srgbClr val="FFFFFF"/>
                          </a:solidFill>
                        </a:rPr>
                        <a:t>Aspecto</a:t>
                      </a:r>
                    </a:p>
                  </a:txBody>
                  <a:tcPr anchor="ctr">
                    <a:lnB w="6350">
                      <a:solidFill>
                        <a:srgbClr val="D8D2C6"/>
                      </a:solidFill>
                    </a:lnB>
                    <a:solidFill>
                      <a:srgbClr val="2C5F7C"/>
                    </a:solidFill>
                  </a:tcPr>
                </a:tc>
                <a:tc>
                  <a:txBody>
                    <a:bodyPr/>
                    <a:lstStyle/>
                    <a:p>
                      <a:pPr algn="l">
                        <a:buNone/>
                      </a:pPr>
                      <a:r>
                        <a:rPr lang="es-ES" sz="1500" b="1" dirty="0">
                          <a:solidFill>
                            <a:srgbClr val="FFFFFF"/>
                          </a:solidFill>
                        </a:rPr>
                        <a:t>ID3</a:t>
                      </a:r>
                    </a:p>
                  </a:txBody>
                  <a:tcPr anchor="ctr">
                    <a:lnB w="6350">
                      <a:solidFill>
                        <a:srgbClr val="D8D2C6"/>
                      </a:solidFill>
                    </a:lnB>
                    <a:solidFill>
                      <a:srgbClr val="2C5F7C"/>
                    </a:solidFill>
                  </a:tcPr>
                </a:tc>
                <a:tc>
                  <a:txBody>
                    <a:bodyPr/>
                    <a:lstStyle/>
                    <a:p>
                      <a:pPr algn="l">
                        <a:buNone/>
                      </a:pPr>
                      <a:r>
                        <a:rPr lang="es-ES" sz="1500" b="1" dirty="0">
                          <a:solidFill>
                            <a:srgbClr val="FFFFFF"/>
                          </a:solidFill>
                        </a:rPr>
                        <a:t>C4.5</a:t>
                      </a:r>
                    </a:p>
                  </a:txBody>
                  <a:tcPr anchor="ctr">
                    <a:lnB w="6350">
                      <a:solidFill>
                        <a:srgbClr val="D8D2C6"/>
                      </a:solidFill>
                    </a:lnB>
                    <a:solidFill>
                      <a:srgbClr val="2C5F7C"/>
                    </a:solidFill>
                  </a:tcPr>
                </a:tc>
                <a:tc>
                  <a:txBody>
                    <a:bodyPr/>
                    <a:lstStyle/>
                    <a:p>
                      <a:pPr algn="l">
                        <a:buNone/>
                      </a:pPr>
                      <a:r>
                        <a:rPr lang="es-ES" sz="1500" b="1" dirty="0">
                          <a:solidFill>
                            <a:srgbClr val="FFFFFF"/>
                          </a:solidFill>
                        </a:rPr>
                        <a:t>CART</a:t>
                      </a:r>
                    </a:p>
                  </a:txBody>
                  <a:tcPr anchor="ctr">
                    <a:lnB w="6350">
                      <a:solidFill>
                        <a:srgbClr val="D8D2C6"/>
                      </a:solidFill>
                    </a:lnB>
                    <a:solidFill>
                      <a:srgbClr val="2C5F7C"/>
                    </a:solidFill>
                  </a:tcPr>
                </a:tc>
                <a:extLst>
                  <a:ext uri="{0D108BD9-81ED-4DB2-BD59-A6C34878D82A}">
                    <a16:rowId xmlns:a16="http://schemas.microsoft.com/office/drawing/2014/main" val="10000"/>
                  </a:ext>
                </a:extLst>
              </a:tr>
              <a:tr h="520700">
                <a:tc>
                  <a:txBody>
                    <a:bodyPr/>
                    <a:lstStyle/>
                    <a:p>
                      <a:pPr algn="l">
                        <a:buNone/>
                      </a:pPr>
                      <a:r>
                        <a:rPr lang="es-ES" sz="1400" b="1" dirty="0">
                          <a:solidFill>
                            <a:srgbClr val="1E2A32"/>
                          </a:solidFill>
                        </a:rPr>
                        <a:t>División</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Multivía por categoría</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Multivía + umbrales</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Siempre binaria</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extLst>
                  <a:ext uri="{0D108BD9-81ED-4DB2-BD59-A6C34878D82A}">
                    <a16:rowId xmlns:a16="http://schemas.microsoft.com/office/drawing/2014/main" val="10001"/>
                  </a:ext>
                </a:extLst>
              </a:tr>
              <a:tr h="520700">
                <a:tc>
                  <a:txBody>
                    <a:bodyPr/>
                    <a:lstStyle/>
                    <a:p>
                      <a:pPr algn="l">
                        <a:buNone/>
                      </a:pPr>
                      <a:r>
                        <a:rPr lang="es-ES" sz="1400" b="1" dirty="0">
                          <a:solidFill>
                            <a:srgbClr val="1E2A32"/>
                          </a:solidFill>
                        </a:rPr>
                        <a:t>Criterio</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tc>
                  <a:txBody>
                    <a:bodyPr/>
                    <a:lstStyle/>
                    <a:p>
                      <a:pPr algn="l">
                        <a:buNone/>
                      </a:pPr>
                      <a:r>
                        <a:rPr lang="es-ES" sz="1400" dirty="0">
                          <a:solidFill>
                            <a:srgbClr val="2B3A44"/>
                          </a:solidFill>
                        </a:rPr>
                        <a:t>Ganancia de información</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tc>
                  <a:txBody>
                    <a:bodyPr/>
                    <a:lstStyle/>
                    <a:p>
                      <a:pPr algn="l">
                        <a:buNone/>
                      </a:pPr>
                      <a:r>
                        <a:rPr lang="es-ES" sz="1400" dirty="0">
                          <a:solidFill>
                            <a:srgbClr val="2B3A44"/>
                          </a:solidFill>
                        </a:rPr>
                        <a:t>Gain ratio (normalizada)</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tc>
                  <a:txBody>
                    <a:bodyPr/>
                    <a:lstStyle/>
                    <a:p>
                      <a:pPr algn="l">
                        <a:buNone/>
                      </a:pPr>
                      <a:r>
                        <a:rPr lang="es-ES" sz="1400" dirty="0">
                          <a:solidFill>
                            <a:srgbClr val="2B3A44"/>
                          </a:solidFill>
                        </a:rPr>
                        <a:t>Gini / MSE</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extLst>
                  <a:ext uri="{0D108BD9-81ED-4DB2-BD59-A6C34878D82A}">
                    <a16:rowId xmlns:a16="http://schemas.microsoft.com/office/drawing/2014/main" val="10002"/>
                  </a:ext>
                </a:extLst>
              </a:tr>
              <a:tr h="520700">
                <a:tc>
                  <a:txBody>
                    <a:bodyPr/>
                    <a:lstStyle/>
                    <a:p>
                      <a:pPr algn="l">
                        <a:buNone/>
                      </a:pPr>
                      <a:r>
                        <a:rPr lang="es-ES" sz="1400" b="1" dirty="0">
                          <a:solidFill>
                            <a:srgbClr val="1E2A32"/>
                          </a:solidFill>
                        </a:rPr>
                        <a:t>Numéricas</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No las maneja</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Sí, busca umbral</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Sí, busca umbral</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extLst>
                  <a:ext uri="{0D108BD9-81ED-4DB2-BD59-A6C34878D82A}">
                    <a16:rowId xmlns:a16="http://schemas.microsoft.com/office/drawing/2014/main" val="10003"/>
                  </a:ext>
                </a:extLst>
              </a:tr>
              <a:tr h="520700">
                <a:tc>
                  <a:txBody>
                    <a:bodyPr/>
                    <a:lstStyle/>
                    <a:p>
                      <a:pPr algn="l">
                        <a:buNone/>
                      </a:pPr>
                      <a:r>
                        <a:rPr lang="es-ES" sz="1400" b="1" dirty="0">
                          <a:solidFill>
                            <a:srgbClr val="1E2A32"/>
                          </a:solidFill>
                        </a:rPr>
                        <a:t>Faltantes</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tc>
                  <a:txBody>
                    <a:bodyPr/>
                    <a:lstStyle/>
                    <a:p>
                      <a:pPr algn="l">
                        <a:buNone/>
                      </a:pPr>
                      <a:r>
                        <a:rPr lang="es-ES" sz="1400" dirty="0">
                          <a:solidFill>
                            <a:srgbClr val="2B3A44"/>
                          </a:solidFill>
                        </a:rPr>
                        <a:t>No</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tc>
                  <a:txBody>
                    <a:bodyPr/>
                    <a:lstStyle/>
                    <a:p>
                      <a:pPr algn="l">
                        <a:buNone/>
                      </a:pPr>
                      <a:r>
                        <a:rPr lang="es-ES" sz="1400" dirty="0">
                          <a:solidFill>
                            <a:srgbClr val="2B3A44"/>
                          </a:solidFill>
                        </a:rPr>
                        <a:t>Sí, con pesos por rama</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tc>
                  <a:txBody>
                    <a:bodyPr/>
                    <a:lstStyle/>
                    <a:p>
                      <a:pPr algn="l">
                        <a:buNone/>
                      </a:pPr>
                      <a:r>
                        <a:rPr lang="es-ES" sz="1400" dirty="0">
                          <a:solidFill>
                            <a:srgbClr val="2B3A44"/>
                          </a:solidFill>
                        </a:rPr>
                        <a:t>Sustitutos (surrogates)</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extLst>
                  <a:ext uri="{0D108BD9-81ED-4DB2-BD59-A6C34878D82A}">
                    <a16:rowId xmlns:a16="http://schemas.microsoft.com/office/drawing/2014/main" val="10004"/>
                  </a:ext>
                </a:extLst>
              </a:tr>
              <a:tr h="520700">
                <a:tc>
                  <a:txBody>
                    <a:bodyPr/>
                    <a:lstStyle/>
                    <a:p>
                      <a:pPr algn="l">
                        <a:buNone/>
                      </a:pPr>
                      <a:r>
                        <a:rPr lang="es-ES" sz="1400" b="1" dirty="0">
                          <a:solidFill>
                            <a:srgbClr val="1E2A32"/>
                          </a:solidFill>
                        </a:rPr>
                        <a:t>Poda</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No tiene</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Poda pesimista</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Coste-complejidad (ccp_alpha)</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extLst>
                  <a:ext uri="{0D108BD9-81ED-4DB2-BD59-A6C34878D82A}">
                    <a16:rowId xmlns:a16="http://schemas.microsoft.com/office/drawing/2014/main" val="10005"/>
                  </a:ext>
                </a:extLst>
              </a:tr>
              <a:tr h="520700">
                <a:tc>
                  <a:txBody>
                    <a:bodyPr/>
                    <a:lstStyle/>
                    <a:p>
                      <a:pPr algn="l">
                        <a:buNone/>
                      </a:pPr>
                      <a:r>
                        <a:rPr lang="es-ES" sz="1400" b="1" dirty="0">
                          <a:solidFill>
                            <a:srgbClr val="1E2A32"/>
                          </a:solidFill>
                        </a:rPr>
                        <a:t>Regresión</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tc>
                  <a:txBody>
                    <a:bodyPr/>
                    <a:lstStyle/>
                    <a:p>
                      <a:pPr algn="l">
                        <a:buNone/>
                      </a:pPr>
                      <a:r>
                        <a:rPr lang="es-ES" sz="1400" dirty="0">
                          <a:solidFill>
                            <a:srgbClr val="2B3A44"/>
                          </a:solidFill>
                        </a:rPr>
                        <a:t>No</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tc>
                  <a:txBody>
                    <a:bodyPr/>
                    <a:lstStyle/>
                    <a:p>
                      <a:pPr algn="l">
                        <a:buNone/>
                      </a:pPr>
                      <a:r>
                        <a:rPr lang="es-ES" sz="1400" dirty="0">
                          <a:solidFill>
                            <a:srgbClr val="2B3A44"/>
                          </a:solidFill>
                        </a:rPr>
                        <a:t>No</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tc>
                  <a:txBody>
                    <a:bodyPr/>
                    <a:lstStyle/>
                    <a:p>
                      <a:pPr algn="l">
                        <a:buNone/>
                      </a:pPr>
                      <a:r>
                        <a:rPr lang="es-ES" sz="1400" dirty="0">
                          <a:solidFill>
                            <a:srgbClr val="2B3A44"/>
                          </a:solidFill>
                        </a:rPr>
                        <a:t>Sí</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extLst>
                  <a:ext uri="{0D108BD9-81ED-4DB2-BD59-A6C34878D82A}">
                    <a16:rowId xmlns:a16="http://schemas.microsoft.com/office/drawing/2014/main" val="10006"/>
                  </a:ext>
                </a:extLst>
              </a:tr>
              <a:tr h="520700">
                <a:tc>
                  <a:txBody>
                    <a:bodyPr/>
                    <a:lstStyle/>
                    <a:p>
                      <a:pPr algn="l">
                        <a:buNone/>
                      </a:pPr>
                      <a:r>
                        <a:rPr lang="es-ES" sz="1400" b="1" dirty="0">
                          <a:solidFill>
                            <a:srgbClr val="1E2A32"/>
                          </a:solidFill>
                        </a:rPr>
                        <a:t>Uso actual</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Valor histórico</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Weka (J48)</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scikit-learn, R (rpart)</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extLst>
                  <a:ext uri="{0D108BD9-81ED-4DB2-BD59-A6C34878D82A}">
                    <a16:rowId xmlns:a16="http://schemas.microsoft.com/office/drawing/2014/main" val="10007"/>
                  </a:ext>
                </a:extLst>
              </a:tr>
            </a:tbl>
          </a:graphicData>
        </a:graphic>
      </p:graphicFrame>
      <p:sp>
        <p:nvSpPr>
          <p:cNvPr id="41" name="Nota"/>
          <p:cNvSpPr txBox="1"/>
          <p:nvPr/>
        </p:nvSpPr>
        <p:spPr>
          <a:xfrm>
            <a:off x="838200" y="5867400"/>
            <a:ext cx="10515600" cy="558800"/>
          </a:xfrm>
          <a:prstGeom prst="rect">
            <a:avLst/>
          </a:prstGeom>
          <a:noFill/>
        </p:spPr>
        <p:txBody>
          <a:bodyPr wrap="square" lIns="0" tIns="0" rIns="0" bIns="0">
            <a:noAutofit/>
          </a:bodyPr>
          <a:lstStyle/>
          <a:p>
            <a:pPr>
              <a:buNone/>
            </a:pPr>
            <a:r>
              <a:rPr lang="es-ES" sz="1500" i="1" dirty="0">
                <a:solidFill>
                  <a:srgbClr val="3A4A56"/>
                </a:solidFill>
              </a:rPr>
              <a:t>En el diplomado trabajaremos con CART: es lo que implementa DecisionTreeClassifier y DecisionTreeRegressor de scikit-learn.</a:t>
            </a:r>
          </a:p>
        </p:txBody>
      </p:sp>
    </p:spTree>
    <p:extLst>
      <p:ext uri="{BB962C8B-B14F-4D97-AF65-F5344CB8AC3E}">
        <p14:creationId xmlns:p14="http://schemas.microsoft.com/office/powerpoint/2010/main" val="517062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0926C7-F25E-2711-DA56-9F2CB53B486C}"/>
              </a:ext>
            </a:extLst>
          </p:cNvPr>
          <p:cNvSpPr>
            <a:spLocks noGrp="1"/>
          </p:cNvSpPr>
          <p:nvPr>
            <p:ph type="title"/>
          </p:nvPr>
        </p:nvSpPr>
        <p:spPr/>
        <p:txBody>
          <a:bodyPr/>
          <a:lstStyle/>
          <a:p>
            <a:pPr>
              <a:buNone/>
            </a:pPr>
            <a:r>
              <a:rPr lang="es-ES" sz="3200" b="1" dirty="0"/>
              <a:t>Cómo se cortan las variables numéricas y categóricas</a:t>
            </a:r>
          </a:p>
        </p:txBody>
      </p:sp>
      <p:sp>
        <p:nvSpPr>
          <p:cNvPr id="3" name="Marcador de contenido 2">
            <a:extLst>
              <a:ext uri="{FF2B5EF4-FFF2-40B4-BE49-F238E27FC236}">
                <a16:creationId xmlns:a16="http://schemas.microsoft.com/office/drawing/2014/main" id="{5D8BB62C-A5C4-25D3-AB6F-59A96272D4B5}"/>
              </a:ext>
            </a:extLst>
          </p:cNvPr>
          <p:cNvSpPr>
            <a:spLocks noGrp="1"/>
          </p:cNvSpPr>
          <p:nvPr>
            <p:ph sz="half" idx="1"/>
          </p:nvPr>
        </p:nvSpPr>
        <p:spPr/>
        <p:txBody>
          <a:bodyPr/>
          <a:lstStyle/>
          <a:p>
            <a:pPr marL="0" indent="0">
              <a:spcAft>
                <a:spcPts val="600"/>
              </a:spcAft>
              <a:buNone/>
            </a:pPr>
            <a:r>
              <a:rPr lang="es-ES" sz="2000" b="1" dirty="0">
                <a:solidFill>
                  <a:schemeClr val="accent1"/>
                </a:solidFill>
              </a:rPr>
              <a:t>Variables numéricas</a:t>
            </a:r>
          </a:p>
          <a:p>
            <a:pPr marL="285750" indent="-285750">
              <a:spcAft>
                <a:spcPts val="500"/>
              </a:spcAft>
              <a:buFont typeface="Arial"/>
              <a:buChar char="•"/>
            </a:pPr>
            <a:r>
              <a:rPr lang="es-ES" sz="1600" dirty="0"/>
              <a:t>Se ordenan los valores distintos y se prueban umbrales en los puntos medios entre valores consecutivos.</a:t>
            </a:r>
          </a:p>
          <a:p>
            <a:pPr marL="0" indent="0">
              <a:spcBef>
                <a:spcPts val="300"/>
              </a:spcBef>
              <a:spcAft>
                <a:spcPts val="500"/>
              </a:spcAft>
              <a:buNone/>
            </a:pPr>
            <a:r>
              <a:rPr lang="es-ES" sz="1500" b="1" dirty="0">
                <a:latin typeface="Consolas"/>
              </a:rPr>
              <a:t>regla:  x ≤ t   frente a   x &gt; t</a:t>
            </a:r>
          </a:p>
          <a:p>
            <a:pPr marL="285750" indent="-285750">
              <a:spcAft>
                <a:spcPts val="500"/>
              </a:spcAft>
              <a:buFont typeface="Arial"/>
              <a:buChar char="•"/>
            </a:pPr>
            <a:r>
              <a:rPr lang="es-ES" sz="1600" dirty="0"/>
              <a:t>Con k valores distintos hay k − 1 cortes candidatos por variable.</a:t>
            </a:r>
          </a:p>
          <a:p>
            <a:pPr marL="285750" indent="-285750">
              <a:spcAft>
                <a:spcPts val="500"/>
              </a:spcAft>
              <a:buFont typeface="Arial"/>
              <a:buChar char="•"/>
            </a:pPr>
            <a:r>
              <a:rPr lang="es-ES" sz="1600" dirty="0"/>
              <a:t>No hace falta escalar ni normalizar: el umbral se adapta a la escala de cada variable.</a:t>
            </a:r>
          </a:p>
          <a:p>
            <a:pPr marL="285750" indent="-285750">
              <a:spcAft>
                <a:spcPts val="500"/>
              </a:spcAft>
              <a:buFont typeface="Arial"/>
              <a:buChar char="•"/>
            </a:pPr>
            <a:r>
              <a:rPr lang="es-ES" sz="1600" dirty="0"/>
              <a:t>Transformaciones monótonas (log, raíz) no cambian el árbol resultante.</a:t>
            </a:r>
          </a:p>
        </p:txBody>
      </p:sp>
      <p:sp>
        <p:nvSpPr>
          <p:cNvPr id="4" name="Marcador de contenido 3">
            <a:extLst>
              <a:ext uri="{FF2B5EF4-FFF2-40B4-BE49-F238E27FC236}">
                <a16:creationId xmlns:a16="http://schemas.microsoft.com/office/drawing/2014/main" id="{70A747C1-B77C-7622-0AA9-966ACB115426}"/>
              </a:ext>
            </a:extLst>
          </p:cNvPr>
          <p:cNvSpPr>
            <a:spLocks noGrp="1"/>
          </p:cNvSpPr>
          <p:nvPr>
            <p:ph sz="half" idx="2"/>
          </p:nvPr>
        </p:nvSpPr>
        <p:spPr/>
        <p:txBody>
          <a:bodyPr/>
          <a:lstStyle/>
          <a:p>
            <a:pPr marL="0" indent="0">
              <a:spcAft>
                <a:spcPts val="600"/>
              </a:spcAft>
              <a:buNone/>
            </a:pPr>
            <a:r>
              <a:rPr lang="es-ES" sz="2000" b="1" dirty="0">
                <a:solidFill>
                  <a:schemeClr val="accent1"/>
                </a:solidFill>
              </a:rPr>
              <a:t>Variables categóricas</a:t>
            </a:r>
          </a:p>
          <a:p>
            <a:pPr marL="285750" indent="-285750">
              <a:spcAft>
                <a:spcPts val="500"/>
              </a:spcAft>
              <a:buFont typeface="Arial"/>
              <a:buChar char="•"/>
            </a:pPr>
            <a:r>
              <a:rPr lang="es-ES" sz="1600" dirty="0"/>
              <a:t>CART solo hace cortes binarios, así que en scikit-learn hay que codificar antes.</a:t>
            </a:r>
          </a:p>
          <a:p>
            <a:pPr marL="285750" indent="-285750">
              <a:spcAft>
                <a:spcPts val="500"/>
              </a:spcAft>
              <a:buFont typeface="Arial"/>
              <a:buChar char="•"/>
            </a:pPr>
            <a:r>
              <a:rPr lang="es-ES" sz="1600" dirty="0"/>
              <a:t>Usa one-hot cuando hay pocas categorías; evita LabelEncoder en variables sin orden, porque inventa una jerarquía inexistente.</a:t>
            </a:r>
          </a:p>
          <a:p>
            <a:pPr marL="285750" indent="-285750">
              <a:spcAft>
                <a:spcPts val="500"/>
              </a:spcAft>
              <a:buFont typeface="Arial"/>
              <a:buChar char="•"/>
            </a:pPr>
            <a:r>
              <a:rPr lang="es-ES" sz="1600" dirty="0"/>
              <a:t>Cuidado con la alta cardinalidad: el árbol prefiere esas variables y sobreajusta (un ID de cliente separa perfectamente el train).</a:t>
            </a:r>
          </a:p>
          <a:p>
            <a:pPr marL="285750" indent="-285750">
              <a:spcAft>
                <a:spcPts val="500"/>
              </a:spcAft>
              <a:buFont typeface="Arial"/>
              <a:buChar char="•"/>
            </a:pPr>
            <a:r>
              <a:rPr lang="es-ES" sz="1600" dirty="0"/>
              <a:t>Alternativas: agrupar categorías raras en «Otras» o usar target encoding validado dentro del pipeline.</a:t>
            </a:r>
          </a:p>
          <a:p>
            <a:pPr marL="285750" indent="-285750">
              <a:spcAft>
                <a:spcPts val="500"/>
              </a:spcAft>
              <a:buFont typeface="Arial"/>
              <a:buChar char="•"/>
            </a:pPr>
            <a:r>
              <a:rPr lang="es-ES" sz="1600" dirty="0"/>
              <a:t>C4.5, LightGBM y CatBoost sí tratan categóricas de forma nativa.</a:t>
            </a:r>
          </a:p>
        </p:txBody>
      </p:sp>
    </p:spTree>
    <p:extLst>
      <p:ext uri="{BB962C8B-B14F-4D97-AF65-F5344CB8AC3E}">
        <p14:creationId xmlns:p14="http://schemas.microsoft.com/office/powerpoint/2010/main" val="3528149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3E8A7E-D485-E5FE-58EC-52F88CB71D72}"/>
              </a:ext>
            </a:extLst>
          </p:cNvPr>
          <p:cNvSpPr>
            <a:spLocks noGrp="1"/>
          </p:cNvSpPr>
          <p:nvPr>
            <p:ph type="title"/>
          </p:nvPr>
        </p:nvSpPr>
        <p:spPr/>
        <p:txBody>
          <a:bodyPr/>
          <a:lstStyle/>
          <a:p>
            <a:pPr>
              <a:buNone/>
            </a:pPr>
            <a:r>
              <a:rPr lang="es-ES" sz="3200" b="1" dirty="0"/>
              <a:t>Árboles de regresión: cambia el criterio, no la idea</a:t>
            </a:r>
          </a:p>
        </p:txBody>
      </p:sp>
      <p:sp>
        <p:nvSpPr>
          <p:cNvPr id="3" name="Marcador de contenido 2">
            <a:extLst>
              <a:ext uri="{FF2B5EF4-FFF2-40B4-BE49-F238E27FC236}">
                <a16:creationId xmlns:a16="http://schemas.microsoft.com/office/drawing/2014/main" id="{47AB0711-2BCF-85B9-7920-F3D6092029CB}"/>
              </a:ext>
            </a:extLst>
          </p:cNvPr>
          <p:cNvSpPr>
            <a:spLocks noGrp="1"/>
          </p:cNvSpPr>
          <p:nvPr>
            <p:ph sz="half" idx="1"/>
          </p:nvPr>
        </p:nvSpPr>
        <p:spPr/>
        <p:txBody>
          <a:bodyPr/>
          <a:lstStyle/>
          <a:p>
            <a:pPr marL="0" indent="0">
              <a:spcAft>
                <a:spcPts val="600"/>
              </a:spcAft>
              <a:buNone/>
            </a:pPr>
            <a:r>
              <a:rPr lang="es-ES" sz="2000" b="1" dirty="0">
                <a:solidFill>
                  <a:schemeClr val="accent1"/>
                </a:solidFill>
              </a:rPr>
              <a:t>Qué cambia</a:t>
            </a:r>
          </a:p>
          <a:p>
            <a:pPr marL="285750" indent="-285750">
              <a:spcAft>
                <a:spcPts val="500"/>
              </a:spcAft>
              <a:buFont typeface="Arial"/>
              <a:buChar char="•"/>
            </a:pPr>
            <a:r>
              <a:rPr lang="es-ES" sz="1600" dirty="0"/>
              <a:t>Se sustituye la impureza de clase por el error cuadrático dentro del nodo.</a:t>
            </a:r>
          </a:p>
          <a:p>
            <a:pPr marL="0" indent="0">
              <a:spcBef>
                <a:spcPts val="300"/>
              </a:spcBef>
              <a:spcAft>
                <a:spcPts val="600"/>
              </a:spcAft>
              <a:buNone/>
            </a:pPr>
            <a:r>
              <a:rPr lang="es-ES" sz="1800" b="1" i="1" dirty="0">
                <a:solidFill>
                  <a:srgbClr val="B5651D"/>
                </a:solidFill>
              </a:rPr>
              <a:t>MSE(t) = (1/nₜ) Σᵢ (yᵢ − ȳₜ)²</a:t>
            </a:r>
          </a:p>
          <a:p>
            <a:pPr marL="285750" indent="-285750">
              <a:spcAft>
                <a:spcPts val="500"/>
              </a:spcAft>
              <a:buFont typeface="Arial"/>
              <a:buChar char="•"/>
            </a:pPr>
            <a:r>
              <a:rPr lang="es-ES" sz="1600" dirty="0"/>
              <a:t>El corte elegido es el que más reduce la suma ponderada de MSE de los hijos.</a:t>
            </a:r>
          </a:p>
          <a:p>
            <a:pPr marL="285750" indent="-285750">
              <a:spcAft>
                <a:spcPts val="500"/>
              </a:spcAft>
              <a:buFont typeface="Arial"/>
              <a:buChar char="•"/>
            </a:pPr>
            <a:r>
              <a:rPr lang="es-ES" sz="1600" dirty="0"/>
              <a:t>La hoja predice la media de y de sus observaciones.</a:t>
            </a:r>
          </a:p>
          <a:p>
            <a:pPr marL="285750" indent="-285750">
              <a:spcAft>
                <a:spcPts val="500"/>
              </a:spcAft>
              <a:buFont typeface="Arial"/>
              <a:buChar char="•"/>
            </a:pPr>
            <a:r>
              <a:rPr lang="es-ES" sz="1600" dirty="0"/>
              <a:t>Criterios en scikit-learn: squared_error (por defecto), absolute_error, friedman_mse, poisson.</a:t>
            </a:r>
          </a:p>
        </p:txBody>
      </p:sp>
      <p:sp>
        <p:nvSpPr>
          <p:cNvPr id="4" name="Marcador de contenido 3">
            <a:extLst>
              <a:ext uri="{FF2B5EF4-FFF2-40B4-BE49-F238E27FC236}">
                <a16:creationId xmlns:a16="http://schemas.microsoft.com/office/drawing/2014/main" id="{B9015101-F859-49F0-2CCC-8F33144F17DD}"/>
              </a:ext>
            </a:extLst>
          </p:cNvPr>
          <p:cNvSpPr>
            <a:spLocks noGrp="1"/>
          </p:cNvSpPr>
          <p:nvPr>
            <p:ph sz="half" idx="2"/>
          </p:nvPr>
        </p:nvSpPr>
        <p:spPr/>
        <p:txBody>
          <a:bodyPr/>
          <a:lstStyle/>
          <a:p>
            <a:pPr marL="0" indent="0">
              <a:spcAft>
                <a:spcPts val="600"/>
              </a:spcAft>
              <a:buNone/>
            </a:pPr>
            <a:r>
              <a:rPr lang="es-ES" sz="2000" b="1" dirty="0">
                <a:solidFill>
                  <a:schemeClr val="accent1"/>
                </a:solidFill>
              </a:rPr>
              <a:t>Implicaciones prácticas</a:t>
            </a:r>
          </a:p>
          <a:p>
            <a:pPr marL="285750" indent="-285750">
              <a:spcAft>
                <a:spcPts val="500"/>
              </a:spcAft>
              <a:buFont typeface="Arial"/>
              <a:buChar char="•"/>
            </a:pPr>
            <a:r>
              <a:rPr lang="es-ES" sz="1600" dirty="0"/>
              <a:t>La predicción es escalonada: constante dentro de cada región, con saltos en los umbrales.</a:t>
            </a:r>
          </a:p>
          <a:p>
            <a:pPr marL="285750" indent="-285750">
              <a:spcAft>
                <a:spcPts val="500"/>
              </a:spcAft>
              <a:buFont typeface="Arial"/>
              <a:buChar char="•"/>
            </a:pPr>
            <a:r>
              <a:rPr lang="es-ES" sz="1600" dirty="0"/>
              <a:t>No extrapola: nunca predice un valor fuera del rango de y observado en el entrenamiento.</a:t>
            </a:r>
          </a:p>
          <a:p>
            <a:pPr marL="285750" indent="-285750">
              <a:spcAft>
                <a:spcPts val="500"/>
              </a:spcAft>
              <a:buFont typeface="Arial"/>
              <a:buChar char="•"/>
            </a:pPr>
            <a:r>
              <a:rPr lang="es-ES" sz="1600" dirty="0"/>
              <a:t>Con squared_error es sensible a atípicos en y; absolute_error (mediana) es más robusto pero más lento.</a:t>
            </a:r>
          </a:p>
          <a:p>
            <a:pPr marL="285750" indent="-285750">
              <a:spcAft>
                <a:spcPts val="500"/>
              </a:spcAft>
              <a:buFont typeface="Arial"/>
              <a:buChar char="•"/>
            </a:pPr>
            <a:r>
              <a:rPr lang="es-ES" sz="1600" dirty="0"/>
              <a:t>Métricas: RMSE, MAE y R² sobre el conjunto de prueba.</a:t>
            </a:r>
          </a:p>
          <a:p>
            <a:pPr marL="285750" indent="-285750">
              <a:spcAft>
                <a:spcPts val="500"/>
              </a:spcAft>
              <a:buFont typeface="Arial"/>
              <a:buChar char="•"/>
            </a:pPr>
            <a:r>
              <a:rPr lang="es-ES" sz="1600" dirty="0"/>
              <a:t>Si la relación es suave y monótona, una regresión lineal o un ensamble suelen superar a un árbol único.</a:t>
            </a:r>
          </a:p>
        </p:txBody>
      </p:sp>
    </p:spTree>
    <p:extLst>
      <p:ext uri="{BB962C8B-B14F-4D97-AF65-F5344CB8AC3E}">
        <p14:creationId xmlns:p14="http://schemas.microsoft.com/office/powerpoint/2010/main" val="2068734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663A67-80D5-45F8-7E47-A93EC7430408}"/>
              </a:ext>
            </a:extLst>
          </p:cNvPr>
          <p:cNvSpPr>
            <a:spLocks noGrp="1"/>
          </p:cNvSpPr>
          <p:nvPr>
            <p:ph type="title"/>
          </p:nvPr>
        </p:nvSpPr>
        <p:spPr>
          <a:xfrm>
            <a:off x="838200" y="365125"/>
            <a:ext cx="10515600" cy="787400"/>
          </a:xfrm>
        </p:spPr>
        <p:txBody>
          <a:bodyPr/>
          <a:lstStyle/>
          <a:p>
            <a:pPr>
              <a:buNone/>
            </a:pPr>
            <a:r>
              <a:rPr lang="es-ES" sz="3200" b="1" dirty="0"/>
              <a:t>Sobreajuste: el árbol que memoriza</a:t>
            </a:r>
          </a:p>
        </p:txBody>
      </p:sp>
      <p:graphicFrame>
        <p:nvGraphicFramePr>
          <p:cNvPr id="3" name="Chart"/>
          <p:cNvGraphicFramePr/>
          <p:nvPr/>
        </p:nvGraphicFramePr>
        <p:xfrm>
          <a:off x="838200" y="1651000"/>
          <a:ext cx="6604000" cy="4241800"/>
        </p:xfrm>
        <a:graphic>
          <a:graphicData uri="http://schemas.openxmlformats.org/drawingml/2006/chart">
            <c:chart xmlns:c="http://schemas.openxmlformats.org/drawingml/2006/chart" xmlns:r="http://schemas.openxmlformats.org/officeDocument/2006/relationships" r:id="rId3"/>
          </a:graphicData>
        </a:graphic>
      </p:graphicFrame>
      <p:sp>
        <p:nvSpPr>
          <p:cNvPr id="51" name="B51"/>
          <p:cNvSpPr txBox="1"/>
          <p:nvPr/>
        </p:nvSpPr>
        <p:spPr>
          <a:xfrm>
            <a:off x="7721600" y="1676400"/>
            <a:ext cx="3632200" cy="2540000"/>
          </a:xfrm>
          <a:prstGeom prst="rect">
            <a:avLst/>
          </a:prstGeom>
          <a:noFill/>
        </p:spPr>
        <p:txBody>
          <a:bodyPr wrap="square" lIns="0" tIns="0" rIns="0" bIns="0">
            <a:noAutofit/>
          </a:bodyPr>
          <a:lstStyle/>
          <a:p>
            <a:pPr marL="0" indent="0">
              <a:spcAft>
                <a:spcPts val="600"/>
              </a:spcAft>
              <a:buNone/>
            </a:pPr>
            <a:r>
              <a:rPr lang="es-ES" sz="1900" b="1" dirty="0">
                <a:solidFill>
                  <a:srgbClr val="2C5F7C"/>
                </a:solidFill>
              </a:rPr>
              <a:t>Síntomas</a:t>
            </a:r>
          </a:p>
          <a:p>
            <a:pPr marL="257175" indent="-257175">
              <a:spcAft>
                <a:spcPts val="500"/>
              </a:spcAft>
              <a:buFont typeface="Arial"/>
              <a:buChar char="•"/>
            </a:pPr>
            <a:r>
              <a:rPr lang="es-ES" sz="1500" dirty="0"/>
              <a:t>El error de entrenamiento baja siempre; el de prueba baja, toca un mínimo y vuelve a subir.</a:t>
            </a:r>
          </a:p>
          <a:p>
            <a:pPr marL="257175" indent="-257175">
              <a:spcAft>
                <a:spcPts val="500"/>
              </a:spcAft>
              <a:buFont typeface="Arial"/>
              <a:buChar char="•"/>
            </a:pPr>
            <a:r>
              <a:rPr lang="es-ES" sz="1500" dirty="0"/>
              <a:t>Sin restricciones el árbol crece hasta hojas con una sola observación: memoriza el ruido.</a:t>
            </a:r>
          </a:p>
          <a:p>
            <a:pPr marL="257175" indent="-257175">
              <a:spcAft>
                <a:spcPts val="500"/>
              </a:spcAft>
              <a:buFont typeface="Arial"/>
              <a:buChar char="•"/>
            </a:pPr>
            <a:r>
              <a:rPr lang="es-ES" sz="1500" dirty="0"/>
              <a:t>Brecha grande entre train y test = varianza alta.</a:t>
            </a:r>
          </a:p>
          <a:p>
            <a:pPr marL="257175" indent="-257175">
              <a:spcAft>
                <a:spcPts val="500"/>
              </a:spcAft>
              <a:buFont typeface="Arial"/>
              <a:buChar char="•"/>
            </a:pPr>
            <a:r>
              <a:rPr lang="es-ES" sz="1500" dirty="0"/>
              <a:t>Aquí el óptimo está en max_depth = 5.</a:t>
            </a:r>
          </a:p>
        </p:txBody>
      </p:sp>
      <p:sp>
        <p:nvSpPr>
          <p:cNvPr id="52" name="B52"/>
          <p:cNvSpPr txBox="1"/>
          <p:nvPr/>
        </p:nvSpPr>
        <p:spPr>
          <a:xfrm>
            <a:off x="7721600" y="4470400"/>
            <a:ext cx="3632200" cy="1422400"/>
          </a:xfrm>
          <a:prstGeom prst="roundRect">
            <a:avLst/>
          </a:prstGeom>
          <a:solidFill>
            <a:srgbClr val="5A8F7B"/>
          </a:solidFill>
        </p:spPr>
        <p:txBody>
          <a:bodyPr wrap="square" lIns="137160" tIns="91440" rIns="137160" bIns="91440">
            <a:noAutofit/>
          </a:bodyPr>
          <a:lstStyle/>
          <a:p>
            <a:pPr marL="0" indent="0">
              <a:buNone/>
            </a:pPr>
            <a:r>
              <a:rPr lang="es-ES" sz="1600" b="1" dirty="0">
                <a:solidFill>
                  <a:srgbClr val="FFFFFF"/>
                </a:solidFill>
              </a:rPr>
              <a:t>Elige la complejidad con el error de validación, nunca con el de entrenamiento.</a:t>
            </a:r>
          </a:p>
        </p:txBody>
      </p:sp>
    </p:spTree>
    <p:extLst>
      <p:ext uri="{BB962C8B-B14F-4D97-AF65-F5344CB8AC3E}">
        <p14:creationId xmlns:p14="http://schemas.microsoft.com/office/powerpoint/2010/main" val="2276240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69D6B0-955C-3BA3-B2FB-C3ED8A7B6745}"/>
              </a:ext>
            </a:extLst>
          </p:cNvPr>
          <p:cNvSpPr>
            <a:spLocks noGrp="1"/>
          </p:cNvSpPr>
          <p:nvPr>
            <p:ph type="title"/>
          </p:nvPr>
        </p:nvSpPr>
        <p:spPr>
          <a:xfrm>
            <a:off x="838200" y="365125"/>
            <a:ext cx="10515600" cy="787400"/>
          </a:xfrm>
        </p:spPr>
        <p:txBody>
          <a:bodyPr/>
          <a:lstStyle/>
          <a:p>
            <a:pPr>
              <a:buNone/>
            </a:pPr>
            <a:r>
              <a:rPr lang="es-ES" sz="3200" b="1" dirty="0"/>
              <a:t>Poda y regularización: los mandos del árbol</a:t>
            </a:r>
          </a:p>
        </p:txBody>
      </p:sp>
      <p:graphicFrame>
        <p:nvGraphicFramePr>
          <p:cNvPr id="60" name="TablaHiper"/>
          <p:cNvGraphicFramePr>
            <a:graphicFrameLocks noGrp="1"/>
          </p:cNvGraphicFramePr>
          <p:nvPr/>
        </p:nvGraphicFramePr>
        <p:xfrm>
          <a:off x="838200" y="1498600"/>
          <a:ext cx="10515600" cy="4064000"/>
        </p:xfrm>
        <a:graphic>
          <a:graphicData uri="http://schemas.openxmlformats.org/drawingml/2006/table">
            <a:tbl>
              <a:tblPr firstRow="1"/>
              <a:tblGrid>
                <a:gridCol w="2489200">
                  <a:extLst>
                    <a:ext uri="{9D8B030D-6E8A-4147-A177-3AD203B41FA5}">
                      <a16:colId xmlns:a16="http://schemas.microsoft.com/office/drawing/2014/main" val="20000"/>
                    </a:ext>
                  </a:extLst>
                </a:gridCol>
                <a:gridCol w="29972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gridCol w="1981200">
                  <a:extLst>
                    <a:ext uri="{9D8B030D-6E8A-4147-A177-3AD203B41FA5}">
                      <a16:colId xmlns:a16="http://schemas.microsoft.com/office/drawing/2014/main" val="20003"/>
                    </a:ext>
                  </a:extLst>
                </a:gridCol>
              </a:tblGrid>
              <a:tr h="508000">
                <a:tc>
                  <a:txBody>
                    <a:bodyPr/>
                    <a:lstStyle/>
                    <a:p>
                      <a:pPr algn="l">
                        <a:buNone/>
                      </a:pPr>
                      <a:r>
                        <a:rPr lang="es-ES" sz="1500" b="1" dirty="0">
                          <a:solidFill>
                            <a:srgbClr val="FFFFFF"/>
                          </a:solidFill>
                        </a:rPr>
                        <a:t>Hiperparámetro</a:t>
                      </a:r>
                    </a:p>
                  </a:txBody>
                  <a:tcPr anchor="ctr">
                    <a:lnB w="6350">
                      <a:solidFill>
                        <a:srgbClr val="D8D2C6"/>
                      </a:solidFill>
                    </a:lnB>
                    <a:solidFill>
                      <a:srgbClr val="2C5F7C"/>
                    </a:solidFill>
                  </a:tcPr>
                </a:tc>
                <a:tc>
                  <a:txBody>
                    <a:bodyPr/>
                    <a:lstStyle/>
                    <a:p>
                      <a:pPr algn="l">
                        <a:buNone/>
                      </a:pPr>
                      <a:r>
                        <a:rPr lang="es-ES" sz="1500" b="1" dirty="0">
                          <a:solidFill>
                            <a:srgbClr val="FFFFFF"/>
                          </a:solidFill>
                        </a:rPr>
                        <a:t>Qué controla</a:t>
                      </a:r>
                    </a:p>
                  </a:txBody>
                  <a:tcPr anchor="ctr">
                    <a:lnB w="6350">
                      <a:solidFill>
                        <a:srgbClr val="D8D2C6"/>
                      </a:solidFill>
                    </a:lnB>
                    <a:solidFill>
                      <a:srgbClr val="2C5F7C"/>
                    </a:solidFill>
                  </a:tcPr>
                </a:tc>
                <a:tc>
                  <a:txBody>
                    <a:bodyPr/>
                    <a:lstStyle/>
                    <a:p>
                      <a:pPr algn="l">
                        <a:buNone/>
                      </a:pPr>
                      <a:r>
                        <a:rPr lang="es-ES" sz="1500" b="1" dirty="0">
                          <a:solidFill>
                            <a:srgbClr val="FFFFFF"/>
                          </a:solidFill>
                        </a:rPr>
                        <a:t>Efecto al aumentarlo</a:t>
                      </a:r>
                    </a:p>
                  </a:txBody>
                  <a:tcPr anchor="ctr">
                    <a:lnB w="6350">
                      <a:solidFill>
                        <a:srgbClr val="D8D2C6"/>
                      </a:solidFill>
                    </a:lnB>
                    <a:solidFill>
                      <a:srgbClr val="2C5F7C"/>
                    </a:solidFill>
                  </a:tcPr>
                </a:tc>
                <a:tc>
                  <a:txBody>
                    <a:bodyPr/>
                    <a:lstStyle/>
                    <a:p>
                      <a:pPr algn="l">
                        <a:buNone/>
                      </a:pPr>
                      <a:r>
                        <a:rPr lang="es-ES" sz="1500" b="1" dirty="0">
                          <a:solidFill>
                            <a:srgbClr val="FFFFFF"/>
                          </a:solidFill>
                        </a:rPr>
                        <a:t>Rango típico</a:t>
                      </a:r>
                    </a:p>
                  </a:txBody>
                  <a:tcPr anchor="ctr">
                    <a:lnB w="6350">
                      <a:solidFill>
                        <a:srgbClr val="D8D2C6"/>
                      </a:solidFill>
                    </a:lnB>
                    <a:solidFill>
                      <a:srgbClr val="2C5F7C"/>
                    </a:solidFill>
                  </a:tcPr>
                </a:tc>
                <a:extLst>
                  <a:ext uri="{0D108BD9-81ED-4DB2-BD59-A6C34878D82A}">
                    <a16:rowId xmlns:a16="http://schemas.microsoft.com/office/drawing/2014/main" val="10000"/>
                  </a:ext>
                </a:extLst>
              </a:tr>
              <a:tr h="508000">
                <a:tc>
                  <a:txBody>
                    <a:bodyPr/>
                    <a:lstStyle/>
                    <a:p>
                      <a:pPr algn="l">
                        <a:buNone/>
                      </a:pPr>
                      <a:r>
                        <a:rPr lang="es-ES" sz="1400" b="1" dirty="0">
                          <a:latin typeface="Consolas"/>
                        </a:rPr>
                        <a:t>max_depth</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Nº de preguntas encadenadas</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Más profundo = más varianza</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3 – 8</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extLst>
                  <a:ext uri="{0D108BD9-81ED-4DB2-BD59-A6C34878D82A}">
                    <a16:rowId xmlns:a16="http://schemas.microsoft.com/office/drawing/2014/main" val="10001"/>
                  </a:ext>
                </a:extLst>
              </a:tr>
              <a:tr h="508000">
                <a:tc>
                  <a:txBody>
                    <a:bodyPr/>
                    <a:lstStyle/>
                    <a:p>
                      <a:pPr algn="l">
                        <a:buNone/>
                      </a:pPr>
                      <a:r>
                        <a:rPr lang="es-ES" sz="1400" b="1" dirty="0">
                          <a:latin typeface="Consolas"/>
                        </a:rPr>
                        <a:t>min_samples_split</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tc>
                  <a:txBody>
                    <a:bodyPr/>
                    <a:lstStyle/>
                    <a:p>
                      <a:pPr algn="l">
                        <a:buNone/>
                      </a:pPr>
                      <a:r>
                        <a:rPr lang="es-ES" sz="1400" dirty="0">
                          <a:solidFill>
                            <a:srgbClr val="2B3A44"/>
                          </a:solidFill>
                        </a:rPr>
                        <a:t>Mínimo de obs. para dividir</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tc>
                  <a:txBody>
                    <a:bodyPr/>
                    <a:lstStyle/>
                    <a:p>
                      <a:pPr algn="l">
                        <a:buNone/>
                      </a:pPr>
                      <a:r>
                        <a:rPr lang="es-ES" sz="1400" dirty="0">
                          <a:solidFill>
                            <a:srgbClr val="2B3A44"/>
                          </a:solidFill>
                        </a:rPr>
                        <a:t>Frena el crecimiento</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tc>
                  <a:txBody>
                    <a:bodyPr/>
                    <a:lstStyle/>
                    <a:p>
                      <a:pPr algn="l">
                        <a:buNone/>
                      </a:pPr>
                      <a:r>
                        <a:rPr lang="es-ES" sz="1400" dirty="0">
                          <a:solidFill>
                            <a:srgbClr val="2B3A44"/>
                          </a:solidFill>
                        </a:rPr>
                        <a:t>10 – 50</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extLst>
                  <a:ext uri="{0D108BD9-81ED-4DB2-BD59-A6C34878D82A}">
                    <a16:rowId xmlns:a16="http://schemas.microsoft.com/office/drawing/2014/main" val="10002"/>
                  </a:ext>
                </a:extLst>
              </a:tr>
              <a:tr h="508000">
                <a:tc>
                  <a:txBody>
                    <a:bodyPr/>
                    <a:lstStyle/>
                    <a:p>
                      <a:pPr algn="l">
                        <a:buNone/>
                      </a:pPr>
                      <a:r>
                        <a:rPr lang="es-ES" sz="1400" b="1" dirty="0">
                          <a:latin typeface="Consolas"/>
                        </a:rPr>
                        <a:t>min_samples_leaf</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Mínimo de obs. por hoja</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Suaviza; evita hojas anecdóticas</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5 – 20</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extLst>
                  <a:ext uri="{0D108BD9-81ED-4DB2-BD59-A6C34878D82A}">
                    <a16:rowId xmlns:a16="http://schemas.microsoft.com/office/drawing/2014/main" val="10003"/>
                  </a:ext>
                </a:extLst>
              </a:tr>
              <a:tr h="508000">
                <a:tc>
                  <a:txBody>
                    <a:bodyPr/>
                    <a:lstStyle/>
                    <a:p>
                      <a:pPr algn="l">
                        <a:buNone/>
                      </a:pPr>
                      <a:r>
                        <a:rPr lang="es-ES" sz="1400" b="1" dirty="0">
                          <a:latin typeface="Consolas"/>
                        </a:rPr>
                        <a:t>max_leaf_nodes</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tc>
                  <a:txBody>
                    <a:bodyPr/>
                    <a:lstStyle/>
                    <a:p>
                      <a:pPr algn="l">
                        <a:buNone/>
                      </a:pPr>
                      <a:r>
                        <a:rPr lang="es-ES" sz="1400" dirty="0">
                          <a:solidFill>
                            <a:srgbClr val="2B3A44"/>
                          </a:solidFill>
                        </a:rPr>
                        <a:t>Número total de hojas</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tc>
                  <a:txBody>
                    <a:bodyPr/>
                    <a:lstStyle/>
                    <a:p>
                      <a:pPr algn="l">
                        <a:buNone/>
                      </a:pPr>
                      <a:r>
                        <a:rPr lang="es-ES" sz="1400" dirty="0">
                          <a:solidFill>
                            <a:srgbClr val="2B3A44"/>
                          </a:solidFill>
                        </a:rPr>
                        <a:t>Control directo del tamaño</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tc>
                  <a:txBody>
                    <a:bodyPr/>
                    <a:lstStyle/>
                    <a:p>
                      <a:pPr algn="l">
                        <a:buNone/>
                      </a:pPr>
                      <a:r>
                        <a:rPr lang="es-ES" sz="1400" dirty="0">
                          <a:solidFill>
                            <a:srgbClr val="2B3A44"/>
                          </a:solidFill>
                        </a:rPr>
                        <a:t>10 – 50</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extLst>
                  <a:ext uri="{0D108BD9-81ED-4DB2-BD59-A6C34878D82A}">
                    <a16:rowId xmlns:a16="http://schemas.microsoft.com/office/drawing/2014/main" val="10004"/>
                  </a:ext>
                </a:extLst>
              </a:tr>
              <a:tr h="508000">
                <a:tc>
                  <a:txBody>
                    <a:bodyPr/>
                    <a:lstStyle/>
                    <a:p>
                      <a:pPr algn="l">
                        <a:buNone/>
                      </a:pPr>
                      <a:r>
                        <a:rPr lang="es-ES" sz="1400" b="1" dirty="0">
                          <a:latin typeface="Consolas"/>
                        </a:rPr>
                        <a:t>max_features</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Variables candidatas por corte</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Menos = menos varianza</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None / sqrt</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extLst>
                  <a:ext uri="{0D108BD9-81ED-4DB2-BD59-A6C34878D82A}">
                    <a16:rowId xmlns:a16="http://schemas.microsoft.com/office/drawing/2014/main" val="10005"/>
                  </a:ext>
                </a:extLst>
              </a:tr>
              <a:tr h="508000">
                <a:tc>
                  <a:txBody>
                    <a:bodyPr/>
                    <a:lstStyle/>
                    <a:p>
                      <a:pPr algn="l">
                        <a:buNone/>
                      </a:pPr>
                      <a:r>
                        <a:rPr lang="es-ES" sz="1400" b="1" dirty="0">
                          <a:latin typeface="Consolas"/>
                        </a:rPr>
                        <a:t>ccp_alpha</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tc>
                  <a:txBody>
                    <a:bodyPr/>
                    <a:lstStyle/>
                    <a:p>
                      <a:pPr algn="l">
                        <a:buNone/>
                      </a:pPr>
                      <a:r>
                        <a:rPr lang="es-ES" sz="1400" dirty="0">
                          <a:solidFill>
                            <a:srgbClr val="2B3A44"/>
                          </a:solidFill>
                        </a:rPr>
                        <a:t>Penalización por hoja (poda)</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tc>
                  <a:txBody>
                    <a:bodyPr/>
                    <a:lstStyle/>
                    <a:p>
                      <a:pPr algn="l">
                        <a:buNone/>
                      </a:pPr>
                      <a:r>
                        <a:rPr lang="es-ES" sz="1400" dirty="0">
                          <a:solidFill>
                            <a:srgbClr val="2B3A44"/>
                          </a:solidFill>
                        </a:rPr>
                        <a:t>Más alto = árbol más pequeño</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tc>
                  <a:txBody>
                    <a:bodyPr/>
                    <a:lstStyle/>
                    <a:p>
                      <a:pPr algn="l">
                        <a:buNone/>
                      </a:pPr>
                      <a:r>
                        <a:rPr lang="es-ES" sz="1400" dirty="0">
                          <a:solidFill>
                            <a:srgbClr val="2B3A44"/>
                          </a:solidFill>
                        </a:rPr>
                        <a:t>0 – 0,05</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1EDE4"/>
                    </a:solidFill>
                  </a:tcPr>
                </a:tc>
                <a:extLst>
                  <a:ext uri="{0D108BD9-81ED-4DB2-BD59-A6C34878D82A}">
                    <a16:rowId xmlns:a16="http://schemas.microsoft.com/office/drawing/2014/main" val="10006"/>
                  </a:ext>
                </a:extLst>
              </a:tr>
              <a:tr h="508000">
                <a:tc>
                  <a:txBody>
                    <a:bodyPr/>
                    <a:lstStyle/>
                    <a:p>
                      <a:pPr algn="l">
                        <a:buNone/>
                      </a:pPr>
                      <a:r>
                        <a:rPr lang="es-ES" sz="1400" b="1" dirty="0">
                          <a:latin typeface="Consolas"/>
                        </a:rPr>
                        <a:t>class_weight</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Peso relativo de las clases</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balanced si hay desbalance</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tc>
                  <a:txBody>
                    <a:bodyPr/>
                    <a:lstStyle/>
                    <a:p>
                      <a:pPr algn="l">
                        <a:buNone/>
                      </a:pPr>
                      <a:r>
                        <a:rPr lang="es-ES" sz="1400" dirty="0">
                          <a:solidFill>
                            <a:srgbClr val="2B3A44"/>
                          </a:solidFill>
                        </a:rPr>
                        <a:t>None / balanced</a:t>
                      </a:r>
                    </a:p>
                  </a:txBody>
                  <a:tcPr anchor="ctr">
                    <a:lnT w="6350" cap="flat" cmpd="sng" algn="ctr">
                      <a:solidFill>
                        <a:srgbClr val="D8D2C6"/>
                      </a:solidFill>
                      <a:prstDash val="solid"/>
                      <a:round/>
                      <a:headEnd type="none" w="med" len="med"/>
                      <a:tailEnd type="none" w="med" len="med"/>
                    </a:lnT>
                    <a:lnB w="6350">
                      <a:solidFill>
                        <a:srgbClr val="D8D2C6"/>
                      </a:solidFill>
                    </a:lnB>
                    <a:solidFill>
                      <a:srgbClr val="FAF8F4"/>
                    </a:solidFill>
                  </a:tcPr>
                </a:tc>
                <a:extLst>
                  <a:ext uri="{0D108BD9-81ED-4DB2-BD59-A6C34878D82A}">
                    <a16:rowId xmlns:a16="http://schemas.microsoft.com/office/drawing/2014/main" val="10007"/>
                  </a:ext>
                </a:extLst>
              </a:tr>
            </a:tbl>
          </a:graphicData>
        </a:graphic>
      </p:graphicFrame>
      <p:sp>
        <p:nvSpPr>
          <p:cNvPr id="61" name="Poda"/>
          <p:cNvSpPr txBox="1"/>
          <p:nvPr/>
        </p:nvSpPr>
        <p:spPr>
          <a:xfrm>
            <a:off x="838200" y="5740400"/>
            <a:ext cx="10515600" cy="711200"/>
          </a:xfrm>
          <a:prstGeom prst="roundRect">
            <a:avLst/>
          </a:prstGeom>
          <a:solidFill>
            <a:srgbClr val="E7E2D8"/>
          </a:solidFill>
        </p:spPr>
        <p:txBody>
          <a:bodyPr wrap="square" lIns="137160" tIns="45720" rIns="137160" bIns="45720" anchor="ctr">
            <a:noAutofit/>
          </a:bodyPr>
          <a:lstStyle/>
          <a:p>
            <a:pPr>
              <a:buNone/>
            </a:pPr>
            <a:r>
              <a:rPr lang="es-ES" sz="1600" b="1" dirty="0">
                <a:solidFill>
                  <a:srgbClr val="1E2A32"/>
                </a:solidFill>
              </a:rPr>
              <a:t>Poda por coste-complejidad: </a:t>
            </a:r>
            <a:r>
              <a:rPr lang="es-ES" sz="1600" b="1" i="1" dirty="0">
                <a:solidFill>
                  <a:srgbClr val="2C5F7C"/>
                </a:solidFill>
              </a:rPr>
              <a:t>Rₐ(T) = R(T) + α · |hojas(T)|</a:t>
            </a:r>
            <a:r>
              <a:rPr lang="es-ES" sz="1600" dirty="0">
                <a:solidFill>
                  <a:srgbClr val="3A4A56"/>
                </a:solidFill>
              </a:rPr>
              <a:t>  — se poda el subárbol cuyo aporte no compensa su coste α.</a:t>
            </a:r>
          </a:p>
        </p:txBody>
      </p:sp>
    </p:spTree>
    <p:extLst>
      <p:ext uri="{BB962C8B-B14F-4D97-AF65-F5344CB8AC3E}">
        <p14:creationId xmlns:p14="http://schemas.microsoft.com/office/powerpoint/2010/main" val="1142815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32329F-4BEB-38A6-6D51-542C00DED411}"/>
              </a:ext>
            </a:extLst>
          </p:cNvPr>
          <p:cNvSpPr>
            <a:spLocks noGrp="1"/>
          </p:cNvSpPr>
          <p:nvPr>
            <p:ph type="title"/>
          </p:nvPr>
        </p:nvSpPr>
        <p:spPr>
          <a:xfrm>
            <a:off x="838200" y="365125"/>
            <a:ext cx="10515600" cy="787400"/>
          </a:xfrm>
        </p:spPr>
        <p:txBody>
          <a:bodyPr/>
          <a:lstStyle/>
          <a:p>
            <a:pPr>
              <a:buNone/>
            </a:pPr>
            <a:r>
              <a:rPr lang="es-ES" sz="3200" b="1" dirty="0"/>
              <a:t>Implementación en scikit-learn</a:t>
            </a:r>
          </a:p>
        </p:txBody>
      </p:sp>
      <p:sp>
        <p:nvSpPr>
          <p:cNvPr id="71" name="Code71"/>
          <p:cNvSpPr txBox="1"/>
          <p:nvPr/>
        </p:nvSpPr>
        <p:spPr>
          <a:xfrm>
            <a:off x="838200" y="1524000"/>
            <a:ext cx="5232400" cy="4851400"/>
          </a:xfrm>
          <a:prstGeom prst="roundRect">
            <a:avLst/>
          </a:prstGeom>
          <a:solidFill>
            <a:srgbClr val="F1EDE4"/>
          </a:solidFill>
          <a:ln w="6350">
            <a:solidFill>
              <a:srgbClr val="D8D2C6"/>
            </a:solidFill>
          </a:ln>
        </p:spPr>
        <p:txBody>
          <a:bodyPr wrap="square" lIns="137160" tIns="91440" rIns="91440" bIns="91440">
            <a:noAutofit/>
          </a:bodyPr>
          <a:lstStyle/>
          <a:p>
            <a:pPr marL="0" indent="0">
              <a:spcAft>
                <a:spcPts val="500"/>
              </a:spcAft>
              <a:buNone/>
            </a:pPr>
            <a:r>
              <a:rPr lang="es-ES" sz="1700" b="1" dirty="0">
                <a:solidFill>
                  <a:srgbClr val="2C5F7C"/>
                </a:solidFill>
              </a:rPr>
              <a:t>1 · Entrenar</a:t>
            </a:r>
          </a:p>
          <a:p>
            <a:pPr marL="0" indent="0">
              <a:lnSpc>
                <a:spcPct val="100000"/>
              </a:lnSpc>
              <a:buNone/>
            </a:pPr>
            <a:r>
              <a:rPr lang="en-US" sz="1400" dirty="0">
                <a:latin typeface="Consolas"/>
                <a:cs typeface="Consolas"/>
              </a:rPr>
              <a:t>from sklearn.tree import DecisionTreeClassifier</a:t>
            </a:r>
          </a:p>
          <a:p>
            <a:pPr marL="0" indent="0">
              <a:lnSpc>
                <a:spcPct val="100000"/>
              </a:lnSpc>
              <a:buNone/>
            </a:pPr>
            <a:r>
              <a:rPr lang="en-US" sz="1400" dirty="0">
                <a:latin typeface="Consolas"/>
                <a:cs typeface="Consolas"/>
              </a:rPr>
              <a:t>from sklearn.model_selection import \</a:t>
            </a:r>
          </a:p>
          <a:p>
            <a:pPr marL="0" indent="0">
              <a:lnSpc>
                <a:spcPct val="100000"/>
              </a:lnSpc>
              <a:buNone/>
            </a:pPr>
            <a:r>
              <a:rPr lang="en-US" sz="1400" dirty="0">
                <a:latin typeface="Consolas"/>
                <a:cs typeface="Consolas"/>
              </a:rPr>
              <a:t>    train_test_split</a:t>
            </a:r>
          </a:p>
          <a:p>
            <a:pPr marL="0" indent="0">
              <a:lnSpc>
                <a:spcPct val="100000"/>
              </a:lnSpc>
              <a:buNone/>
            </a:pPr>
            <a:r>
              <a:rPr lang="en-US" sz="1400" dirty="0">
                <a:latin typeface="Consolas"/>
                <a:cs typeface="Consolas"/>
              </a:rPr>
              <a:t> </a:t>
            </a:r>
          </a:p>
          <a:p>
            <a:pPr marL="0" indent="0">
              <a:lnSpc>
                <a:spcPct val="100000"/>
              </a:lnSpc>
              <a:buNone/>
            </a:pPr>
            <a:r>
              <a:rPr lang="en-US" sz="1400" dirty="0">
                <a:latin typeface="Consolas"/>
                <a:cs typeface="Consolas"/>
              </a:rPr>
              <a:t>X_tr, X_te, y_tr, y_te = train_test_split(</a:t>
            </a:r>
          </a:p>
          <a:p>
            <a:pPr marL="0" indent="0">
              <a:lnSpc>
                <a:spcPct val="100000"/>
              </a:lnSpc>
              <a:buNone/>
            </a:pPr>
            <a:r>
              <a:rPr lang="en-US" sz="1400" dirty="0">
                <a:latin typeface="Consolas"/>
                <a:cs typeface="Consolas"/>
              </a:rPr>
              <a:t>    X, y, test_size=0.2,</a:t>
            </a:r>
          </a:p>
          <a:p>
            <a:pPr marL="0" indent="0">
              <a:lnSpc>
                <a:spcPct val="100000"/>
              </a:lnSpc>
              <a:buNone/>
            </a:pPr>
            <a:r>
              <a:rPr lang="en-US" sz="1400" dirty="0">
                <a:latin typeface="Consolas"/>
                <a:cs typeface="Consolas"/>
              </a:rPr>
              <a:t>    stratify=y, random_state=42)</a:t>
            </a:r>
          </a:p>
          <a:p>
            <a:pPr marL="0" indent="0">
              <a:lnSpc>
                <a:spcPct val="100000"/>
              </a:lnSpc>
              <a:buNone/>
            </a:pPr>
            <a:r>
              <a:rPr lang="en-US" sz="1400" dirty="0">
                <a:latin typeface="Consolas"/>
                <a:cs typeface="Consolas"/>
              </a:rPr>
              <a:t> </a:t>
            </a:r>
          </a:p>
          <a:p>
            <a:pPr marL="0" indent="0">
              <a:lnSpc>
                <a:spcPct val="100000"/>
              </a:lnSpc>
              <a:buNone/>
            </a:pPr>
            <a:r>
              <a:rPr lang="en-US" sz="1400" dirty="0">
                <a:latin typeface="Consolas"/>
                <a:cs typeface="Consolas"/>
              </a:rPr>
              <a:t>clf = DecisionTreeClassifier(</a:t>
            </a:r>
          </a:p>
          <a:p>
            <a:pPr marL="0" indent="0">
              <a:lnSpc>
                <a:spcPct val="100000"/>
              </a:lnSpc>
              <a:buNone/>
            </a:pPr>
            <a:r>
              <a:rPr lang="en-US" sz="1400" dirty="0">
                <a:latin typeface="Consolas"/>
                <a:cs typeface="Consolas"/>
              </a:rPr>
              <a:t>    criterion="gini",</a:t>
            </a:r>
          </a:p>
          <a:p>
            <a:pPr marL="0" indent="0">
              <a:lnSpc>
                <a:spcPct val="100000"/>
              </a:lnSpc>
              <a:buNone/>
            </a:pPr>
            <a:r>
              <a:rPr lang="en-US" sz="1400" dirty="0">
                <a:latin typeface="Consolas"/>
                <a:cs typeface="Consolas"/>
              </a:rPr>
              <a:t>    max_depth=5,</a:t>
            </a:r>
          </a:p>
          <a:p>
            <a:pPr marL="0" indent="0">
              <a:lnSpc>
                <a:spcPct val="100000"/>
              </a:lnSpc>
              <a:buNone/>
            </a:pPr>
            <a:r>
              <a:rPr lang="en-US" sz="1400" dirty="0">
                <a:latin typeface="Consolas"/>
                <a:cs typeface="Consolas"/>
              </a:rPr>
              <a:t>    min_samples_leaf=10,</a:t>
            </a:r>
          </a:p>
          <a:p>
            <a:pPr marL="0" indent="0">
              <a:lnSpc>
                <a:spcPct val="100000"/>
              </a:lnSpc>
              <a:buNone/>
            </a:pPr>
            <a:r>
              <a:rPr lang="en-US" sz="1400" dirty="0">
                <a:latin typeface="Consolas"/>
                <a:cs typeface="Consolas"/>
              </a:rPr>
              <a:t>    class_weight="balanced",</a:t>
            </a:r>
          </a:p>
          <a:p>
            <a:pPr marL="0" indent="0">
              <a:lnSpc>
                <a:spcPct val="100000"/>
              </a:lnSpc>
              <a:buNone/>
            </a:pPr>
            <a:r>
              <a:rPr lang="en-US" sz="1400" dirty="0">
                <a:latin typeface="Consolas"/>
                <a:cs typeface="Consolas"/>
              </a:rPr>
              <a:t>    random_state=42)</a:t>
            </a:r>
          </a:p>
          <a:p>
            <a:pPr marL="0" indent="0">
              <a:lnSpc>
                <a:spcPct val="100000"/>
              </a:lnSpc>
              <a:buNone/>
            </a:pPr>
            <a:r>
              <a:rPr lang="en-US" sz="1400" dirty="0">
                <a:latin typeface="Consolas"/>
                <a:cs typeface="Consolas"/>
              </a:rPr>
              <a:t> </a:t>
            </a:r>
          </a:p>
          <a:p>
            <a:pPr marL="0" indent="0">
              <a:lnSpc>
                <a:spcPct val="100000"/>
              </a:lnSpc>
              <a:buNone/>
            </a:pPr>
            <a:r>
              <a:rPr lang="en-US" sz="1400" dirty="0">
                <a:latin typeface="Consolas"/>
                <a:cs typeface="Consolas"/>
              </a:rPr>
              <a:t>clf.fit(X_tr, y_tr)</a:t>
            </a:r>
          </a:p>
        </p:txBody>
      </p:sp>
      <p:sp>
        <p:nvSpPr>
          <p:cNvPr id="72" name="Code72"/>
          <p:cNvSpPr txBox="1"/>
          <p:nvPr/>
        </p:nvSpPr>
        <p:spPr>
          <a:xfrm>
            <a:off x="6248400" y="1524000"/>
            <a:ext cx="5105400" cy="4851400"/>
          </a:xfrm>
          <a:prstGeom prst="roundRect">
            <a:avLst/>
          </a:prstGeom>
          <a:solidFill>
            <a:srgbClr val="F1EDE4"/>
          </a:solidFill>
          <a:ln w="6350">
            <a:solidFill>
              <a:srgbClr val="D8D2C6"/>
            </a:solidFill>
          </a:ln>
        </p:spPr>
        <p:txBody>
          <a:bodyPr wrap="square" lIns="137160" tIns="91440" rIns="91440" bIns="91440">
            <a:noAutofit/>
          </a:bodyPr>
          <a:lstStyle/>
          <a:p>
            <a:pPr marL="0" indent="0">
              <a:spcAft>
                <a:spcPts val="500"/>
              </a:spcAft>
              <a:buNone/>
            </a:pPr>
            <a:r>
              <a:rPr lang="es-ES" sz="1700" b="1" dirty="0">
                <a:solidFill>
                  <a:srgbClr val="2C5F7C"/>
                </a:solidFill>
              </a:rPr>
              <a:t>2 · Evaluar e inspeccionar</a:t>
            </a:r>
          </a:p>
          <a:p>
            <a:pPr marL="0" indent="0">
              <a:lnSpc>
                <a:spcPct val="100000"/>
              </a:lnSpc>
              <a:buNone/>
            </a:pPr>
            <a:r>
              <a:rPr lang="en-US" sz="1400" dirty="0">
                <a:latin typeface="Consolas"/>
                <a:cs typeface="Consolas"/>
              </a:rPr>
              <a:t>from sklearn.metrics import \</a:t>
            </a:r>
          </a:p>
          <a:p>
            <a:pPr marL="0" indent="0">
              <a:lnSpc>
                <a:spcPct val="100000"/>
              </a:lnSpc>
              <a:buNone/>
            </a:pPr>
            <a:r>
              <a:rPr lang="en-US" sz="1400" dirty="0">
                <a:latin typeface="Consolas"/>
                <a:cs typeface="Consolas"/>
              </a:rPr>
              <a:t>    classification_report, roc_auc_score</a:t>
            </a:r>
          </a:p>
          <a:p>
            <a:pPr marL="0" indent="0">
              <a:lnSpc>
                <a:spcPct val="100000"/>
              </a:lnSpc>
              <a:buNone/>
            </a:pPr>
            <a:r>
              <a:rPr lang="en-US" sz="1400" dirty="0">
                <a:latin typeface="Consolas"/>
                <a:cs typeface="Consolas"/>
              </a:rPr>
              <a:t>from sklearn.tree import export_text</a:t>
            </a:r>
          </a:p>
          <a:p>
            <a:pPr marL="0" indent="0">
              <a:lnSpc>
                <a:spcPct val="100000"/>
              </a:lnSpc>
              <a:buNone/>
            </a:pPr>
            <a:r>
              <a:rPr lang="en-US" sz="1400" dirty="0">
                <a:latin typeface="Consolas"/>
                <a:cs typeface="Consolas"/>
              </a:rPr>
              <a:t> </a:t>
            </a:r>
          </a:p>
          <a:p>
            <a:pPr marL="0" indent="0">
              <a:lnSpc>
                <a:spcPct val="100000"/>
              </a:lnSpc>
              <a:buNone/>
            </a:pPr>
            <a:r>
              <a:rPr lang="en-US" sz="1400" dirty="0">
                <a:latin typeface="Consolas"/>
                <a:cs typeface="Consolas"/>
              </a:rPr>
              <a:t>pred = clf.predict(X_te)</a:t>
            </a:r>
          </a:p>
          <a:p>
            <a:pPr marL="0" indent="0">
              <a:lnSpc>
                <a:spcPct val="100000"/>
              </a:lnSpc>
              <a:buNone/>
            </a:pPr>
            <a:r>
              <a:rPr lang="en-US" sz="1400" dirty="0">
                <a:latin typeface="Consolas"/>
                <a:cs typeface="Consolas"/>
              </a:rPr>
              <a:t>prob = clf.predict_proba(X_te)[:, 1]</a:t>
            </a:r>
          </a:p>
          <a:p>
            <a:pPr marL="0" indent="0">
              <a:lnSpc>
                <a:spcPct val="100000"/>
              </a:lnSpc>
              <a:buNone/>
            </a:pPr>
            <a:r>
              <a:rPr lang="en-US" sz="1400" dirty="0">
                <a:latin typeface="Consolas"/>
                <a:cs typeface="Consolas"/>
              </a:rPr>
              <a:t> </a:t>
            </a:r>
          </a:p>
          <a:p>
            <a:pPr marL="0" indent="0">
              <a:lnSpc>
                <a:spcPct val="100000"/>
              </a:lnSpc>
              <a:buNone/>
            </a:pPr>
            <a:r>
              <a:rPr lang="en-US" sz="1400" dirty="0">
                <a:latin typeface="Consolas"/>
                <a:cs typeface="Consolas"/>
              </a:rPr>
              <a:t>print(classification_report(y_te, pred))</a:t>
            </a:r>
          </a:p>
          <a:p>
            <a:pPr marL="0" indent="0">
              <a:lnSpc>
                <a:spcPct val="100000"/>
              </a:lnSpc>
              <a:buNone/>
            </a:pPr>
            <a:r>
              <a:rPr lang="en-US" sz="1400" dirty="0">
                <a:latin typeface="Consolas"/>
                <a:cs typeface="Consolas"/>
              </a:rPr>
              <a:t>print("AUC:", roc_auc_score(y_te, prob))</a:t>
            </a:r>
          </a:p>
          <a:p>
            <a:pPr marL="0" indent="0">
              <a:lnSpc>
                <a:spcPct val="100000"/>
              </a:lnSpc>
              <a:buNone/>
            </a:pPr>
            <a:r>
              <a:rPr lang="en-US" sz="1400" dirty="0">
                <a:latin typeface="Consolas"/>
                <a:cs typeface="Consolas"/>
              </a:rPr>
              <a:t> </a:t>
            </a:r>
          </a:p>
          <a:p>
            <a:pPr marL="0" indent="0">
              <a:lnSpc>
                <a:spcPct val="100000"/>
              </a:lnSpc>
              <a:buNone/>
            </a:pPr>
            <a:r>
              <a:rPr lang="en-US" sz="1400" dirty="0">
                <a:latin typeface="Consolas"/>
                <a:cs typeface="Consolas"/>
              </a:rPr>
              <a:t># las reglas del árbol, en texto</a:t>
            </a:r>
          </a:p>
          <a:p>
            <a:pPr marL="0" indent="0">
              <a:lnSpc>
                <a:spcPct val="100000"/>
              </a:lnSpc>
              <a:buNone/>
            </a:pPr>
            <a:r>
              <a:rPr lang="en-US" sz="1400" dirty="0">
                <a:latin typeface="Consolas"/>
                <a:cs typeface="Consolas"/>
              </a:rPr>
              <a:t>print(export_text(clf,</a:t>
            </a:r>
          </a:p>
          <a:p>
            <a:pPr marL="0" indent="0">
              <a:lnSpc>
                <a:spcPct val="100000"/>
              </a:lnSpc>
              <a:buNone/>
            </a:pPr>
            <a:r>
              <a:rPr lang="en-US" sz="1400" dirty="0">
                <a:latin typeface="Consolas"/>
                <a:cs typeface="Consolas"/>
              </a:rPr>
              <a:t>      feature_names=list(X.columns)))</a:t>
            </a:r>
          </a:p>
          <a:p>
            <a:pPr marL="0" indent="0">
              <a:lnSpc>
                <a:spcPct val="100000"/>
              </a:lnSpc>
              <a:buNone/>
            </a:pPr>
            <a:r>
              <a:rPr lang="en-US" sz="1400" dirty="0">
                <a:latin typeface="Consolas"/>
                <a:cs typeface="Consolas"/>
              </a:rPr>
              <a:t> </a:t>
            </a:r>
          </a:p>
          <a:p>
            <a:pPr marL="0" indent="0">
              <a:lnSpc>
                <a:spcPct val="100000"/>
              </a:lnSpc>
              <a:buNone/>
            </a:pPr>
            <a:r>
              <a:rPr lang="en-US" sz="1400" dirty="0">
                <a:latin typeface="Consolas"/>
                <a:cs typeface="Consolas"/>
              </a:rPr>
              <a:t># nunca ajustes nada mirando X_te</a:t>
            </a:r>
          </a:p>
          <a:p>
            <a:pPr marL="0" indent="0">
              <a:lnSpc>
                <a:spcPct val="100000"/>
              </a:lnSpc>
              <a:buNone/>
            </a:pPr>
            <a:r>
              <a:rPr lang="en-US" sz="1400" dirty="0">
                <a:latin typeface="Consolas"/>
                <a:cs typeface="Consolas"/>
              </a:rPr>
              <a:t>print(clf.get_depth(), clf.get_n_leaves())</a:t>
            </a:r>
          </a:p>
        </p:txBody>
      </p:sp>
    </p:spTree>
    <p:extLst>
      <p:ext uri="{BB962C8B-B14F-4D97-AF65-F5344CB8AC3E}">
        <p14:creationId xmlns:p14="http://schemas.microsoft.com/office/powerpoint/2010/main" val="4105004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3A5F02-8B2A-63D2-B469-07726F1FCD90}"/>
              </a:ext>
            </a:extLst>
          </p:cNvPr>
          <p:cNvSpPr>
            <a:spLocks noGrp="1"/>
          </p:cNvSpPr>
          <p:nvPr>
            <p:ph type="title"/>
          </p:nvPr>
        </p:nvSpPr>
        <p:spPr>
          <a:xfrm>
            <a:off x="838200" y="365125"/>
            <a:ext cx="10515600" cy="787400"/>
          </a:xfrm>
        </p:spPr>
        <p:txBody>
          <a:bodyPr/>
          <a:lstStyle/>
          <a:p>
            <a:pPr>
              <a:buNone/>
            </a:pPr>
            <a:r>
              <a:rPr lang="es-ES" sz="3200" b="1" dirty="0"/>
              <a:t>Ajuste de hiperparámetros con validación cruzada</a:t>
            </a:r>
          </a:p>
        </p:txBody>
      </p:sp>
      <p:sp>
        <p:nvSpPr>
          <p:cNvPr id="81" name="S81"/>
          <p:cNvSpPr txBox="1"/>
          <p:nvPr/>
        </p:nvSpPr>
        <p:spPr>
          <a:xfrm>
            <a:off x="838200" y="1498600"/>
            <a:ext cx="5715000" cy="4876800"/>
          </a:xfrm>
          <a:prstGeom prst="roundRect">
            <a:avLst/>
          </a:prstGeom>
          <a:solidFill>
            <a:srgbClr val="F1EDE4"/>
          </a:solidFill>
          <a:ln w="6350">
            <a:solidFill>
              <a:srgbClr val="D8D2C6"/>
            </a:solidFill>
          </a:ln>
        </p:spPr>
        <p:txBody>
          <a:bodyPr wrap="square" lIns="137160" tIns="91440" rIns="91440" bIns="91440">
            <a:noAutofit/>
          </a:bodyPr>
          <a:lstStyle/>
          <a:p>
            <a:pPr marL="0" indent="0">
              <a:spcAft>
                <a:spcPts val="500"/>
              </a:spcAft>
              <a:buNone/>
            </a:pPr>
            <a:r>
              <a:rPr lang="es-ES" sz="1700" b="1" dirty="0">
                <a:solidFill>
                  <a:srgbClr val="2C5F7C"/>
                </a:solidFill>
              </a:rPr>
              <a:t>Búsqueda en rejilla con 5 folds</a:t>
            </a:r>
          </a:p>
          <a:p>
            <a:pPr marL="0" indent="0">
              <a:lnSpc>
                <a:spcPct val="100000"/>
              </a:lnSpc>
              <a:buNone/>
            </a:pPr>
            <a:r>
              <a:rPr lang="en-US" sz="1400" dirty="0">
                <a:latin typeface="Consolas"/>
                <a:cs typeface="Consolas"/>
              </a:rPr>
              <a:t>from sklearn.model_selection import \</a:t>
            </a:r>
          </a:p>
          <a:p>
            <a:pPr marL="0" indent="0">
              <a:lnSpc>
                <a:spcPct val="100000"/>
              </a:lnSpc>
              <a:buNone/>
            </a:pPr>
            <a:r>
              <a:rPr lang="en-US" sz="1400" dirty="0">
                <a:latin typeface="Consolas"/>
                <a:cs typeface="Consolas"/>
              </a:rPr>
              <a:t>    GridSearchCV, StratifiedKFold</a:t>
            </a:r>
          </a:p>
          <a:p>
            <a:pPr marL="0" indent="0">
              <a:lnSpc>
                <a:spcPct val="100000"/>
              </a:lnSpc>
              <a:buNone/>
            </a:pPr>
            <a:r>
              <a:rPr lang="en-US" sz="1400" dirty="0">
                <a:latin typeface="Consolas"/>
                <a:cs typeface="Consolas"/>
              </a:rPr>
              <a:t> </a:t>
            </a:r>
          </a:p>
          <a:p>
            <a:pPr marL="0" indent="0">
              <a:lnSpc>
                <a:spcPct val="100000"/>
              </a:lnSpc>
              <a:buNone/>
            </a:pPr>
            <a:r>
              <a:rPr lang="en-US" sz="1400" dirty="0">
                <a:latin typeface="Consolas"/>
                <a:cs typeface="Consolas"/>
              </a:rPr>
              <a:t>grid = {</a:t>
            </a:r>
          </a:p>
          <a:p>
            <a:pPr marL="0" indent="0">
              <a:lnSpc>
                <a:spcPct val="100000"/>
              </a:lnSpc>
              <a:buNone/>
            </a:pPr>
            <a:r>
              <a:rPr lang="en-US" sz="1400" dirty="0">
                <a:latin typeface="Consolas"/>
                <a:cs typeface="Consolas"/>
              </a:rPr>
              <a:t>    "max_depth": [3, 4, 5, 6, 8, None],</a:t>
            </a:r>
          </a:p>
          <a:p>
            <a:pPr marL="0" indent="0">
              <a:lnSpc>
                <a:spcPct val="100000"/>
              </a:lnSpc>
              <a:buNone/>
            </a:pPr>
            <a:r>
              <a:rPr lang="en-US" sz="1400" dirty="0">
                <a:latin typeface="Consolas"/>
                <a:cs typeface="Consolas"/>
              </a:rPr>
              <a:t>    "min_samples_leaf": [1, 5, 10, 20],</a:t>
            </a:r>
          </a:p>
          <a:p>
            <a:pPr marL="0" indent="0">
              <a:lnSpc>
                <a:spcPct val="100000"/>
              </a:lnSpc>
              <a:buNone/>
            </a:pPr>
            <a:r>
              <a:rPr lang="en-US" sz="1400" dirty="0">
                <a:latin typeface="Consolas"/>
                <a:cs typeface="Consolas"/>
              </a:rPr>
              <a:t>    "criterion": ["gini", "entropy"],</a:t>
            </a:r>
          </a:p>
          <a:p>
            <a:pPr marL="0" indent="0">
              <a:lnSpc>
                <a:spcPct val="100000"/>
              </a:lnSpc>
              <a:buNone/>
            </a:pPr>
            <a:r>
              <a:rPr lang="en-US" sz="1400" dirty="0">
                <a:latin typeface="Consolas"/>
                <a:cs typeface="Consolas"/>
              </a:rPr>
              <a:t>}</a:t>
            </a:r>
          </a:p>
          <a:p>
            <a:pPr marL="0" indent="0">
              <a:lnSpc>
                <a:spcPct val="100000"/>
              </a:lnSpc>
              <a:buNone/>
            </a:pPr>
            <a:r>
              <a:rPr lang="en-US" sz="1400" dirty="0">
                <a:latin typeface="Consolas"/>
                <a:cs typeface="Consolas"/>
              </a:rPr>
              <a:t> </a:t>
            </a:r>
          </a:p>
          <a:p>
            <a:pPr marL="0" indent="0">
              <a:lnSpc>
                <a:spcPct val="100000"/>
              </a:lnSpc>
              <a:buNone/>
            </a:pPr>
            <a:r>
              <a:rPr lang="en-US" sz="1400" dirty="0">
                <a:latin typeface="Consolas"/>
                <a:cs typeface="Consolas"/>
              </a:rPr>
              <a:t>cv = StratifiedKFold(n_splits=5,</a:t>
            </a:r>
          </a:p>
          <a:p>
            <a:pPr marL="0" indent="0">
              <a:lnSpc>
                <a:spcPct val="100000"/>
              </a:lnSpc>
              <a:buNone/>
            </a:pPr>
            <a:r>
              <a:rPr lang="en-US" sz="1400" dirty="0">
                <a:latin typeface="Consolas"/>
                <a:cs typeface="Consolas"/>
              </a:rPr>
              <a:t>        shuffle=True, random_state=42)</a:t>
            </a:r>
          </a:p>
          <a:p>
            <a:pPr marL="0" indent="0">
              <a:lnSpc>
                <a:spcPct val="100000"/>
              </a:lnSpc>
              <a:buNone/>
            </a:pPr>
            <a:r>
              <a:rPr lang="en-US" sz="1400" dirty="0">
                <a:latin typeface="Consolas"/>
                <a:cs typeface="Consolas"/>
              </a:rPr>
              <a:t> </a:t>
            </a:r>
          </a:p>
          <a:p>
            <a:pPr marL="0" indent="0">
              <a:lnSpc>
                <a:spcPct val="100000"/>
              </a:lnSpc>
              <a:buNone/>
            </a:pPr>
            <a:r>
              <a:rPr lang="en-US" sz="1400" dirty="0">
                <a:latin typeface="Consolas"/>
                <a:cs typeface="Consolas"/>
              </a:rPr>
              <a:t>search = GridSearchCV(</a:t>
            </a:r>
          </a:p>
          <a:p>
            <a:pPr marL="0" indent="0">
              <a:lnSpc>
                <a:spcPct val="100000"/>
              </a:lnSpc>
              <a:buNone/>
            </a:pPr>
            <a:r>
              <a:rPr lang="en-US" sz="1400" dirty="0">
                <a:latin typeface="Consolas"/>
                <a:cs typeface="Consolas"/>
              </a:rPr>
              <a:t>    DecisionTreeClassifier(random_state=42),</a:t>
            </a:r>
          </a:p>
          <a:p>
            <a:pPr marL="0" indent="0">
              <a:lnSpc>
                <a:spcPct val="100000"/>
              </a:lnSpc>
              <a:buNone/>
            </a:pPr>
            <a:r>
              <a:rPr lang="en-US" sz="1400" dirty="0">
                <a:latin typeface="Consolas"/>
                <a:cs typeface="Consolas"/>
              </a:rPr>
              <a:t>    grid, cv=cv, scoring="roc_auc", n_jobs=-1)</a:t>
            </a:r>
          </a:p>
          <a:p>
            <a:pPr marL="0" indent="0">
              <a:lnSpc>
                <a:spcPct val="100000"/>
              </a:lnSpc>
              <a:buNone/>
            </a:pPr>
            <a:r>
              <a:rPr lang="en-US" sz="1400" dirty="0">
                <a:latin typeface="Consolas"/>
                <a:cs typeface="Consolas"/>
              </a:rPr>
              <a:t> </a:t>
            </a:r>
          </a:p>
          <a:p>
            <a:pPr marL="0" indent="0">
              <a:lnSpc>
                <a:spcPct val="100000"/>
              </a:lnSpc>
              <a:buNone/>
            </a:pPr>
            <a:r>
              <a:rPr lang="en-US" sz="1400" dirty="0">
                <a:latin typeface="Consolas"/>
                <a:cs typeface="Consolas"/>
              </a:rPr>
              <a:t>search.fit(X_tr, y_tr)</a:t>
            </a:r>
          </a:p>
          <a:p>
            <a:pPr marL="0" indent="0">
              <a:lnSpc>
                <a:spcPct val="100000"/>
              </a:lnSpc>
              <a:buNone/>
            </a:pPr>
            <a:r>
              <a:rPr lang="en-US" sz="1400" dirty="0">
                <a:latin typeface="Consolas"/>
                <a:cs typeface="Consolas"/>
              </a:rPr>
              <a:t>print(search.best_params_)</a:t>
            </a:r>
          </a:p>
          <a:p>
            <a:pPr marL="0" indent="0">
              <a:lnSpc>
                <a:spcPct val="100000"/>
              </a:lnSpc>
              <a:buNone/>
            </a:pPr>
            <a:r>
              <a:rPr lang="en-US" sz="1400" dirty="0">
                <a:latin typeface="Consolas"/>
                <a:cs typeface="Consolas"/>
              </a:rPr>
              <a:t>best = search.best_estimator_</a:t>
            </a:r>
          </a:p>
        </p:txBody>
      </p:sp>
      <p:sp>
        <p:nvSpPr>
          <p:cNvPr id="82" name="S82"/>
          <p:cNvSpPr txBox="1"/>
          <p:nvPr/>
        </p:nvSpPr>
        <p:spPr>
          <a:xfrm>
            <a:off x="6858000" y="1498600"/>
            <a:ext cx="4495800" cy="3429000"/>
          </a:xfrm>
          <a:prstGeom prst="rect">
            <a:avLst/>
          </a:prstGeom>
          <a:noFill/>
        </p:spPr>
        <p:txBody>
          <a:bodyPr wrap="square" lIns="0" tIns="0" rIns="0" bIns="0">
            <a:noAutofit/>
          </a:bodyPr>
          <a:lstStyle/>
          <a:p>
            <a:pPr marL="0" indent="0">
              <a:spcAft>
                <a:spcPts val="500"/>
              </a:spcAft>
              <a:buNone/>
            </a:pPr>
            <a:r>
              <a:rPr lang="es-ES" sz="1700" b="1" dirty="0">
                <a:solidFill>
                  <a:srgbClr val="2C5F7C"/>
                </a:solidFill>
              </a:rPr>
              <a:t>Buenas prácticas</a:t>
            </a:r>
          </a:p>
          <a:p>
            <a:pPr marL="257175" indent="-257175">
              <a:spcAft>
                <a:spcPts val="500"/>
              </a:spcAft>
              <a:buFont typeface="Arial"/>
              <a:buChar char="•"/>
            </a:pPr>
            <a:r>
              <a:rPr lang="es-ES" sz="1500" dirty="0"/>
              <a:t>El conjunto de prueba se reserva y se usa una sola vez, al final.</a:t>
            </a:r>
          </a:p>
          <a:p>
            <a:pPr marL="257175" indent="-257175">
              <a:spcAft>
                <a:spcPts val="500"/>
              </a:spcAft>
              <a:buFont typeface="Arial"/>
              <a:buChar char="•"/>
            </a:pPr>
            <a:r>
              <a:rPr lang="es-ES" sz="1500" dirty="0"/>
              <a:t>Elige la métrica según el problema: roc_auc o f1 con clases desbalanceadas, nunca solo accuracy.</a:t>
            </a:r>
          </a:p>
          <a:p>
            <a:pPr marL="257175" indent="-257175">
              <a:spcAft>
                <a:spcPts val="500"/>
              </a:spcAft>
              <a:buFont typeface="Arial"/>
              <a:buChar char="•"/>
            </a:pPr>
            <a:r>
              <a:rPr lang="es-ES" sz="1500" dirty="0"/>
              <a:t>5 folds estratificados es un buen punto de partida.</a:t>
            </a:r>
          </a:p>
          <a:p>
            <a:pPr marL="257175" indent="-257175">
              <a:spcAft>
                <a:spcPts val="500"/>
              </a:spcAft>
              <a:buFont typeface="Arial"/>
              <a:buChar char="•"/>
            </a:pPr>
            <a:r>
              <a:rPr lang="es-ES" sz="1500" dirty="0"/>
              <a:t>Con muchas combinaciones, usa RandomizedSearchCV o HalvingGridSearchCV.</a:t>
            </a:r>
          </a:p>
          <a:p>
            <a:pPr marL="257175" indent="-257175">
              <a:spcAft>
                <a:spcPts val="500"/>
              </a:spcAft>
              <a:buFont typeface="Arial"/>
              <a:buChar char="•"/>
            </a:pPr>
            <a:r>
              <a:rPr lang="es-ES" sz="1500" dirty="0"/>
              <a:t>Mete la codificación en un Pipeline para que se ajuste dentro de cada fold y evitar fuga de datos.</a:t>
            </a:r>
          </a:p>
        </p:txBody>
      </p:sp>
      <p:sp>
        <p:nvSpPr>
          <p:cNvPr id="83" name="S83"/>
          <p:cNvSpPr txBox="1"/>
          <p:nvPr/>
        </p:nvSpPr>
        <p:spPr>
          <a:xfrm>
            <a:off x="6858000" y="5080000"/>
            <a:ext cx="4495800" cy="1295400"/>
          </a:xfrm>
          <a:prstGeom prst="roundRect">
            <a:avLst/>
          </a:prstGeom>
          <a:solidFill>
            <a:srgbClr val="2C5F7C"/>
          </a:solidFill>
        </p:spPr>
        <p:txBody>
          <a:bodyPr wrap="square" lIns="137160" tIns="91440" rIns="91440" bIns="91440">
            <a:noAutofit/>
          </a:bodyPr>
          <a:lstStyle/>
          <a:p>
            <a:pPr marL="0" indent="0">
              <a:buNone/>
            </a:pPr>
            <a:r>
              <a:rPr lang="es-ES" sz="1600" b="1" dirty="0">
                <a:solidFill>
                  <a:srgbClr val="FFFFFF"/>
                </a:solidFill>
              </a:rPr>
              <a:t>Reporta siempre dos números: la métrica media de validación cruzada y la del test.</a:t>
            </a:r>
          </a:p>
        </p:txBody>
      </p:sp>
    </p:spTree>
    <p:extLst>
      <p:ext uri="{BB962C8B-B14F-4D97-AF65-F5344CB8AC3E}">
        <p14:creationId xmlns:p14="http://schemas.microsoft.com/office/powerpoint/2010/main" val="2238740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BDADF3-FB65-3C3E-B52C-9309CA40A6C3}"/>
              </a:ext>
            </a:extLst>
          </p:cNvPr>
          <p:cNvSpPr>
            <a:spLocks noGrp="1"/>
          </p:cNvSpPr>
          <p:nvPr>
            <p:ph type="title"/>
          </p:nvPr>
        </p:nvSpPr>
        <p:spPr>
          <a:xfrm>
            <a:off x="838200" y="365125"/>
            <a:ext cx="10515600" cy="787400"/>
          </a:xfrm>
        </p:spPr>
        <p:txBody>
          <a:bodyPr/>
          <a:lstStyle/>
          <a:p>
            <a:pPr>
              <a:buNone/>
            </a:pPr>
            <a:r>
              <a:rPr lang="es-ES" sz="3200" b="1" dirty="0"/>
              <a:t>Interpretabilidad: importancia de variables y reglas</a:t>
            </a:r>
          </a:p>
        </p:txBody>
      </p:sp>
      <p:graphicFrame>
        <p:nvGraphicFramePr>
          <p:cNvPr id="3" name="Chart"/>
          <p:cNvGraphicFramePr/>
          <p:nvPr/>
        </p:nvGraphicFramePr>
        <p:xfrm>
          <a:off x="838200" y="1600200"/>
          <a:ext cx="5511800" cy="4394200"/>
        </p:xfrm>
        <a:graphic>
          <a:graphicData uri="http://schemas.openxmlformats.org/drawingml/2006/chart">
            <c:chart xmlns:c="http://schemas.openxmlformats.org/drawingml/2006/chart" xmlns:r="http://schemas.openxmlformats.org/officeDocument/2006/relationships" r:id="rId3"/>
          </a:graphicData>
        </a:graphic>
      </p:graphicFrame>
      <p:sp>
        <p:nvSpPr>
          <p:cNvPr id="101" name="S101"/>
          <p:cNvSpPr txBox="1"/>
          <p:nvPr/>
        </p:nvSpPr>
        <p:spPr>
          <a:xfrm>
            <a:off x="838200" y="6045200"/>
            <a:ext cx="5511800" cy="304800"/>
          </a:xfrm>
          <a:prstGeom prst="rect">
            <a:avLst/>
          </a:prstGeom>
          <a:noFill/>
        </p:spPr>
        <p:txBody>
          <a:bodyPr wrap="square" lIns="0" tIns="0" rIns="0" bIns="0">
            <a:noAutofit/>
          </a:bodyPr>
          <a:lstStyle/>
          <a:p>
            <a:pPr marL="0" indent="0">
              <a:spcAft>
                <a:spcPts val="400"/>
              </a:spcAft>
              <a:buNone/>
            </a:pPr>
            <a:r>
              <a:rPr lang="es-ES" sz="1700" b="1" dirty="0">
                <a:solidFill>
                  <a:srgbClr val="2C5F7C"/>
                </a:solidFill>
              </a:rPr>
              <a:t>clf.feature_importances_  ·  reducción total de impureza</a:t>
            </a:r>
          </a:p>
        </p:txBody>
      </p:sp>
      <p:sp>
        <p:nvSpPr>
          <p:cNvPr id="102" name="S102"/>
          <p:cNvSpPr txBox="1"/>
          <p:nvPr/>
        </p:nvSpPr>
        <p:spPr>
          <a:xfrm>
            <a:off x="6553200" y="1524000"/>
            <a:ext cx="4800600" cy="2133600"/>
          </a:xfrm>
          <a:prstGeom prst="roundRect">
            <a:avLst/>
          </a:prstGeom>
          <a:solidFill>
            <a:srgbClr val="F1EDE4"/>
          </a:solidFill>
          <a:ln w="6350">
            <a:solidFill>
              <a:srgbClr val="D8D2C6"/>
            </a:solidFill>
          </a:ln>
        </p:spPr>
        <p:txBody>
          <a:bodyPr wrap="square" lIns="114300" tIns="68580" rIns="91440" bIns="68580">
            <a:noAutofit/>
          </a:bodyPr>
          <a:lstStyle/>
          <a:p>
            <a:pPr marL="0" indent="0">
              <a:spcAft>
                <a:spcPts val="400"/>
              </a:spcAft>
              <a:buNone/>
            </a:pPr>
            <a:r>
              <a:rPr lang="es-ES" sz="1700" b="1" dirty="0">
                <a:solidFill>
                  <a:srgbClr val="2C5F7C"/>
                </a:solidFill>
              </a:rPr>
              <a:t>Las reglas, en texto</a:t>
            </a:r>
          </a:p>
          <a:p>
            <a:pPr marL="0" indent="0">
              <a:lnSpc>
                <a:spcPct val="100000"/>
              </a:lnSpc>
              <a:buNone/>
            </a:pPr>
            <a:r>
              <a:rPr lang="es-ES" sz="1400" dirty="0">
                <a:latin typeface="Consolas"/>
              </a:rPr>
              <a:t>|--- ingreso &lt;= 48.500</a:t>
            </a:r>
          </a:p>
          <a:p>
            <a:pPr marL="0" indent="0">
              <a:lnSpc>
                <a:spcPct val="100000"/>
              </a:lnSpc>
              <a:buNone/>
            </a:pPr>
            <a:r>
              <a:rPr lang="es-ES" sz="1400" dirty="0">
                <a:latin typeface="Consolas"/>
              </a:rPr>
              <a:t>|    |--- deuda_ingreso &lt;= 0.42</a:t>
            </a:r>
          </a:p>
          <a:p>
            <a:pPr marL="0" indent="0">
              <a:lnSpc>
                <a:spcPct val="100000"/>
              </a:lnSpc>
              <a:buNone/>
            </a:pPr>
            <a:r>
              <a:rPr lang="es-ES" sz="1400" dirty="0">
                <a:latin typeface="Consolas"/>
              </a:rPr>
              <a:t>|    |    |--- clase: aprueba</a:t>
            </a:r>
          </a:p>
          <a:p>
            <a:pPr marL="0" indent="0">
              <a:lnSpc>
                <a:spcPct val="100000"/>
              </a:lnSpc>
              <a:buNone/>
            </a:pPr>
            <a:r>
              <a:rPr lang="es-ES" sz="1400" dirty="0">
                <a:latin typeface="Consolas"/>
              </a:rPr>
              <a:t>|    |--- deuda_ingreso &gt;  0.42</a:t>
            </a:r>
          </a:p>
          <a:p>
            <a:pPr marL="0" indent="0">
              <a:lnSpc>
                <a:spcPct val="100000"/>
              </a:lnSpc>
              <a:buNone/>
            </a:pPr>
            <a:r>
              <a:rPr lang="es-ES" sz="1400" dirty="0">
                <a:latin typeface="Consolas"/>
              </a:rPr>
              <a:t>|    |    |--- clase: rechaza</a:t>
            </a:r>
          </a:p>
          <a:p>
            <a:pPr marL="0" indent="0">
              <a:lnSpc>
                <a:spcPct val="100000"/>
              </a:lnSpc>
              <a:buNone/>
            </a:pPr>
            <a:r>
              <a:rPr lang="es-ES" sz="1400" dirty="0">
                <a:latin typeface="Consolas"/>
              </a:rPr>
              <a:t>|--- ingreso &gt;  48.500</a:t>
            </a:r>
          </a:p>
          <a:p>
            <a:pPr marL="0" indent="0">
              <a:lnSpc>
                <a:spcPct val="100000"/>
              </a:lnSpc>
              <a:buNone/>
            </a:pPr>
            <a:r>
              <a:rPr lang="es-ES" sz="1400" dirty="0">
                <a:latin typeface="Consolas"/>
              </a:rPr>
              <a:t>|    |--- clase: aprueba</a:t>
            </a:r>
          </a:p>
        </p:txBody>
      </p:sp>
      <p:sp>
        <p:nvSpPr>
          <p:cNvPr id="103" name="S103"/>
          <p:cNvSpPr txBox="1"/>
          <p:nvPr/>
        </p:nvSpPr>
        <p:spPr>
          <a:xfrm>
            <a:off x="6553200" y="3835400"/>
            <a:ext cx="4800600" cy="1778000"/>
          </a:xfrm>
          <a:prstGeom prst="rect">
            <a:avLst/>
          </a:prstGeom>
          <a:noFill/>
        </p:spPr>
        <p:txBody>
          <a:bodyPr wrap="square" lIns="0" tIns="0" rIns="0" bIns="0">
            <a:noAutofit/>
          </a:bodyPr>
          <a:lstStyle/>
          <a:p>
            <a:pPr marL="0" indent="0">
              <a:spcAft>
                <a:spcPts val="400"/>
              </a:spcAft>
              <a:buNone/>
            </a:pPr>
            <a:r>
              <a:rPr lang="es-ES" sz="1700" b="1" dirty="0">
                <a:solidFill>
                  <a:srgbClr val="B5651D"/>
                </a:solidFill>
              </a:rPr>
              <a:t>Cómo leerla con cuidado</a:t>
            </a:r>
          </a:p>
          <a:p>
            <a:pPr marL="257175" indent="-257175">
              <a:spcAft>
                <a:spcPts val="400"/>
              </a:spcAft>
              <a:buFont typeface="Arial"/>
              <a:buChar char="•"/>
            </a:pPr>
            <a:r>
              <a:rPr lang="es-ES" sz="1500" dirty="0"/>
              <a:t>La importancia mide reducción de impureza, no causalidad ni dirección del efecto.</a:t>
            </a:r>
          </a:p>
          <a:p>
            <a:pPr marL="257175" indent="-257175">
              <a:spcAft>
                <a:spcPts val="400"/>
              </a:spcAft>
              <a:buFont typeface="Arial"/>
              <a:buChar char="•"/>
            </a:pPr>
            <a:r>
              <a:rPr lang="es-ES" sz="1500" dirty="0"/>
              <a:t>Se reparte entre variables correlacionadas y favorece las de alta cardinalidad.</a:t>
            </a:r>
          </a:p>
          <a:p>
            <a:pPr marL="257175" indent="-257175">
              <a:spcAft>
                <a:spcPts val="400"/>
              </a:spcAft>
              <a:buFont typeface="Arial"/>
              <a:buChar char="•"/>
            </a:pPr>
            <a:r>
              <a:rPr lang="es-ES" sz="1500" dirty="0"/>
              <a:t>Complementa con permutation_importance y con la lectura de las reglas.</a:t>
            </a:r>
          </a:p>
        </p:txBody>
      </p:sp>
      <p:sp>
        <p:nvSpPr>
          <p:cNvPr id="104" name="S104"/>
          <p:cNvSpPr txBox="1"/>
          <p:nvPr/>
        </p:nvSpPr>
        <p:spPr>
          <a:xfrm>
            <a:off x="6553200" y="5740400"/>
            <a:ext cx="4800600" cy="635000"/>
          </a:xfrm>
          <a:prstGeom prst="roundRect">
            <a:avLst/>
          </a:prstGeom>
          <a:solidFill>
            <a:srgbClr val="2C5F7C"/>
          </a:solidFill>
        </p:spPr>
        <p:txBody>
          <a:bodyPr wrap="square" lIns="114300" tIns="68580" rIns="91440" bIns="68580">
            <a:noAutofit/>
          </a:bodyPr>
          <a:lstStyle/>
          <a:p>
            <a:pPr marL="0" indent="0">
              <a:buNone/>
            </a:pPr>
            <a:r>
              <a:rPr lang="es-ES" sz="1500" b="1" dirty="0">
                <a:solidFill>
                  <a:srgbClr val="FFFFFF"/>
                </a:solidFill>
              </a:rPr>
              <a:t>La interpretabilidad es la ventaja competitiva del árbol.</a:t>
            </a:r>
          </a:p>
        </p:txBody>
      </p:sp>
    </p:spTree>
    <p:extLst>
      <p:ext uri="{BB962C8B-B14F-4D97-AF65-F5344CB8AC3E}">
        <p14:creationId xmlns:p14="http://schemas.microsoft.com/office/powerpoint/2010/main" val="1424009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DCF3D3-1B3E-5CF9-B7CB-30B00CD4BEA3}"/>
              </a:ext>
            </a:extLst>
          </p:cNvPr>
          <p:cNvSpPr>
            <a:spLocks noGrp="1"/>
          </p:cNvSpPr>
          <p:nvPr>
            <p:ph type="title"/>
          </p:nvPr>
        </p:nvSpPr>
        <p:spPr/>
        <p:txBody>
          <a:bodyPr/>
          <a:lstStyle/>
          <a:p>
            <a:pPr>
              <a:buNone/>
            </a:pPr>
            <a:r>
              <a:rPr lang="es-ES" sz="3200" b="1" dirty="0"/>
              <a:t>Ventajas y limitaciones que debes saber defender</a:t>
            </a:r>
          </a:p>
        </p:txBody>
      </p:sp>
      <p:sp>
        <p:nvSpPr>
          <p:cNvPr id="3" name="Marcador de texto 2">
            <a:extLst>
              <a:ext uri="{FF2B5EF4-FFF2-40B4-BE49-F238E27FC236}">
                <a16:creationId xmlns:a16="http://schemas.microsoft.com/office/drawing/2014/main" id="{13959326-8982-0006-AFBB-8BA68FCAF061}"/>
              </a:ext>
            </a:extLst>
          </p:cNvPr>
          <p:cNvSpPr>
            <a:spLocks noGrp="1"/>
          </p:cNvSpPr>
          <p:nvPr>
            <p:ph type="body" idx="1"/>
          </p:nvPr>
        </p:nvSpPr>
        <p:spPr/>
        <p:txBody>
          <a:bodyPr/>
          <a:lstStyle/>
          <a:p>
            <a:pPr algn="l">
              <a:buNone/>
            </a:pPr>
            <a:r>
              <a:rPr lang="es-ES" sz="2000" b="1" dirty="0">
                <a:solidFill>
                  <a:srgbClr val="5A8F7B"/>
                </a:solidFill>
              </a:rPr>
              <a:t>Ventajas</a:t>
            </a:r>
          </a:p>
        </p:txBody>
      </p:sp>
      <p:sp>
        <p:nvSpPr>
          <p:cNvPr id="4" name="Marcador de contenido 3">
            <a:extLst>
              <a:ext uri="{FF2B5EF4-FFF2-40B4-BE49-F238E27FC236}">
                <a16:creationId xmlns:a16="http://schemas.microsoft.com/office/drawing/2014/main" id="{FE9146A5-2A45-1966-AD29-53FF63165004}"/>
              </a:ext>
            </a:extLst>
          </p:cNvPr>
          <p:cNvSpPr>
            <a:spLocks noGrp="1"/>
          </p:cNvSpPr>
          <p:nvPr>
            <p:ph sz="half" idx="2"/>
          </p:nvPr>
        </p:nvSpPr>
        <p:spPr/>
        <p:txBody>
          <a:bodyPr/>
          <a:lstStyle/>
          <a:p>
            <a:pPr marL="285750" indent="-285750">
              <a:spcAft>
                <a:spcPts val="500"/>
              </a:spcAft>
              <a:buFont typeface="Arial"/>
              <a:buChar char="▲"/>
            </a:pPr>
            <a:r>
              <a:rPr lang="es-ES" sz="1600" dirty="0"/>
              <a:t>Interpretable: se explica a un perfil no técnico y se audita regla por regla.</a:t>
            </a:r>
          </a:p>
          <a:p>
            <a:pPr marL="285750" indent="-285750">
              <a:spcAft>
                <a:spcPts val="500"/>
              </a:spcAft>
              <a:buFont typeface="Arial"/>
              <a:buChar char="▲"/>
            </a:pPr>
            <a:r>
              <a:rPr lang="es-ES" sz="1600" dirty="0"/>
              <a:t>No exige escalado, normalización ni supuestos de distribución.</a:t>
            </a:r>
          </a:p>
          <a:p>
            <a:pPr marL="285750" indent="-285750">
              <a:spcAft>
                <a:spcPts val="500"/>
              </a:spcAft>
              <a:buFont typeface="Arial"/>
              <a:buChar char="▲"/>
            </a:pPr>
            <a:r>
              <a:rPr lang="es-ES" sz="1600" dirty="0"/>
              <a:t>Captura no linealidades e interacciones sin especificarlas.</a:t>
            </a:r>
          </a:p>
          <a:p>
            <a:pPr marL="285750" indent="-285750">
              <a:spcAft>
                <a:spcPts val="500"/>
              </a:spcAft>
              <a:buFont typeface="Arial"/>
              <a:buChar char="▲"/>
            </a:pPr>
            <a:r>
              <a:rPr lang="es-ES" sz="1600" dirty="0"/>
              <a:t>Robusto a valores atípicos en las variables predictoras.</a:t>
            </a:r>
          </a:p>
          <a:p>
            <a:pPr marL="285750" indent="-285750">
              <a:spcAft>
                <a:spcPts val="500"/>
              </a:spcAft>
              <a:buFont typeface="Arial"/>
              <a:buChar char="▲"/>
            </a:pPr>
            <a:r>
              <a:rPr lang="es-ES" sz="1600" dirty="0"/>
              <a:t>Rápido de entrenar: excelente línea base y herramienta de exploración.</a:t>
            </a:r>
          </a:p>
          <a:p>
            <a:pPr marL="285750" indent="-285750">
              <a:spcAft>
                <a:spcPts val="500"/>
              </a:spcAft>
              <a:buFont typeface="Arial"/>
              <a:buChar char="▲"/>
            </a:pPr>
            <a:r>
              <a:rPr lang="es-ES" sz="1600" dirty="0"/>
              <a:t>Selecciona variables de forma implícita.</a:t>
            </a:r>
          </a:p>
        </p:txBody>
      </p:sp>
      <p:sp>
        <p:nvSpPr>
          <p:cNvPr id="5" name="Marcador de texto 4">
            <a:extLst>
              <a:ext uri="{FF2B5EF4-FFF2-40B4-BE49-F238E27FC236}">
                <a16:creationId xmlns:a16="http://schemas.microsoft.com/office/drawing/2014/main" id="{8E2DEE1D-444F-8AB6-469E-B58E930AD98C}"/>
              </a:ext>
            </a:extLst>
          </p:cNvPr>
          <p:cNvSpPr>
            <a:spLocks noGrp="1"/>
          </p:cNvSpPr>
          <p:nvPr>
            <p:ph type="body" sz="quarter" idx="3"/>
          </p:nvPr>
        </p:nvSpPr>
        <p:spPr/>
        <p:txBody>
          <a:bodyPr/>
          <a:lstStyle/>
          <a:p>
            <a:pPr algn="l">
              <a:buNone/>
            </a:pPr>
            <a:r>
              <a:rPr lang="es-ES" sz="2000" b="1" dirty="0">
                <a:solidFill>
                  <a:srgbClr val="B5651D"/>
                </a:solidFill>
              </a:rPr>
              <a:t>Limitaciones</a:t>
            </a:r>
          </a:p>
        </p:txBody>
      </p:sp>
      <p:sp>
        <p:nvSpPr>
          <p:cNvPr id="6" name="Marcador de contenido 5">
            <a:extLst>
              <a:ext uri="{FF2B5EF4-FFF2-40B4-BE49-F238E27FC236}">
                <a16:creationId xmlns:a16="http://schemas.microsoft.com/office/drawing/2014/main" id="{7012406C-A145-1649-C411-8FCBC3266FBC}"/>
              </a:ext>
            </a:extLst>
          </p:cNvPr>
          <p:cNvSpPr>
            <a:spLocks noGrp="1"/>
          </p:cNvSpPr>
          <p:nvPr>
            <p:ph sz="quarter" idx="4"/>
          </p:nvPr>
        </p:nvSpPr>
        <p:spPr/>
        <p:txBody>
          <a:bodyPr/>
          <a:lstStyle/>
          <a:p>
            <a:pPr marL="285750" indent="-285750">
              <a:spcAft>
                <a:spcPts val="500"/>
              </a:spcAft>
              <a:buFont typeface="Arial"/>
              <a:buChar char="▼"/>
            </a:pPr>
            <a:r>
              <a:rPr lang="es-ES" sz="1600" dirty="0"/>
              <a:t>Inestabilidad: cambiar unas pocas filas puede alterar todo el árbol.</a:t>
            </a:r>
          </a:p>
          <a:p>
            <a:pPr marL="285750" indent="-285750">
              <a:spcAft>
                <a:spcPts val="500"/>
              </a:spcAft>
              <a:buFont typeface="Arial"/>
              <a:buChar char="▼"/>
            </a:pPr>
            <a:r>
              <a:rPr lang="es-ES" sz="1600" dirty="0"/>
              <a:t>Varianza alta: sobreajusta con facilidad si no se regulariza.</a:t>
            </a:r>
          </a:p>
          <a:p>
            <a:pPr marL="285750" indent="-285750">
              <a:spcAft>
                <a:spcPts val="500"/>
              </a:spcAft>
              <a:buFont typeface="Arial"/>
              <a:buChar char="▼"/>
            </a:pPr>
            <a:r>
              <a:rPr lang="es-ES" sz="1600" dirty="0"/>
              <a:t>Fronteras ortogonales: le cuesta una separación diagonal simple.</a:t>
            </a:r>
          </a:p>
          <a:p>
            <a:pPr marL="285750" indent="-285750">
              <a:spcAft>
                <a:spcPts val="500"/>
              </a:spcAft>
              <a:buFont typeface="Arial"/>
              <a:buChar char="▼"/>
            </a:pPr>
            <a:r>
              <a:rPr lang="es-ES" sz="1600" dirty="0"/>
              <a:t>En regresión no extrapola y su predicción es escalonada.</a:t>
            </a:r>
          </a:p>
          <a:p>
            <a:pPr marL="285750" indent="-285750">
              <a:spcAft>
                <a:spcPts val="500"/>
              </a:spcAft>
              <a:buFont typeface="Arial"/>
              <a:buChar char="▼"/>
            </a:pPr>
            <a:r>
              <a:rPr lang="es-ES" sz="1600" dirty="0"/>
              <a:t>Sesgo hacia variables de alta cardinalidad.</a:t>
            </a:r>
          </a:p>
          <a:p>
            <a:pPr marL="285750" indent="-285750">
              <a:spcAft>
                <a:spcPts val="500"/>
              </a:spcAft>
              <a:buFont typeface="Arial"/>
              <a:buChar char="▼"/>
            </a:pPr>
            <a:r>
              <a:rPr lang="es-ES" sz="1600" dirty="0"/>
              <a:t>Un árbol único suele rendir por debajo de un ensamble.</a:t>
            </a:r>
          </a:p>
        </p:txBody>
      </p:sp>
    </p:spTree>
    <p:extLst>
      <p:ext uri="{BB962C8B-B14F-4D97-AF65-F5344CB8AC3E}">
        <p14:creationId xmlns:p14="http://schemas.microsoft.com/office/powerpoint/2010/main" val="3159914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3115A-2CF1-ECED-7524-9358F7D843B3}"/>
              </a:ext>
            </a:extLst>
          </p:cNvPr>
          <p:cNvSpPr>
            <a:spLocks noGrp="1"/>
          </p:cNvSpPr>
          <p:nvPr>
            <p:ph type="title"/>
          </p:nvPr>
        </p:nvSpPr>
        <p:spPr/>
        <p:txBody>
          <a:bodyPr/>
          <a:lstStyle/>
          <a:p>
            <a:pPr>
              <a:buNone/>
            </a:pPr>
            <a:r>
              <a:rPr lang="es-ES" sz="3200" b="1" dirty="0"/>
              <a:t>Del árbol al bosque: por qué existen los ensambles</a:t>
            </a:r>
          </a:p>
        </p:txBody>
      </p:sp>
      <p:sp>
        <p:nvSpPr>
          <p:cNvPr id="3" name="Marcador de contenido 2">
            <a:extLst>
              <a:ext uri="{FF2B5EF4-FFF2-40B4-BE49-F238E27FC236}">
                <a16:creationId xmlns:a16="http://schemas.microsoft.com/office/drawing/2014/main" id="{92D0A4E6-18CB-6400-92DF-E4FEF77751DA}"/>
              </a:ext>
            </a:extLst>
          </p:cNvPr>
          <p:cNvSpPr>
            <a:spLocks noGrp="1"/>
          </p:cNvSpPr>
          <p:nvPr>
            <p:ph sz="half" idx="1"/>
          </p:nvPr>
        </p:nvSpPr>
        <p:spPr>
          <a:xfrm>
            <a:off x="838200" y="1825625"/>
            <a:ext cx="5181600" cy="3683000"/>
          </a:xfrm>
        </p:spPr>
        <p:txBody>
          <a:bodyPr/>
          <a:lstStyle/>
          <a:p>
            <a:pPr marL="0" indent="0">
              <a:spcAft>
                <a:spcPts val="600"/>
              </a:spcAft>
              <a:buNone/>
            </a:pPr>
            <a:r>
              <a:rPr lang="es-ES" sz="2000" b="1" dirty="0">
                <a:solidFill>
                  <a:schemeClr val="accent1"/>
                </a:solidFill>
              </a:rPr>
              <a:t>Random Forest (bagging)</a:t>
            </a:r>
          </a:p>
          <a:p>
            <a:pPr marL="285750" indent="-285750">
              <a:spcAft>
                <a:spcPts val="500"/>
              </a:spcAft>
              <a:buFont typeface="Arial"/>
              <a:buChar char="•"/>
            </a:pPr>
            <a:r>
              <a:rPr lang="es-ES" sz="1600" b="1" dirty="0"/>
              <a:t>Idea: </a:t>
            </a:r>
            <a:r>
              <a:rPr lang="es-ES" sz="1600" dirty="0"/>
              <a:t>muchos árboles profundos, cada uno sobre una muestra bootstrap y con un subconjunto aleatorio de variables por corte.</a:t>
            </a:r>
          </a:p>
          <a:p>
            <a:pPr marL="285750" indent="-285750">
              <a:spcAft>
                <a:spcPts val="500"/>
              </a:spcAft>
              <a:buFont typeface="Arial"/>
              <a:buChar char="•"/>
            </a:pPr>
            <a:r>
              <a:rPr lang="es-ES" sz="1600" b="1" dirty="0"/>
              <a:t>Efecto: </a:t>
            </a:r>
            <a:r>
              <a:rPr lang="es-ES" sz="1600" dirty="0"/>
              <a:t>promediar árboles descorrelacionados reduce la varianza sin aumentar el sesgo.</a:t>
            </a:r>
          </a:p>
          <a:p>
            <a:pPr marL="285750" indent="-285750">
              <a:spcAft>
                <a:spcPts val="500"/>
              </a:spcAft>
              <a:buFont typeface="Arial"/>
              <a:buChar char="•"/>
            </a:pPr>
            <a:r>
              <a:rPr lang="es-ES" sz="1600" b="1" dirty="0"/>
              <a:t>Claves: </a:t>
            </a:r>
            <a:r>
              <a:rPr lang="es-ES" sz="1600" dirty="0"/>
              <a:t>n_estimators, max_features, min_samples_leaf.</a:t>
            </a:r>
          </a:p>
          <a:p>
            <a:pPr marL="285750" indent="-285750">
              <a:spcAft>
                <a:spcPts val="500"/>
              </a:spcAft>
              <a:buFont typeface="Arial"/>
              <a:buChar char="•"/>
            </a:pPr>
            <a:r>
              <a:rPr lang="es-ES" sz="1600" dirty="0"/>
              <a:t>Muy robusto y con poco ajuste, pero se pierde la lectura de reglas.</a:t>
            </a:r>
          </a:p>
        </p:txBody>
      </p:sp>
      <p:sp>
        <p:nvSpPr>
          <p:cNvPr id="4" name="Marcador de contenido 3">
            <a:extLst>
              <a:ext uri="{FF2B5EF4-FFF2-40B4-BE49-F238E27FC236}">
                <a16:creationId xmlns:a16="http://schemas.microsoft.com/office/drawing/2014/main" id="{258EFDAE-D5E6-9283-5322-7D1CA22CD3D6}"/>
              </a:ext>
            </a:extLst>
          </p:cNvPr>
          <p:cNvSpPr>
            <a:spLocks noGrp="1"/>
          </p:cNvSpPr>
          <p:nvPr>
            <p:ph sz="half" idx="2"/>
          </p:nvPr>
        </p:nvSpPr>
        <p:spPr>
          <a:xfrm>
            <a:off x="6172200" y="1825625"/>
            <a:ext cx="5181600" cy="3683000"/>
          </a:xfrm>
        </p:spPr>
        <p:txBody>
          <a:bodyPr/>
          <a:lstStyle/>
          <a:p>
            <a:pPr marL="0" indent="0">
              <a:spcAft>
                <a:spcPts val="600"/>
              </a:spcAft>
              <a:buNone/>
            </a:pPr>
            <a:r>
              <a:rPr lang="es-ES" sz="2000" b="1" dirty="0">
                <a:solidFill>
                  <a:schemeClr val="accent1"/>
                </a:solidFill>
              </a:rPr>
              <a:t>Boosting (secuencial)</a:t>
            </a:r>
          </a:p>
          <a:p>
            <a:pPr marL="285750" indent="-285750">
              <a:spcAft>
                <a:spcPts val="500"/>
              </a:spcAft>
              <a:buFont typeface="Arial"/>
              <a:buChar char="•"/>
            </a:pPr>
            <a:r>
              <a:rPr lang="es-ES" sz="1600" b="1" dirty="0"/>
              <a:t>Idea: </a:t>
            </a:r>
            <a:r>
              <a:rPr lang="es-ES" sz="1600" dirty="0"/>
              <a:t>árboles pequeños encadenados; cada uno corrige los errores del anterior.</a:t>
            </a:r>
          </a:p>
          <a:p>
            <a:pPr marL="285750" indent="-285750">
              <a:spcAft>
                <a:spcPts val="500"/>
              </a:spcAft>
              <a:buFont typeface="Arial"/>
              <a:buChar char="•"/>
            </a:pPr>
            <a:r>
              <a:rPr lang="es-ES" sz="1600" b="1" dirty="0"/>
              <a:t>Efecto: </a:t>
            </a:r>
            <a:r>
              <a:rPr lang="es-ES" sz="1600" dirty="0"/>
              <a:t>reduce el sesgo y suele dar el mejor desempeño en datos tabulares.</a:t>
            </a:r>
          </a:p>
          <a:p>
            <a:pPr marL="285750" indent="-285750">
              <a:spcAft>
                <a:spcPts val="500"/>
              </a:spcAft>
              <a:buFont typeface="Arial"/>
              <a:buChar char="•"/>
            </a:pPr>
            <a:r>
              <a:rPr lang="es-ES" sz="1600" b="1" dirty="0"/>
              <a:t>Claves: </a:t>
            </a:r>
            <a:r>
              <a:rPr lang="es-ES" sz="1600" dirty="0"/>
              <a:t>learning_rate, n_estimators, max_depth (2–6), early stopping.</a:t>
            </a:r>
          </a:p>
          <a:p>
            <a:pPr marL="285750" indent="-285750">
              <a:spcAft>
                <a:spcPts val="500"/>
              </a:spcAft>
              <a:buFont typeface="Arial"/>
              <a:buChar char="•"/>
            </a:pPr>
            <a:r>
              <a:rPr lang="es-ES" sz="1600" dirty="0"/>
              <a:t>Implementaciones: GradientBoosting, XGBoost, LightGBM, CatBoost.</a:t>
            </a:r>
          </a:p>
        </p:txBody>
      </p:sp>
      <p:sp>
        <p:nvSpPr>
          <p:cNvPr id="110" name="Cierre"/>
          <p:cNvSpPr txBox="1"/>
          <p:nvPr/>
        </p:nvSpPr>
        <p:spPr>
          <a:xfrm>
            <a:off x="838200" y="5689600"/>
            <a:ext cx="10515600" cy="711200"/>
          </a:xfrm>
          <a:prstGeom prst="roundRect">
            <a:avLst/>
          </a:prstGeom>
          <a:solidFill>
            <a:srgbClr val="5A8F7B"/>
          </a:solidFill>
        </p:spPr>
        <p:txBody>
          <a:bodyPr wrap="square" lIns="137160" tIns="45720" rIns="137160" bIns="45720" anchor="ctr">
            <a:noAutofit/>
          </a:bodyPr>
          <a:lstStyle/>
          <a:p>
            <a:pPr algn="ctr">
              <a:buNone/>
            </a:pPr>
            <a:r>
              <a:rPr lang="es-ES" sz="1600" b="1" dirty="0">
                <a:solidFill>
                  <a:srgbClr val="FFFFFF"/>
                </a:solidFill>
              </a:rPr>
              <a:t>Ambos se construyen con árboles: todo lo aprendido aquí sigue aplicando. Empieza siempre por un árbol podado como línea base.</a:t>
            </a:r>
          </a:p>
        </p:txBody>
      </p:sp>
    </p:spTree>
    <p:extLst>
      <p:ext uri="{BB962C8B-B14F-4D97-AF65-F5344CB8AC3E}">
        <p14:creationId xmlns:p14="http://schemas.microsoft.com/office/powerpoint/2010/main" val="4223874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1AC434-EB1A-C2B7-D1D4-6D5A41B1E502}"/>
              </a:ext>
            </a:extLst>
          </p:cNvPr>
          <p:cNvSpPr>
            <a:spLocks noGrp="1"/>
          </p:cNvSpPr>
          <p:nvPr>
            <p:ph type="title"/>
          </p:nvPr>
        </p:nvSpPr>
        <p:spPr>
          <a:xfrm>
            <a:off x="838200" y="365125"/>
            <a:ext cx="10515600" cy="787400"/>
          </a:xfrm>
        </p:spPr>
        <p:txBody>
          <a:bodyPr/>
          <a:lstStyle/>
          <a:p>
            <a:pPr>
              <a:buNone/>
            </a:pPr>
            <a:r>
              <a:rPr lang="es-ES" sz="3200" b="1" dirty="0"/>
              <a:t>Glosario y hoja de fórmulas</a:t>
            </a:r>
          </a:p>
        </p:txBody>
      </p:sp>
      <p:sp>
        <p:nvSpPr>
          <p:cNvPr id="121" name="P121"/>
          <p:cNvSpPr txBox="1"/>
          <p:nvPr/>
        </p:nvSpPr>
        <p:spPr>
          <a:xfrm>
            <a:off x="838200" y="1422400"/>
            <a:ext cx="5740400" cy="4978400"/>
          </a:xfrm>
          <a:prstGeom prst="rect">
            <a:avLst/>
          </a:prstGeom>
          <a:noFill/>
        </p:spPr>
        <p:txBody>
          <a:bodyPr wrap="square" lIns="0" tIns="0" rIns="0" bIns="0">
            <a:noAutofit/>
          </a:bodyPr>
          <a:lstStyle/>
          <a:p>
            <a:pPr marL="0" indent="0">
              <a:spcAft>
                <a:spcPts val="400"/>
              </a:spcAft>
              <a:buNone/>
            </a:pPr>
            <a:r>
              <a:rPr lang="es-ES" sz="1800" b="1" dirty="0">
                <a:solidFill>
                  <a:srgbClr val="1E2A32"/>
                </a:solidFill>
              </a:rPr>
              <a:t>Glosario</a:t>
            </a:r>
          </a:p>
          <a:p>
            <a:pPr marL="0" indent="0">
              <a:spcAft>
                <a:spcPts val="300"/>
              </a:spcAft>
              <a:buNone/>
            </a:pPr>
            <a:r>
              <a:rPr lang="es-ES" sz="1400" b="1" dirty="0">
                <a:solidFill>
                  <a:srgbClr val="2C5F7C"/>
                </a:solidFill>
              </a:rPr>
              <a:t>Impureza: </a:t>
            </a:r>
            <a:r>
              <a:rPr lang="es-ES" sz="1400" dirty="0"/>
              <a:t>cuánto se mezclan las clases dentro de un nodo.</a:t>
            </a:r>
          </a:p>
          <a:p>
            <a:pPr marL="0" indent="0">
              <a:spcAft>
                <a:spcPts val="300"/>
              </a:spcAft>
              <a:buNone/>
            </a:pPr>
            <a:r>
              <a:rPr lang="es-ES" sz="1400" b="1" dirty="0">
                <a:solidFill>
                  <a:srgbClr val="2C5F7C"/>
                </a:solidFill>
              </a:rPr>
              <a:t>Gini: </a:t>
            </a:r>
            <a:r>
              <a:rPr lang="es-ES" sz="1400" dirty="0"/>
              <a:t>impureza basada en probabilidades al cuadrado; rápida.</a:t>
            </a:r>
          </a:p>
          <a:p>
            <a:pPr marL="0" indent="0">
              <a:spcAft>
                <a:spcPts val="300"/>
              </a:spcAft>
              <a:buNone/>
            </a:pPr>
            <a:r>
              <a:rPr lang="es-ES" sz="1400" b="1" dirty="0">
                <a:solidFill>
                  <a:srgbClr val="2C5F7C"/>
                </a:solidFill>
              </a:rPr>
              <a:t>Entropía: </a:t>
            </a:r>
            <a:r>
              <a:rPr lang="es-ES" sz="1400" dirty="0"/>
              <a:t>impureza en bits, de la teoría de la información.</a:t>
            </a:r>
          </a:p>
          <a:p>
            <a:pPr marL="0" indent="0">
              <a:spcAft>
                <a:spcPts val="300"/>
              </a:spcAft>
              <a:buNone/>
            </a:pPr>
            <a:r>
              <a:rPr lang="es-ES" sz="1400" b="1" dirty="0">
                <a:solidFill>
                  <a:srgbClr val="2C5F7C"/>
                </a:solidFill>
              </a:rPr>
              <a:t>Ganancia de información: </a:t>
            </a:r>
            <a:r>
              <a:rPr lang="es-ES" sz="1400" dirty="0"/>
              <a:t>reducción de impureza que produce un corte.</a:t>
            </a:r>
          </a:p>
          <a:p>
            <a:pPr marL="0" indent="0">
              <a:spcAft>
                <a:spcPts val="300"/>
              </a:spcAft>
              <a:buNone/>
            </a:pPr>
            <a:r>
              <a:rPr lang="es-ES" sz="1400" b="1" dirty="0">
                <a:solidFill>
                  <a:srgbClr val="2C5F7C"/>
                </a:solidFill>
              </a:rPr>
              <a:t>Gain ratio: </a:t>
            </a:r>
            <a:r>
              <a:rPr lang="es-ES" sz="1400" dirty="0"/>
              <a:t>ganancia normalizada; corrige el sesgo por cardinalidad (C4.5).</a:t>
            </a:r>
          </a:p>
          <a:p>
            <a:pPr marL="0" indent="0">
              <a:spcAft>
                <a:spcPts val="300"/>
              </a:spcAft>
              <a:buNone/>
            </a:pPr>
            <a:r>
              <a:rPr lang="es-ES" sz="1400" b="1" dirty="0">
                <a:solidFill>
                  <a:srgbClr val="2C5F7C"/>
                </a:solidFill>
              </a:rPr>
              <a:t>CART: </a:t>
            </a:r>
            <a:r>
              <a:rPr lang="es-ES" sz="1400" dirty="0"/>
              <a:t>algoritmo de árboles binarios para clasificación y regresión.</a:t>
            </a:r>
          </a:p>
          <a:p>
            <a:pPr marL="0" indent="0">
              <a:spcAft>
                <a:spcPts val="300"/>
              </a:spcAft>
              <a:buNone/>
            </a:pPr>
            <a:r>
              <a:rPr lang="es-ES" sz="1400" b="1" dirty="0">
                <a:solidFill>
                  <a:srgbClr val="2C5F7C"/>
                </a:solidFill>
              </a:rPr>
              <a:t>Prepoda: </a:t>
            </a:r>
            <a:r>
              <a:rPr lang="es-ES" sz="1400" dirty="0"/>
              <a:t>limitar el crecimiento durante el entrenamiento (max_depth).</a:t>
            </a:r>
          </a:p>
          <a:p>
            <a:pPr marL="0" indent="0">
              <a:spcAft>
                <a:spcPts val="300"/>
              </a:spcAft>
              <a:buNone/>
            </a:pPr>
            <a:r>
              <a:rPr lang="es-ES" sz="1400" b="1" dirty="0">
                <a:solidFill>
                  <a:srgbClr val="2C5F7C"/>
                </a:solidFill>
              </a:rPr>
              <a:t>Pospoda: </a:t>
            </a:r>
            <a:r>
              <a:rPr lang="es-ES" sz="1400" dirty="0"/>
              <a:t>crecer el árbol y recortarlo después (ccp_alpha).</a:t>
            </a:r>
          </a:p>
          <a:p>
            <a:pPr marL="0" indent="0">
              <a:spcAft>
                <a:spcPts val="300"/>
              </a:spcAft>
              <a:buNone/>
            </a:pPr>
            <a:r>
              <a:rPr lang="es-ES" sz="1400" b="1" dirty="0">
                <a:solidFill>
                  <a:srgbClr val="2C5F7C"/>
                </a:solidFill>
              </a:rPr>
              <a:t>Hoja: </a:t>
            </a:r>
            <a:r>
              <a:rPr lang="es-ES" sz="1400" dirty="0"/>
              <a:t>nodo terminal; entrega la predicción.</a:t>
            </a:r>
          </a:p>
          <a:p>
            <a:pPr marL="0" indent="0">
              <a:spcAft>
                <a:spcPts val="300"/>
              </a:spcAft>
              <a:buNone/>
            </a:pPr>
            <a:r>
              <a:rPr lang="es-ES" sz="1400" b="1" dirty="0">
                <a:solidFill>
                  <a:srgbClr val="2C5F7C"/>
                </a:solidFill>
              </a:rPr>
              <a:t>Profundidad: </a:t>
            </a:r>
            <a:r>
              <a:rPr lang="es-ES" sz="1400" dirty="0"/>
              <a:t>número de cortes encadenados desde la raíz.</a:t>
            </a:r>
          </a:p>
          <a:p>
            <a:pPr marL="0" indent="0">
              <a:spcAft>
                <a:spcPts val="300"/>
              </a:spcAft>
              <a:buNone/>
            </a:pPr>
            <a:r>
              <a:rPr lang="es-ES" sz="1400" b="1" dirty="0">
                <a:solidFill>
                  <a:srgbClr val="2C5F7C"/>
                </a:solidFill>
              </a:rPr>
              <a:t>Sesgo / varianza: </a:t>
            </a:r>
            <a:r>
              <a:rPr lang="es-ES" sz="1400" dirty="0"/>
              <a:t>error por simplificar frente a error por memorizar.</a:t>
            </a:r>
          </a:p>
          <a:p>
            <a:pPr marL="0" indent="0">
              <a:spcAft>
                <a:spcPts val="300"/>
              </a:spcAft>
              <a:buNone/>
            </a:pPr>
            <a:r>
              <a:rPr lang="es-ES" sz="1400" b="1" dirty="0">
                <a:solidFill>
                  <a:srgbClr val="2C5F7C"/>
                </a:solidFill>
              </a:rPr>
              <a:t>Bagging / boosting: </a:t>
            </a:r>
            <a:r>
              <a:rPr lang="es-ES" sz="1400" dirty="0"/>
              <a:t>promediar árboles frente a encadenarlos.</a:t>
            </a:r>
          </a:p>
        </p:txBody>
      </p:sp>
      <p:sp>
        <p:nvSpPr>
          <p:cNvPr id="122" name="P122"/>
          <p:cNvSpPr txBox="1"/>
          <p:nvPr/>
        </p:nvSpPr>
        <p:spPr>
          <a:xfrm>
            <a:off x="6832600" y="1422400"/>
            <a:ext cx="4521200" cy="4978400"/>
          </a:xfrm>
          <a:prstGeom prst="roundRect">
            <a:avLst/>
          </a:prstGeom>
          <a:solidFill>
            <a:srgbClr val="F1EDE4"/>
          </a:solidFill>
          <a:ln w="6350">
            <a:solidFill>
              <a:srgbClr val="D8D2C6"/>
            </a:solidFill>
          </a:ln>
        </p:spPr>
        <p:txBody>
          <a:bodyPr wrap="square" lIns="114300" tIns="68580" rIns="91440" bIns="68580">
            <a:noAutofit/>
          </a:bodyPr>
          <a:lstStyle/>
          <a:p>
            <a:pPr marL="0" indent="0">
              <a:spcAft>
                <a:spcPts val="400"/>
              </a:spcAft>
              <a:buNone/>
            </a:pPr>
            <a:r>
              <a:rPr lang="es-ES" sz="1800" b="1" dirty="0">
                <a:solidFill>
                  <a:srgbClr val="2C5F7C"/>
                </a:solidFill>
              </a:rPr>
              <a:t>Hoja de fórmulas</a:t>
            </a:r>
          </a:p>
          <a:p>
            <a:pPr marL="0" indent="0">
              <a:spcAft>
                <a:spcPts val="350"/>
              </a:spcAft>
              <a:buNone/>
            </a:pPr>
            <a:r>
              <a:rPr lang="es-ES" sz="1500" b="1" dirty="0">
                <a:latin typeface="Consolas"/>
              </a:rPr>
              <a:t>Gini(t) = 1 − Σₖ pₖ²</a:t>
            </a:r>
          </a:p>
          <a:p>
            <a:pPr marL="0" indent="0">
              <a:spcAft>
                <a:spcPts val="350"/>
              </a:spcAft>
              <a:buNone/>
            </a:pPr>
            <a:r>
              <a:rPr lang="es-ES" sz="1500" b="1" dirty="0">
                <a:latin typeface="Consolas"/>
              </a:rPr>
              <a:t>H(t) = − Σₖ pₖ · log₂ pₖ</a:t>
            </a:r>
          </a:p>
          <a:p>
            <a:pPr marL="0" indent="0">
              <a:spcAft>
                <a:spcPts val="350"/>
              </a:spcAft>
              <a:buNone/>
            </a:pPr>
            <a:r>
              <a:rPr lang="es-ES" sz="1500" b="1" dirty="0">
                <a:latin typeface="Consolas"/>
              </a:rPr>
              <a:t>MSE(t) = (1/nₜ) Σ (yᵢ − ȳₜ)²</a:t>
            </a:r>
          </a:p>
          <a:p>
            <a:pPr marL="0" indent="0">
              <a:spcAft>
                <a:spcPts val="350"/>
              </a:spcAft>
              <a:buNone/>
            </a:pPr>
            <a:r>
              <a:rPr lang="es-ES" sz="1500" b="1" dirty="0">
                <a:latin typeface="Consolas"/>
              </a:rPr>
              <a:t>I(corte) = Σⱼ (nⱼ/n) · I(j)</a:t>
            </a:r>
          </a:p>
          <a:p>
            <a:pPr marL="0" indent="0">
              <a:spcAft>
                <a:spcPts val="350"/>
              </a:spcAft>
              <a:buNone/>
            </a:pPr>
            <a:r>
              <a:rPr lang="es-ES" sz="1500" b="1" dirty="0">
                <a:latin typeface="Consolas"/>
              </a:rPr>
              <a:t>Ganancia = I(padre) − I(corte)</a:t>
            </a:r>
          </a:p>
          <a:p>
            <a:pPr marL="0" indent="0">
              <a:spcAft>
                <a:spcPts val="350"/>
              </a:spcAft>
              <a:buNone/>
            </a:pPr>
            <a:r>
              <a:rPr lang="es-ES" sz="1500" b="1" dirty="0">
                <a:latin typeface="Consolas"/>
              </a:rPr>
              <a:t>GainRatio = Ganancia / H(corte)</a:t>
            </a:r>
          </a:p>
          <a:p>
            <a:pPr marL="0" indent="0">
              <a:spcAft>
                <a:spcPts val="350"/>
              </a:spcAft>
              <a:buNone/>
            </a:pPr>
            <a:r>
              <a:rPr lang="es-ES" sz="1500" b="1" dirty="0">
                <a:latin typeface="Consolas"/>
              </a:rPr>
              <a:t>Rₐ(T) = R(T) + α · |hojas(T)|</a:t>
            </a:r>
          </a:p>
          <a:p>
            <a:pPr marL="0" indent="0">
              <a:spcAft>
                <a:spcPts val="300"/>
              </a:spcAft>
              <a:buNone/>
            </a:pPr>
            <a:r>
              <a:rPr lang="es-ES" sz="1400" i="1" dirty="0">
                <a:solidFill>
                  <a:srgbClr val="3A4A56"/>
                </a:solidFill>
              </a:rPr>
              <a:t>Clasificación: la hoja predice la clase mayoritaria; la probabilidad es la proporción de la clase en la hoja.</a:t>
            </a:r>
          </a:p>
          <a:p>
            <a:pPr marL="0" indent="0">
              <a:spcAft>
                <a:spcPts val="300"/>
              </a:spcAft>
              <a:buNone/>
            </a:pPr>
            <a:r>
              <a:rPr lang="es-ES" sz="1400" i="1" dirty="0">
                <a:solidFill>
                  <a:srgbClr val="3A4A56"/>
                </a:solidFill>
              </a:rPr>
              <a:t>Regresión: la hoja predice la media de y.</a:t>
            </a:r>
          </a:p>
          <a:p>
            <a:pPr marL="0" indent="0">
              <a:spcAft>
                <a:spcPts val="300"/>
              </a:spcAft>
              <a:buNone/>
            </a:pPr>
            <a:r>
              <a:rPr lang="es-ES" sz="1400" i="1" dirty="0">
                <a:solidFill>
                  <a:srgbClr val="3A4A56"/>
                </a:solidFill>
              </a:rPr>
              <a:t>Impureza 0 = nodo puro. Máximo con clases balanceadas: Gini 0,5 y H = 1 bit (dos clases).</a:t>
            </a:r>
          </a:p>
        </p:txBody>
      </p:sp>
    </p:spTree>
    <p:extLst>
      <p:ext uri="{BB962C8B-B14F-4D97-AF65-F5344CB8AC3E}">
        <p14:creationId xmlns:p14="http://schemas.microsoft.com/office/powerpoint/2010/main" val="1334142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BB8CF1-495F-9D4C-9064-FBD69BE666A7}"/>
              </a:ext>
            </a:extLst>
          </p:cNvPr>
          <p:cNvSpPr>
            <a:spLocks noGrp="1"/>
          </p:cNvSpPr>
          <p:nvPr>
            <p:ph type="title"/>
          </p:nvPr>
        </p:nvSpPr>
        <p:spPr/>
        <p:txBody>
          <a:bodyPr/>
          <a:lstStyle/>
          <a:p>
            <a:pPr>
              <a:buNone/>
            </a:pPr>
            <a:r>
              <a:rPr lang="es-ES" sz="3200" b="1" dirty="0"/>
              <a:t>Autoevaluación: seis preguntas</a:t>
            </a:r>
          </a:p>
        </p:txBody>
      </p:sp>
      <p:sp>
        <p:nvSpPr>
          <p:cNvPr id="3" name="Marcador de contenido 2">
            <a:extLst>
              <a:ext uri="{FF2B5EF4-FFF2-40B4-BE49-F238E27FC236}">
                <a16:creationId xmlns:a16="http://schemas.microsoft.com/office/drawing/2014/main" id="{FB511597-019B-A6C8-DC84-E8C643182527}"/>
              </a:ext>
            </a:extLst>
          </p:cNvPr>
          <p:cNvSpPr>
            <a:spLocks noGrp="1"/>
          </p:cNvSpPr>
          <p:nvPr>
            <p:ph idx="1"/>
          </p:nvPr>
        </p:nvSpPr>
        <p:spPr/>
        <p:txBody>
          <a:bodyPr/>
          <a:lstStyle/>
          <a:p>
            <a:pPr marL="457200" indent="-457200">
              <a:spcAft>
                <a:spcPts val="1400"/>
              </a:spcAft>
              <a:buFont typeface="+mj-lt"/>
              <a:buAutoNum type="arabicPeriod"/>
            </a:pPr>
            <a:r>
              <a:rPr lang="es-ES" sz="2000" dirty="0"/>
              <a:t>¿Por qué un árbol sin restricciones tiene varianza alta?</a:t>
            </a:r>
          </a:p>
          <a:p>
            <a:pPr marL="457200" indent="-457200">
              <a:spcAft>
                <a:spcPts val="1400"/>
              </a:spcAft>
              <a:buFont typeface="+mj-lt"/>
              <a:buAutoNum type="arabicPeriod"/>
            </a:pPr>
            <a:r>
              <a:rPr lang="es-ES" sz="2000" dirty="0"/>
              <a:t>Un nodo tiene 20 observaciones: 15 de clase A y 5 de clase B. Calcula Gini y entropía.</a:t>
            </a:r>
          </a:p>
          <a:p>
            <a:pPr marL="457200" indent="-457200">
              <a:spcAft>
                <a:spcPts val="1400"/>
              </a:spcAft>
              <a:buFont typeface="+mj-lt"/>
              <a:buAutoNum type="arabicPeriod"/>
            </a:pPr>
            <a:r>
              <a:rPr lang="es-ES" sz="2000" dirty="0"/>
              <a:t>¿Qué diferencia hay entre prepoda y pospoda?</a:t>
            </a:r>
          </a:p>
          <a:p>
            <a:pPr marL="457200" indent="-457200">
              <a:spcAft>
                <a:spcPts val="1400"/>
              </a:spcAft>
              <a:buFont typeface="+mj-lt"/>
              <a:buAutoNum type="arabicPeriod"/>
            </a:pPr>
            <a:r>
              <a:rPr lang="es-ES" sz="2000" dirty="0"/>
              <a:t>¿Qué riesgo tiene aplicar LabelEncoder a una variable nominal?</a:t>
            </a:r>
          </a:p>
          <a:p>
            <a:pPr marL="457200" indent="-457200">
              <a:spcAft>
                <a:spcPts val="1400"/>
              </a:spcAft>
              <a:buFont typeface="+mj-lt"/>
              <a:buAutoNum type="arabicPeriod"/>
            </a:pPr>
            <a:r>
              <a:rPr lang="es-ES" sz="2000" dirty="0"/>
              <a:t>Tu árbol logra 0,99 de exactitud en entrenamiento y 0,71 en prueba. ¿Qué haces y en qué orden?</a:t>
            </a:r>
          </a:p>
          <a:p>
            <a:pPr marL="457200" indent="-457200">
              <a:spcAft>
                <a:spcPts val="1400"/>
              </a:spcAft>
              <a:buFont typeface="+mj-lt"/>
              <a:buAutoNum type="arabicPeriod"/>
            </a:pPr>
            <a:r>
              <a:rPr lang="es-ES" sz="2000" dirty="0"/>
              <a:t>¿Por qué un Random Forest suele superar a un árbol único?</a:t>
            </a:r>
          </a:p>
        </p:txBody>
      </p:sp>
    </p:spTree>
    <p:extLst>
      <p:ext uri="{BB962C8B-B14F-4D97-AF65-F5344CB8AC3E}">
        <p14:creationId xmlns:p14="http://schemas.microsoft.com/office/powerpoint/2010/main" val="38528623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F13FC3-9BC3-05DC-D3B7-1A5CAE4C0884}"/>
              </a:ext>
            </a:extLst>
          </p:cNvPr>
          <p:cNvSpPr>
            <a:spLocks noGrp="1"/>
          </p:cNvSpPr>
          <p:nvPr>
            <p:ph type="title"/>
          </p:nvPr>
        </p:nvSpPr>
        <p:spPr/>
        <p:txBody>
          <a:bodyPr/>
          <a:lstStyle/>
          <a:p>
            <a:pPr>
              <a:buNone/>
            </a:pPr>
            <a:r>
              <a:rPr lang="es-ES" sz="3200" b="1" dirty="0"/>
              <a:t>Respuestas</a:t>
            </a:r>
          </a:p>
        </p:txBody>
      </p:sp>
      <p:sp>
        <p:nvSpPr>
          <p:cNvPr id="3" name="Marcador de contenido 2">
            <a:extLst>
              <a:ext uri="{FF2B5EF4-FFF2-40B4-BE49-F238E27FC236}">
                <a16:creationId xmlns:a16="http://schemas.microsoft.com/office/drawing/2014/main" id="{B052C640-CABD-2F0B-F151-CCEFA29F5E3F}"/>
              </a:ext>
            </a:extLst>
          </p:cNvPr>
          <p:cNvSpPr>
            <a:spLocks noGrp="1"/>
          </p:cNvSpPr>
          <p:nvPr>
            <p:ph idx="1"/>
          </p:nvPr>
        </p:nvSpPr>
        <p:spPr/>
        <p:txBody>
          <a:bodyPr/>
          <a:lstStyle/>
          <a:p>
            <a:pPr marL="400050" indent="-400050">
              <a:spcAft>
                <a:spcPts val="600"/>
              </a:spcAft>
              <a:buFont typeface="+mj-lt"/>
              <a:buAutoNum type="arabicPeriod"/>
            </a:pPr>
            <a:r>
              <a:rPr lang="es-ES" sz="1600" dirty="0"/>
              <a:t>Crece hasta hojas puras, así que ajusta también el ruido de la muestra: cambiar unas pocas filas altera los cortes y el árbol resultante.</a:t>
            </a:r>
          </a:p>
          <a:p>
            <a:pPr marL="400050" indent="-400050">
              <a:spcAft>
                <a:spcPts val="600"/>
              </a:spcAft>
              <a:buFont typeface="+mj-lt"/>
              <a:buAutoNum type="arabicPeriod"/>
            </a:pPr>
            <a:r>
              <a:rPr lang="es-ES" sz="1600" dirty="0"/>
              <a:t>p = 0,75. Gini = 1 − (0,75² + 0,25²) = 0,375. H = −0,75·log₂0,75 − 0,25·log₂0,25 = 0,811 bits.</a:t>
            </a:r>
          </a:p>
          <a:p>
            <a:pPr marL="400050" indent="-400050">
              <a:spcAft>
                <a:spcPts val="600"/>
              </a:spcAft>
              <a:buFont typeface="+mj-lt"/>
              <a:buAutoNum type="arabicPeriod"/>
            </a:pPr>
            <a:r>
              <a:rPr lang="es-ES" sz="1600" dirty="0"/>
              <a:t>La prepoda limita el crecimiento mientras se entrena (max_depth, min_samples_leaf); la pospoda deja crecer el árbol y luego recorta con ccp_alpha validado.</a:t>
            </a:r>
          </a:p>
          <a:p>
            <a:pPr marL="400050" indent="-400050">
              <a:spcAft>
                <a:spcPts val="600"/>
              </a:spcAft>
              <a:buFont typeface="+mj-lt"/>
              <a:buAutoNum type="arabicPeriod"/>
            </a:pPr>
            <a:r>
              <a:rPr lang="es-ES" sz="1600" dirty="0"/>
              <a:t>Inventa un orden inexistente: el árbol hará cortes del tipo «≤ 2» sobre categorías sin jerarquía. Se usa one-hot o una codificación validada.</a:t>
            </a:r>
          </a:p>
          <a:p>
            <a:pPr marL="400050" indent="-400050">
              <a:spcAft>
                <a:spcPts val="600"/>
              </a:spcAft>
              <a:buFont typeface="+mj-lt"/>
              <a:buAutoNum type="arabicPeriod"/>
            </a:pPr>
            <a:r>
              <a:rPr lang="es-ES" sz="1600" dirty="0"/>
              <a:t>Primero regularizar (max_depth, min_samples_leaf) y trazar la curva de validación con validación cruzada; después podar con ccp_alpha; solo si sigue siendo insuficiente, pasar a un ensamble.</a:t>
            </a:r>
          </a:p>
          <a:p>
            <a:pPr marL="400050" indent="-400050">
              <a:spcAft>
                <a:spcPts val="600"/>
              </a:spcAft>
              <a:buFont typeface="+mj-lt"/>
              <a:buAutoNum type="arabicPeriod"/>
            </a:pPr>
            <a:r>
              <a:rPr lang="es-ES" sz="1600" dirty="0"/>
              <a:t>Promedia muchos árboles descorrelacionados por bootstrap y submuestreo de variables: reduce la varianza sin aumentar el sesgo.</a:t>
            </a:r>
          </a:p>
        </p:txBody>
      </p:sp>
    </p:spTree>
    <p:extLst>
      <p:ext uri="{BB962C8B-B14F-4D97-AF65-F5344CB8AC3E}">
        <p14:creationId xmlns:p14="http://schemas.microsoft.com/office/powerpoint/2010/main" val="5009077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1788918835946]">
  <a:themeElements>
    <a:clrScheme name="Office">
      <a:dk1>
        <a:srgbClr val="1E2A32"/>
      </a:dk1>
      <a:lt1>
        <a:srgbClr val="FAF8F4"/>
      </a:lt1>
      <a:dk2>
        <a:srgbClr val="2C5F7C"/>
      </a:dk2>
      <a:lt2>
        <a:srgbClr val="E7E2D8"/>
      </a:lt2>
      <a:accent1>
        <a:srgbClr val="2C5F7C"/>
      </a:accent1>
      <a:accent2>
        <a:srgbClr val="5A8F7B"/>
      </a:accent2>
      <a:accent3>
        <a:srgbClr val="B5651D"/>
      </a:accent3>
      <a:accent4>
        <a:srgbClr val="8C6A9E"/>
      </a:accent4>
      <a:accent5>
        <a:srgbClr val="C9A227"/>
      </a:accent5>
      <a:accent6>
        <a:srgbClr val="6B7C8C"/>
      </a:accent6>
      <a:hlink>
        <a:srgbClr val="0563C1"/>
      </a:hlink>
      <a:folHlink>
        <a:srgbClr val="954F72"/>
      </a:folHlink>
    </a:clrScheme>
    <a:fontScheme name="Office">
      <a:majorFont>
        <a:latin typeface="Georg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1788918984804]">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8365881-a148-4424-ad56-f10ebd864fc5}">
  <we:reference id="WA200010001" version="1.0.0.1" store="en-US" storeType="OMEX"/>
  <we:alternateReferences/>
  <we:properties>
    <we:property name="Microsoft.Office.CampaignId" value="&quot;none&quot;"/>
    <we:property name="claude.fileId" value="&quot;5b47c88f-9a9b-46fc-8147-d5651b8a5a42&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D401524DC532D42A0E0ED886331A72B" ma:contentTypeVersion="13" ma:contentTypeDescription="Create a new document." ma:contentTypeScope="" ma:versionID="d936d863d335d354da51eb78ca1ae338">
  <xsd:schema xmlns:xsd="http://www.w3.org/2001/XMLSchema" xmlns:xs="http://www.w3.org/2001/XMLSchema" xmlns:p="http://schemas.microsoft.com/office/2006/metadata/properties" xmlns:ns2="f577acbf-5b0b-4b4f-9948-268e97f8d3a4" xmlns:ns3="b1e4d6ee-9f6f-43f8-a618-24f3d84da28f" targetNamespace="http://schemas.microsoft.com/office/2006/metadata/properties" ma:root="true" ma:fieldsID="5fbac08d56b1b04aa33acbc31e882ce9" ns2:_="" ns3:_="">
    <xsd:import namespace="f577acbf-5b0b-4b4f-9948-268e97f8d3a4"/>
    <xsd:import namespace="b1e4d6ee-9f6f-43f8-a618-24f3d84da28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3:LastSharedByUser" minOccurs="0"/>
                <xsd:element ref="ns3:LastSharedByTime" minOccurs="0"/>
                <xsd:element ref="ns2:Document_x0020_Purpose" minOccurs="0"/>
                <xsd:element ref="ns2:Initiatives" minOccurs="0"/>
                <xsd:element ref="ns2:MediaServiceDateTaken" minOccurs="0"/>
                <xsd:element ref="ns2:MediaServiceAutoTags"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77acbf-5b0b-4b4f-9948-268e97f8d3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Document_x0020_Purpose" ma:index="14" nillable="true" ma:displayName="Document Purpose" ma:default="Informational" ma:format="Dropdown" ma:internalName="Document_x0020_Purpose">
      <xsd:simpleType>
        <xsd:restriction base="dms:Choice">
          <xsd:enumeration value="Informational"/>
          <xsd:enumeration value="Feature Spec"/>
          <xsd:enumeration value="Engineering Design"/>
          <xsd:enumeration value="Planning"/>
        </xsd:restriction>
      </xsd:simpleType>
    </xsd:element>
    <xsd:element name="Initiatives" ma:index="15" nillable="true" ma:displayName="Initiatives" ma:description="List of initiatives related to this document" ma:internalName="Initiatives">
      <xsd:complexType>
        <xsd:complexContent>
          <xsd:extension base="dms:MultiChoice">
            <xsd:sequence>
              <xsd:element name="Value" maxOccurs="unbounded" minOccurs="0" nillable="true">
                <xsd:simpleType>
                  <xsd:restriction base="dms:Choice">
                    <xsd:enumeration value="Add-in MAU"/>
                    <xsd:enumeration value="Custom Functions"/>
                    <xsd:enumeration value="Data &amp; Analytics"/>
                    <xsd:enumeration value="DevEx: Portals &amp; Programs"/>
                    <xsd:enumeration value="DevEx: Tools &amp; Libraries"/>
                    <xsd:enumeration value="Engineering"/>
                    <xsd:enumeration value="Excel API"/>
                    <xsd:enumeration value="In-Market Support"/>
                    <xsd:enumeration value="Maker Access"/>
                    <xsd:enumeration value="SDX Runtime &amp; Partners"/>
                    <xsd:enumeration value="SDX Service Delivery"/>
                    <xsd:enumeration value="SDX API &amp; Pipeline"/>
                    <xsd:enumeration value="Shield &amp; OCE"/>
                  </xsd:restriction>
                </xsd:simpleType>
              </xsd:element>
            </xsd:sequence>
          </xsd:extension>
        </xsd:complexContent>
      </xsd:complexType>
    </xsd:element>
    <xsd:element name="MediaServiceDateTaken" ma:index="16" nillable="true" ma:displayName="MediaServiceDateTaken" ma:hidden="true" ma:internalName="MediaServiceDateTaken" ma:readOnly="true">
      <xsd:simpleType>
        <xsd:restriction base="dms:Text"/>
      </xsd:simpleType>
    </xsd:element>
    <xsd:element name="MediaServiceAutoTags" ma:index="17" nillable="true" ma:displayName="MediaServiceAutoTags" ma:internalName="MediaServiceAutoTags" ma:readOnly="true">
      <xsd:simpleType>
        <xsd:restriction base="dms:Text"/>
      </xsd:simpleType>
    </xsd:element>
    <xsd:element name="MediaServiceOCR" ma:index="18" nillable="true" ma:displayName="MediaServiceOCR" ma:internalName="MediaServiceOCR" ma:readOnly="true">
      <xsd:simpleType>
        <xsd:restriction base="dms:Note">
          <xsd:maxLength value="255"/>
        </xsd:restriction>
      </xsd:simpleType>
    </xsd:element>
    <xsd:element name="MediaServiceLocation" ma:index="19" nillable="true" ma:displayName="MediaServic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e4d6ee-9f6f-43f8-a618-24f3d84da28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LastSharedByUser" ma:index="12" nillable="true" ma:displayName="Last Shared By User" ma:hidden="true" ma:internalName="LastSharedByUser" ma:readOnly="true">
      <xsd:simpleType>
        <xsd:restriction base="dms:Note"/>
      </xsd:simpleType>
    </xsd:element>
    <xsd:element name="LastSharedByTime" ma:index="13"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ocument_x0020_Purpose xmlns="f577acbf-5b0b-4b4f-9948-268e97f8d3a4">Informational</Document_x0020_Purpose>
    <Initiatives xmlns="f577acbf-5b0b-4b4f-9948-268e97f8d3a4"/>
  </documentManagement>
</p:properties>
</file>

<file path=customXml/itemProps1.xml><?xml version="1.0" encoding="utf-8"?>
<ds:datastoreItem xmlns:ds="http://schemas.openxmlformats.org/officeDocument/2006/customXml" ds:itemID="{A79EAE08-AAD0-49B9-BF66-164C225CC5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577acbf-5b0b-4b4f-9948-268e97f8d3a4"/>
    <ds:schemaRef ds:uri="b1e4d6ee-9f6f-43f8-a618-24f3d84da2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21AFCC0-734A-4A90-A597-A1CB34860DCD}">
  <ds:schemaRefs>
    <ds:schemaRef ds:uri="http://schemas.microsoft.com/sharepoint/v3/contenttype/forms"/>
  </ds:schemaRefs>
</ds:datastoreItem>
</file>

<file path=customXml/itemProps3.xml><?xml version="1.0" encoding="utf-8"?>
<ds:datastoreItem xmlns:ds="http://schemas.openxmlformats.org/officeDocument/2006/customXml" ds:itemID="{617AB1FA-2F28-4684-9230-02ACEB6C0B0A}">
  <ds:schemaRefs>
    <ds:schemaRef ds:uri="b1e4d6ee-9f6f-43f8-a618-24f3d84da28f"/>
    <ds:schemaRef ds:uri="http://purl.org/dc/terms/"/>
    <ds:schemaRef ds:uri="http://schemas.openxmlformats.org/package/2006/metadata/core-properties"/>
    <ds:schemaRef ds:uri="f577acbf-5b0b-4b4f-9948-268e97f8d3a4"/>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1553</TotalTime>
  <Words>5009</Words>
  <Application>Microsoft Office PowerPoint</Application>
  <PresentationFormat>Panorámica</PresentationFormat>
  <Paragraphs>382</Paragraphs>
  <Slides>20</Slides>
  <Notes>20</Notes>
  <HiddenSlides>0</HiddenSlides>
  <MMClips>0</MMClips>
  <ScaleCrop>false</ScaleCrop>
  <HeadingPairs>
    <vt:vector size="6" baseType="variant">
      <vt:variant>
        <vt:lpstr>Fuentes usadas</vt:lpstr>
      </vt:variant>
      <vt:variant>
        <vt:i4>7</vt:i4>
      </vt:variant>
      <vt:variant>
        <vt:lpstr>Tema</vt:lpstr>
      </vt:variant>
      <vt:variant>
        <vt:i4>3</vt:i4>
      </vt:variant>
      <vt:variant>
        <vt:lpstr>Títulos de diapositiva</vt:lpstr>
      </vt:variant>
      <vt:variant>
        <vt:i4>20</vt:i4>
      </vt:variant>
    </vt:vector>
  </HeadingPairs>
  <TitlesOfParts>
    <vt:vector size="30" baseType="lpstr">
      <vt:lpstr>Aptos</vt:lpstr>
      <vt:lpstr>Arial</vt:lpstr>
      <vt:lpstr>Calibri</vt:lpstr>
      <vt:lpstr>Calibri Light</vt:lpstr>
      <vt:lpstr>Consolas</vt:lpstr>
      <vt:lpstr>Georgia</vt:lpstr>
      <vt:lpstr>Segoe UI</vt:lpstr>
      <vt:lpstr>Office Theme</vt:lpstr>
      <vt:lpstr>Office Theme [1788918835946]</vt:lpstr>
      <vt:lpstr>Office Theme [1788918984804]</vt:lpstr>
      <vt:lpstr>Árboles de Decisión para Machine Learning</vt:lpstr>
      <vt:lpstr>Objetivos de aprendizaje y ruta del módulo</vt:lpstr>
      <vt:lpstr>Anatomía de un árbol de decisión</vt:lpstr>
      <vt:lpstr>Clasificación o regresión: la misma idea, otro criterio</vt:lpstr>
      <vt:lpstr>Cómo aprende: partición recursiva voraz</vt:lpstr>
      <vt:lpstr>Medidas de impureza: Gini y entropía</vt:lpstr>
      <vt:lpstr>Ganancia de información: ejemplo paso a paso</vt:lpstr>
      <vt:lpstr>Familias de algoritmos: ID3, C4.5 y CART</vt:lpstr>
      <vt:lpstr>Cómo se cortan las variables numéricas y categóricas</vt:lpstr>
      <vt:lpstr>Árboles de regresión: cambia el criterio, no la idea</vt:lpstr>
      <vt:lpstr>Sobreajuste: el árbol que memoriza</vt:lpstr>
      <vt:lpstr>Poda y regularización: los mandos del árbol</vt:lpstr>
      <vt:lpstr>Implementación en scikit-learn</vt:lpstr>
      <vt:lpstr>Ajuste de hiperparámetros con validación cruzada</vt:lpstr>
      <vt:lpstr>Interpretabilidad: importancia de variables y reglas</vt:lpstr>
      <vt:lpstr>Ventajas y limitaciones que debes saber defender</vt:lpstr>
      <vt:lpstr>Del árbol al bosque: por qué existen los ensambles</vt:lpstr>
      <vt:lpstr>Glosario y hoja de fórmulas</vt:lpstr>
      <vt:lpstr>Autoevaluación: seis preguntas</vt:lpstr>
      <vt:lpstr>Respuestas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dc:creator>
  <cp:lastModifiedBy>Jason Leon</cp:lastModifiedBy>
  <cp:revision>5</cp:revision>
  <dcterms:created xsi:type="dcterms:W3CDTF">2018-06-07T21:39:02Z</dcterms:created>
  <dcterms:modified xsi:type="dcterms:W3CDTF">2026-09-09T02:23:00Z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0x010100CD401524DC532D42A0E0ED886331A72B</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t-dahop@microsoft.com</vt:lpwstr>
  </property>
  <property fmtid="{D5CDD505-2E9C-101B-9397-08002B2CF9AE}" pid="6" name="MSIP_Label_f42aa342-8706-4288-bd11-ebb85995028c_SetDate">
    <vt:lpwstr>2018-06-18T13:45:27.3782680Z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