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Duración sugerida: 45 a 60 minutos.</a:t>
            </a:r>
          </a:p>
          <a:p>
            <a:r>
              <a:t>Apertura: preguntar al curso qué ocurriría si varios modelos cometen errores distintos y luego votan.</a:t>
            </a:r>
          </a:p>
          <a:p>
            <a:r>
              <a:t>Idea central: combinar árboles ayuda a estabilizar predicciones, siempre que los árboles no repitan exactamente los mismos errores.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Presentar</a:t>
            </a:r>
            <a:r>
              <a:rPr dirty="0"/>
              <a:t> la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guía</a:t>
            </a:r>
            <a:r>
              <a:rPr dirty="0"/>
              <a:t> y </a:t>
            </a:r>
            <a:r>
              <a:rPr dirty="0" err="1"/>
              <a:t>anticipar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bagging reduce </a:t>
            </a:r>
            <a:r>
              <a:rPr dirty="0" err="1"/>
              <a:t>varianza</a:t>
            </a:r>
            <a:r>
              <a:rPr dirty="0"/>
              <a:t>, </a:t>
            </a:r>
            <a:r>
              <a:rPr dirty="0" err="1"/>
              <a:t>mientras</a:t>
            </a:r>
            <a:r>
              <a:rPr dirty="0"/>
              <a:t> Random Forest también reduce la </a:t>
            </a:r>
            <a:r>
              <a:rPr dirty="0" err="1"/>
              <a:t>correlación</a:t>
            </a:r>
            <a:r>
              <a:rPr dirty="0"/>
              <a:t> entre </a:t>
            </a:r>
            <a:r>
              <a:rPr dirty="0" err="1"/>
              <a:t>árboles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los árboles profundos suelen tener bajo sesgo y alta varianza.</a:t>
            </a:r>
          </a:p>
          <a:p>
            <a:r>
              <a:t>Actividad breve: pedir al curso que identifique qué predicción podría cambiar entre los dos árboles.</a:t>
            </a:r>
          </a:p>
          <a:p>
            <a:r>
              <a:t>Los diagramas son ilustrativos. No provienen de un conjunto de datos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Distinguir dos ideas: diversidad entre modelos y agregación de resultados.</a:t>
            </a:r>
          </a:p>
          <a:p>
            <a:r>
              <a:t>Bagging crea diversidad cambiando las filas. Random Forest añade diversidad cambiando también las variables disponibles en cada división.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Subrayar dos palabras: con reemplazo. Una fila puede aparecer varias veces y otra puede quedar fuera.</a:t>
            </a:r>
          </a:p>
          <a:p>
            <a:r>
              <a:t>Para n grande, la proporción esperada de observaciones únicas se aproxima a 1 − e⁻¹ = 63,2%.</a:t>
            </a:r>
          </a:p>
          <a:p>
            <a:r>
              <a:t>Las muestras mostradas son ilustrativas.</a:t>
            </a:r>
          </a:p>
          <a:p>
            <a:endParaRPr/>
          </a:p>
          <a:p>
            <a:r>
              <a:t>Fuentes:</a:t>
            </a:r>
          </a:p>
          <a:p>
            <a:r>
              <a:t>Efron, B. (1979). Bootstrap Methods: Another Look at the Jackknife. https://doi.org/10.1214/aos/1176344552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observación recibe predicciones solo de los árboles para los cuales quedó fuera de la muestra bootstrap.</a:t>
            </a:r>
          </a:p>
          <a:p>
            <a:r>
              <a:t>El error OOB ayuda a ajustar el modelo, aunque un conjunto de prueba independiente sigue siendo la referencia final cuando está disponible.</a:t>
            </a:r>
          </a:p>
          <a:p>
            <a:endParaRPr/>
          </a:p>
          <a:p>
            <a:r>
              <a:t>Fuentes:</a:t>
            </a:r>
          </a:p>
          <a:p>
            <a:r>
              <a:t>Breiman, L. (2001). Random Forests. https://doi.org/10.1023/A:1010933404324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Pronunciación útil: bagging combina bootstrap y aggregating.</a:t>
            </a:r>
          </a:p>
          <a:p>
            <a:r>
              <a:t>Aunque puede aplicarse a varios modelos base, los árboles se usan con frecuencia porque se benefician mucho de la reducción de varianza.</a:t>
            </a:r>
          </a:p>
          <a:p>
            <a:endParaRPr/>
          </a:p>
          <a:p>
            <a:r>
              <a:t>Fuentes:</a:t>
            </a:r>
          </a:p>
          <a:p>
            <a:r>
              <a:t>Breiman, L. (1996). Bagging Predictors. https://doi.org/10.1007/BF00058655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algoritmo de izquierda a derecha.</a:t>
            </a:r>
          </a:p>
          <a:p>
            <a:r>
              <a:t>Aclarar que cada árbol suele crecer sin poda o con pocos límites, según la implementación y el problema.</a:t>
            </a:r>
          </a:p>
          <a:p>
            <a:r>
              <a:t>La independencia entre árboles facilita el paralelismo.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fórmula supone varianzas similares y correlación común. Se usa aquí para explicar la intuición.</a:t>
            </a:r>
          </a:p>
          <a:p>
            <a:r>
              <a:t>Con B grande, el término (1 − ρ)/B se reduce. El término ρ permanece.</a:t>
            </a:r>
          </a:p>
          <a:p>
            <a:r>
              <a:t>Esta limitación motiva la selección aleatoria de variables en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Random Forest conserva la agregación de bagging y añade azar en las variables candidatas.</a:t>
            </a:r>
          </a:p>
          <a:p>
            <a:r>
              <a:t>La selección ocurre en cada nodo, no una sola vez por árbol.</a:t>
            </a:r>
          </a:p>
          <a:p>
            <a:endParaRPr/>
          </a:p>
          <a:p>
            <a:r>
              <a:t>Fuentes:</a:t>
            </a:r>
          </a:p>
          <a:p>
            <a:r>
              <a:t>Breiman, L. (2001). Random Forests. https://doi.org/10.1023/A:1010933404324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este ejemplo, el nodo solo considera tres de ocho variables.</a:t>
            </a:r>
          </a:p>
          <a:p>
            <a:r>
              <a:t>El mejor corte se busca dentro del subconjunto, aunque otra variable excluida pudiera ofrecer un corte mejor en ese nodo.</a:t>
            </a:r>
          </a:p>
          <a:p>
            <a:r>
              <a:t>El costo de introducir diversidad puede ser un pequeño aumento del sesgo, compensado por menor varianza.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esta tabla como pausa de síntesis. Preguntar qué fila explica la reducción de correlación en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simplificado con etiquetas duras.</a:t>
            </a:r>
          </a:p>
          <a:p>
            <a:r>
              <a:t>Muchas implementaciones promedian probabilidades de clase en lugar de contar únicamente la clase ganadora de cada árbol.</a:t>
            </a:r>
          </a:p>
          <a:p>
            <a:r>
              <a:t>Pregunta al curso: ¿cambiaría la decisión si el umbral fuera 0,70?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Relacionar cada hiperparámetro con el compromiso sesgo-varianza y con el costo computacional.</a:t>
            </a:r>
          </a:p>
          <a:p>
            <a:r>
              <a:t>No existe un valor universal. Usar validación cruzada u OOB y una métrica alineada con el problema.</a:t>
            </a:r>
          </a:p>
          <a:p>
            <a:r>
              <a:t>Los nombres corresponden a la API de scikit-learn y pueden variar en otras bibliotecas.</a:t>
            </a:r>
          </a:p>
          <a:p>
            <a:endParaRPr/>
          </a:p>
          <a:p>
            <a:r>
              <a:t>Fuentes:</a:t>
            </a:r>
          </a:p>
          <a:p>
            <a:r>
              <a:t>scikit-learn. RandomForestClassifier documentation. https://scikit-learn.org/stable/modules/generated/sklearn.ensemble.RandomForestClassifier.html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Evitar vender Random Forest como solución universal.</a:t>
            </a:r>
          </a:p>
          <a:p>
            <a:r>
              <a:t>Para interpretar, preferir importancia por permutación, curvas de dependencia parcial o explicaciones locales, según el objetivo.</a:t>
            </a:r>
          </a:p>
          <a:p>
            <a:r>
              <a:t>En regresión, el promedio de valores de hojas no produce extrapolación lineal fuera del rango aprendido.</a:t>
            </a:r>
          </a:p>
          <a:p>
            <a:endParaRPr/>
          </a:p>
          <a:p>
            <a:r>
              <a:t>Fuentes:</a:t>
            </a:r>
          </a:p>
          <a:p>
            <a:r>
              <a:t>scikit-learn. Ensemble methods user guide. https://scikit-learn.org/stable/modules/ensemble.html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ejemplos describen tipos de problema, no recomendaciones regulatorias ni clínicas.</a:t>
            </a:r>
          </a:p>
          <a:p>
            <a:r>
              <a:t>Random Forest destaca en datos tabulares con mezcla de efectos no lineales e interacciones.</a:t>
            </a:r>
          </a:p>
          <a:p>
            <a:r>
              <a:t>En imágenes, texto o series muy largas, modelos especializados pueden resultar más adecuados.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 que el modelo no corrige un diseño de evaluación defectuoso.</a:t>
            </a:r>
          </a:p>
          <a:p>
            <a:r>
              <a:t>Para clases desbalanceadas considerar precisión, recall, F1, PR-AUC o costos específicos.</a:t>
            </a:r>
          </a:p>
          <a:p>
            <a:r>
              <a:t>Toda transformación aprendida de datos debe ajustarse dentro del proceso de validación.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Respuestas esperadas: el muestreo es con reemplazo; max_features disminuye correlación; OOB estima generalización interna, pero una prueba independiente sigue siendo útil.</a:t>
            </a:r>
          </a:p>
          <a:p>
            <a:r>
              <a:t>Cierre práctico: proponer un notebook posterior con un árbol, bagging y Random Forest bajo la misma partición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815C34-23C8-4B83-97B4-B65A50A2CC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2CE27-8BF2-4780-9B54-B4EBF4049B5D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71500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RANDOM FOREST</a:t>
            </a:r>
          </a:p>
          <a:p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 BAGGING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79EE6A-D712-4D1B-965E-03A5E28C0647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4124547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Modelos</a:t>
            </a: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ensamblados</a:t>
            </a: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desde</a:t>
            </a: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 la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intuición</a:t>
            </a:r>
            <a:r>
              <a:rPr sz="1800" b="0" dirty="0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 hasta la </a:t>
            </a:r>
            <a:r>
              <a:rPr sz="1800" b="0" dirty="0" err="1">
                <a:solidFill>
                  <a:srgbClr val="CBE3EA"/>
                </a:solidFill>
                <a:latin typeface="Helvetica Neue"/>
                <a:ea typeface="Helvetica Neue"/>
                <a:cs typeface="Helvetica Neue"/>
              </a:rPr>
              <a:t>práctica</a:t>
            </a:r>
            <a:endParaRPr sz="1800" b="0" dirty="0">
              <a:solidFill>
                <a:srgbClr val="CBE3E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3FBFD-CEF7-453A-A7B5-E37AFD3B98A7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1047750" cy="66675"/>
          </a:xfrm>
          <a:prstGeom prst="rect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E15E4-E790-470D-BA5E-121BE0B09388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s-419" sz="1200" b="1" dirty="0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Bastian Galasso</a:t>
            </a:r>
            <a:endParaRPr sz="1200" b="1" dirty="0">
              <a:solidFill>
                <a:srgbClr val="55D9D2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56424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0DF141C-0AE9-4234-B8D6-C3855631737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Objetivos y ruta de la clase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36FC4E-13C2-430E-8152-A2ACF936EFE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CC247-9D50-460C-A1DB-D58C9C9D1DE2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016F5-EA0E-475E-886F-B602A8F4A89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22FD08-090A-46D0-8827-1D29AF3D93F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2/18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EF69CF-3D27-4464-98F8-23AA145C9F8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Al terminar, podrás explicar el mecanismo y decidir cuándo usar cada modelo.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A1A2A2-B43C-4521-8B4D-6AD0CE3092E8}"/>
              </a:ext>
            </a:extLst>
          </p:cNvPr>
          <p:cNvSpPr>
            <a:spLocks noGrp="1"/>
          </p:cNvSpPr>
          <p:nvPr/>
        </p:nvSpPr>
        <p:spPr>
          <a:xfrm>
            <a:off x="930351" y="2266950"/>
            <a:ext cx="647700" cy="64770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EBBA87-8E92-4346-B371-D1DAE60D58FF}"/>
              </a:ext>
            </a:extLst>
          </p:cNvPr>
          <p:cNvSpPr>
            <a:spLocks noGrp="1"/>
          </p:cNvSpPr>
          <p:nvPr/>
        </p:nvSpPr>
        <p:spPr>
          <a:xfrm>
            <a:off x="930351" y="2266950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EBD81A1-C0B5-415E-A45B-9242D445FB1B}"/>
              </a:ext>
            </a:extLst>
          </p:cNvPr>
          <p:cNvSpPr>
            <a:spLocks noGrp="1"/>
          </p:cNvSpPr>
          <p:nvPr/>
        </p:nvSpPr>
        <p:spPr>
          <a:xfrm>
            <a:off x="1578051" y="2590800"/>
            <a:ext cx="1562100" cy="0"/>
          </a:xfrm>
          <a:prstGeom prst="line">
            <a:avLst/>
          </a:prstGeom>
          <a:noFill/>
          <a:ln w="2857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F5A3C9-CC4E-4F74-86E1-8DF305F6AA50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Ensamblados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996FDC-F4A2-429D-A138-237A6C44A44D}"/>
              </a:ext>
            </a:extLst>
          </p:cNvPr>
          <p:cNvSpPr>
            <a:spLocks noGrp="1"/>
          </p:cNvSpPr>
          <p:nvPr/>
        </p:nvSpPr>
        <p:spPr>
          <a:xfrm>
            <a:off x="419100" y="3581400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Por qué combinar modelos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082B36-C645-4362-9195-5BD8BC89C3CD}"/>
              </a:ext>
            </a:extLst>
          </p:cNvPr>
          <p:cNvSpPr>
            <a:spLocks noGrp="1"/>
          </p:cNvSpPr>
          <p:nvPr/>
        </p:nvSpPr>
        <p:spPr>
          <a:xfrm>
            <a:off x="3168726" y="2266950"/>
            <a:ext cx="647700" cy="64770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D622A4-F6C4-429E-9E1C-F50D6D0DB1EE}"/>
              </a:ext>
            </a:extLst>
          </p:cNvPr>
          <p:cNvSpPr>
            <a:spLocks noGrp="1"/>
          </p:cNvSpPr>
          <p:nvPr/>
        </p:nvSpPr>
        <p:spPr>
          <a:xfrm>
            <a:off x="3168726" y="2266950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676E605-A648-4148-9B35-6850B3A062F7}"/>
              </a:ext>
            </a:extLst>
          </p:cNvPr>
          <p:cNvSpPr>
            <a:spLocks noGrp="1"/>
          </p:cNvSpPr>
          <p:nvPr/>
        </p:nvSpPr>
        <p:spPr>
          <a:xfrm>
            <a:off x="3816426" y="2590800"/>
            <a:ext cx="1562100" cy="0"/>
          </a:xfrm>
          <a:prstGeom prst="line">
            <a:avLst/>
          </a:prstGeom>
          <a:noFill/>
          <a:ln w="2857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BD758-E810-480D-A1D7-371539A631F9}"/>
              </a:ext>
            </a:extLst>
          </p:cNvPr>
          <p:cNvSpPr>
            <a:spLocks noGrp="1"/>
          </p:cNvSpPr>
          <p:nvPr/>
        </p:nvSpPr>
        <p:spPr>
          <a:xfrm>
            <a:off x="2809875" y="314325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Bootstrap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8DDB3-BDE5-4328-A9C5-BC042E9B9EC5}"/>
              </a:ext>
            </a:extLst>
          </p:cNvPr>
          <p:cNvSpPr>
            <a:spLocks noGrp="1"/>
          </p:cNvSpPr>
          <p:nvPr/>
        </p:nvSpPr>
        <p:spPr>
          <a:xfrm>
            <a:off x="2657475" y="3581400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Muestras con reemplazo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B13BAC-E203-40FE-828E-271706702EE6}"/>
              </a:ext>
            </a:extLst>
          </p:cNvPr>
          <p:cNvSpPr>
            <a:spLocks noGrp="1"/>
          </p:cNvSpPr>
          <p:nvPr/>
        </p:nvSpPr>
        <p:spPr>
          <a:xfrm>
            <a:off x="5407101" y="2266950"/>
            <a:ext cx="647700" cy="64770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459DF0-979F-4C52-AC85-EF8A9426DDB0}"/>
              </a:ext>
            </a:extLst>
          </p:cNvPr>
          <p:cNvSpPr>
            <a:spLocks noGrp="1"/>
          </p:cNvSpPr>
          <p:nvPr/>
        </p:nvSpPr>
        <p:spPr>
          <a:xfrm>
            <a:off x="5407101" y="2266950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E0FAC5-8978-4EFE-A358-7ADAB9820684}"/>
              </a:ext>
            </a:extLst>
          </p:cNvPr>
          <p:cNvSpPr>
            <a:spLocks noGrp="1"/>
          </p:cNvSpPr>
          <p:nvPr/>
        </p:nvSpPr>
        <p:spPr>
          <a:xfrm>
            <a:off x="6054801" y="2590800"/>
            <a:ext cx="1562100" cy="0"/>
          </a:xfrm>
          <a:prstGeom prst="line">
            <a:avLst/>
          </a:prstGeom>
          <a:noFill/>
          <a:ln w="2857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7865AB-5C7A-46B3-8760-8A02178A845D}"/>
              </a:ext>
            </a:extLst>
          </p:cNvPr>
          <p:cNvSpPr>
            <a:spLocks noGrp="1"/>
          </p:cNvSpPr>
          <p:nvPr/>
        </p:nvSpPr>
        <p:spPr>
          <a:xfrm>
            <a:off x="5048250" y="314325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Bagging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0E5838-0DA4-460D-AB8C-1A43EB177D3E}"/>
              </a:ext>
            </a:extLst>
          </p:cNvPr>
          <p:cNvSpPr>
            <a:spLocks noGrp="1"/>
          </p:cNvSpPr>
          <p:nvPr/>
        </p:nvSpPr>
        <p:spPr>
          <a:xfrm>
            <a:off x="4895850" y="3581400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Promedio o votación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7323044-5048-4360-A32F-A8E3AB4315ED}"/>
              </a:ext>
            </a:extLst>
          </p:cNvPr>
          <p:cNvSpPr>
            <a:spLocks noGrp="1"/>
          </p:cNvSpPr>
          <p:nvPr/>
        </p:nvSpPr>
        <p:spPr>
          <a:xfrm>
            <a:off x="7645476" y="2266950"/>
            <a:ext cx="647700" cy="64770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DA449B-1EC5-4918-8566-95675D21E249}"/>
              </a:ext>
            </a:extLst>
          </p:cNvPr>
          <p:cNvSpPr>
            <a:spLocks noGrp="1"/>
          </p:cNvSpPr>
          <p:nvPr/>
        </p:nvSpPr>
        <p:spPr>
          <a:xfrm>
            <a:off x="7645476" y="2266950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38234D6-0F31-42BE-8B1B-290C615ABDC6}"/>
              </a:ext>
            </a:extLst>
          </p:cNvPr>
          <p:cNvSpPr>
            <a:spLocks noGrp="1"/>
          </p:cNvSpPr>
          <p:nvPr/>
        </p:nvSpPr>
        <p:spPr>
          <a:xfrm>
            <a:off x="8293176" y="2590800"/>
            <a:ext cx="1562100" cy="0"/>
          </a:xfrm>
          <a:prstGeom prst="line">
            <a:avLst/>
          </a:prstGeom>
          <a:noFill/>
          <a:ln w="2857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A5AAE0-5C83-496F-9D6D-9697FC7FD02B}"/>
              </a:ext>
            </a:extLst>
          </p:cNvPr>
          <p:cNvSpPr>
            <a:spLocks noGrp="1"/>
          </p:cNvSpPr>
          <p:nvPr/>
        </p:nvSpPr>
        <p:spPr>
          <a:xfrm>
            <a:off x="7286625" y="314325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Random Forest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442035-AE0A-43C1-8201-800E656A52CB}"/>
              </a:ext>
            </a:extLst>
          </p:cNvPr>
          <p:cNvSpPr>
            <a:spLocks noGrp="1"/>
          </p:cNvSpPr>
          <p:nvPr/>
        </p:nvSpPr>
        <p:spPr>
          <a:xfrm>
            <a:off x="7134225" y="3581400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Azar en filas y variables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78A0AAB-3A31-4EBF-8A40-490D87352C5E}"/>
              </a:ext>
            </a:extLst>
          </p:cNvPr>
          <p:cNvSpPr>
            <a:spLocks noGrp="1"/>
          </p:cNvSpPr>
          <p:nvPr/>
        </p:nvSpPr>
        <p:spPr>
          <a:xfrm>
            <a:off x="9883851" y="2266950"/>
            <a:ext cx="647700" cy="64770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38BE62-6E49-464D-8A65-F7B4A2C59B99}"/>
              </a:ext>
            </a:extLst>
          </p:cNvPr>
          <p:cNvSpPr>
            <a:spLocks noGrp="1"/>
          </p:cNvSpPr>
          <p:nvPr/>
        </p:nvSpPr>
        <p:spPr>
          <a:xfrm>
            <a:off x="9883851" y="2266950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84D5F7-64F5-4DFA-B50B-072EE9AE3A88}"/>
              </a:ext>
            </a:extLst>
          </p:cNvPr>
          <p:cNvSpPr>
            <a:spLocks noGrp="1"/>
          </p:cNvSpPr>
          <p:nvPr/>
        </p:nvSpPr>
        <p:spPr>
          <a:xfrm>
            <a:off x="9525000" y="314325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Práctica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67CAA7-6678-4C90-BB64-7D11572A99C2}"/>
              </a:ext>
            </a:extLst>
          </p:cNvPr>
          <p:cNvSpPr>
            <a:spLocks noGrp="1"/>
          </p:cNvSpPr>
          <p:nvPr/>
        </p:nvSpPr>
        <p:spPr>
          <a:xfrm>
            <a:off x="9372600" y="3581400"/>
            <a:ext cx="17335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Ajuste, evaluación y usos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1B71A9-CA01-45D7-BC31-9E0F24F0F2FB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Pregunta guía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198E116-55DB-44A4-866E-8C5B8E87AB13}"/>
              </a:ext>
            </a:extLst>
          </p:cNvPr>
          <p:cNvSpPr>
            <a:spLocks noGrp="1"/>
          </p:cNvSpPr>
          <p:nvPr/>
        </p:nvSpPr>
        <p:spPr>
          <a:xfrm>
            <a:off x="800100" y="5314950"/>
            <a:ext cx="10191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¿Cómo podemos reducir la inestabilidad de un árbol sin renunciar a su capacidad para capturar relaciones no lineales?</a:t>
            </a:r>
          </a:p>
        </p:txBody>
      </p:sp>
    </p:spTree>
    <p:extLst>
      <p:ext uri="{BB962C8B-B14F-4D97-AF65-F5344CB8AC3E}">
        <p14:creationId xmlns:p14="http://schemas.microsoft.com/office/powerpoint/2010/main" val="72412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FA39FE4-4803-4779-BC2D-D0FA63D5B20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Por qué un árbol puede ser inestable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EC2A38-64A0-41FD-810D-1F0374B13A9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AEAE72-DB38-4FDF-BD9E-F2D46BD6B929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AF8CC0-DAD3-4259-A623-DADB5CB7DFF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310B1-D387-4DD9-8B10-60BB84FA9AE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3/18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877B4-839B-42DA-9655-3F6979EE2EE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9048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Pequeños cambios en los datos pueden producir particiones distintas.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4F36C7-9E2C-4982-BCE5-149F562B58CB}"/>
              </a:ext>
            </a:extLst>
          </p:cNvPr>
          <p:cNvSpPr>
            <a:spLocks noGrp="1"/>
          </p:cNvSpPr>
          <p:nvPr/>
        </p:nvSpPr>
        <p:spPr>
          <a:xfrm>
            <a:off x="2250894" y="20955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Edad &lt; 35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E6CDEC7-E287-4839-B3BA-325EC668B046}"/>
              </a:ext>
            </a:extLst>
          </p:cNvPr>
          <p:cNvSpPr>
            <a:spLocks noGrp="1"/>
          </p:cNvSpPr>
          <p:nvPr/>
        </p:nvSpPr>
        <p:spPr>
          <a:xfrm>
            <a:off x="1384119" y="3286125"/>
            <a:ext cx="1524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Ingreso &lt; 900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7A0DE5-ECAC-4E72-A6F2-254EEBA48F8E}"/>
              </a:ext>
            </a:extLst>
          </p:cNvPr>
          <p:cNvSpPr>
            <a:spLocks noGrp="1"/>
          </p:cNvSpPr>
          <p:nvPr/>
        </p:nvSpPr>
        <p:spPr>
          <a:xfrm>
            <a:off x="3441519" y="3286125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Compra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9A840B5-FF8C-4D4E-BE38-D22855E0681A}"/>
              </a:ext>
            </a:extLst>
          </p:cNvPr>
          <p:cNvSpPr>
            <a:spLocks noGrp="1"/>
          </p:cNvSpPr>
          <p:nvPr/>
        </p:nvSpPr>
        <p:spPr>
          <a:xfrm>
            <a:off x="1003119" y="4524375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C95757"/>
          </a:solidFill>
          <a:ln w="19050">
            <a:solidFill>
              <a:srgbClr val="C95757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compra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6D04D1-6AD3-485A-B3EE-38B03BA2E377}"/>
              </a:ext>
            </a:extLst>
          </p:cNvPr>
          <p:cNvSpPr>
            <a:spLocks noGrp="1"/>
          </p:cNvSpPr>
          <p:nvPr/>
        </p:nvSpPr>
        <p:spPr>
          <a:xfrm>
            <a:off x="3251019" y="4524375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Compra</a:t>
            </a:r>
          </a:p>
        </p:txBody>
      </p:sp>
      <p:cxnSp>
        <p:nvCxnSpPr>
          <p:cNvPr id="39" name="Elbow Connector 38"/>
          <p:cNvCxnSpPr>
            <a:stCxn id="7" idx="2"/>
            <a:endCxn id="8" idx="0"/>
          </p:cNvCxnSpPr>
          <p:nvPr/>
        </p:nvCxnSpPr>
        <p:spPr>
          <a:xfrm flipH="1">
            <a:off x="2146119" y="2590800"/>
            <a:ext cx="819150" cy="6953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40" name="Elbow Connector 39"/>
          <p:cNvCxnSpPr>
            <a:stCxn id="7" idx="2"/>
            <a:endCxn id="9" idx="0"/>
          </p:cNvCxnSpPr>
          <p:nvPr/>
        </p:nvCxnSpPr>
        <p:spPr>
          <a:xfrm>
            <a:off x="2965269" y="2590800"/>
            <a:ext cx="1095375" cy="6953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41" name="Elbow Connector 40"/>
          <p:cNvCxnSpPr>
            <a:stCxn id="8" idx="2"/>
            <a:endCxn id="10" idx="0"/>
          </p:cNvCxnSpPr>
          <p:nvPr/>
        </p:nvCxnSpPr>
        <p:spPr>
          <a:xfrm rot="5400000">
            <a:off x="1560332" y="3938588"/>
            <a:ext cx="742950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42" name="Elbow Connector 41"/>
          <p:cNvCxnSpPr>
            <a:stCxn id="8" idx="2"/>
            <a:endCxn id="11" idx="0"/>
          </p:cNvCxnSpPr>
          <p:nvPr/>
        </p:nvCxnSpPr>
        <p:spPr>
          <a:xfrm>
            <a:off x="2146119" y="3781425"/>
            <a:ext cx="1724025" cy="742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8210B-2205-4FE8-9CAB-4AD0065B246C}"/>
              </a:ext>
            </a:extLst>
          </p:cNvPr>
          <p:cNvSpPr>
            <a:spLocks noGrp="1"/>
          </p:cNvSpPr>
          <p:nvPr/>
        </p:nvSpPr>
        <p:spPr>
          <a:xfrm>
            <a:off x="2298519" y="525780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Muestra 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0C080EF-B3B1-4BCC-B3E3-A78BB3F6C06A}"/>
              </a:ext>
            </a:extLst>
          </p:cNvPr>
          <p:cNvSpPr>
            <a:spLocks noGrp="1"/>
          </p:cNvSpPr>
          <p:nvPr/>
        </p:nvSpPr>
        <p:spPr>
          <a:xfrm>
            <a:off x="8320224" y="2095500"/>
            <a:ext cx="1619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Ingreso &lt; 820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DD45A2F-3712-40BC-9F72-9070E7E5BE6A}"/>
              </a:ext>
            </a:extLst>
          </p:cNvPr>
          <p:cNvSpPr>
            <a:spLocks noGrp="1"/>
          </p:cNvSpPr>
          <p:nvPr/>
        </p:nvSpPr>
        <p:spPr>
          <a:xfrm>
            <a:off x="7224849" y="3286125"/>
            <a:ext cx="17621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D6D8E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Antigüedad &lt; 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879177B-B2D7-491C-9BE4-863D4BF7CA11}"/>
              </a:ext>
            </a:extLst>
          </p:cNvPr>
          <p:cNvSpPr>
            <a:spLocks noGrp="1"/>
          </p:cNvSpPr>
          <p:nvPr/>
        </p:nvSpPr>
        <p:spPr>
          <a:xfrm>
            <a:off x="9701349" y="3286125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Compra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B6A7120-5008-4D7A-9434-3C7967986E6B}"/>
              </a:ext>
            </a:extLst>
          </p:cNvPr>
          <p:cNvSpPr>
            <a:spLocks noGrp="1"/>
          </p:cNvSpPr>
          <p:nvPr/>
        </p:nvSpPr>
        <p:spPr>
          <a:xfrm>
            <a:off x="7005774" y="4527913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C95757"/>
          </a:solidFill>
          <a:ln w="19050">
            <a:solidFill>
              <a:srgbClr val="C95757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compra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CC56730-FF92-453D-93AE-159458E1E8D3}"/>
              </a:ext>
            </a:extLst>
          </p:cNvPr>
          <p:cNvSpPr>
            <a:spLocks noGrp="1"/>
          </p:cNvSpPr>
          <p:nvPr/>
        </p:nvSpPr>
        <p:spPr>
          <a:xfrm>
            <a:off x="9034599" y="4524375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Compra</a:t>
            </a:r>
          </a:p>
        </p:txBody>
      </p:sp>
      <p:cxnSp>
        <p:nvCxnSpPr>
          <p:cNvPr id="49" name="Elbow Connector 48"/>
          <p:cNvCxnSpPr>
            <a:stCxn id="17" idx="2"/>
            <a:endCxn id="18" idx="0"/>
          </p:cNvCxnSpPr>
          <p:nvPr/>
        </p:nvCxnSpPr>
        <p:spPr>
          <a:xfrm flipH="1">
            <a:off x="8105912" y="2590800"/>
            <a:ext cx="1023938" cy="6953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4B64E"/>
            </a:solidFill>
            <a:prstDash val="solid"/>
          </a:ln>
        </p:spPr>
      </p:cxnSp>
      <p:cxnSp>
        <p:nvCxnSpPr>
          <p:cNvPr id="50" name="Elbow Connector 49"/>
          <p:cNvCxnSpPr>
            <a:stCxn id="17" idx="2"/>
            <a:endCxn id="19" idx="0"/>
          </p:cNvCxnSpPr>
          <p:nvPr/>
        </p:nvCxnSpPr>
        <p:spPr>
          <a:xfrm>
            <a:off x="9129849" y="2590800"/>
            <a:ext cx="1190625" cy="6953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4B64E"/>
            </a:solidFill>
            <a:prstDash val="solid"/>
          </a:ln>
        </p:spPr>
      </p:cxnSp>
      <p:cxnSp>
        <p:nvCxnSpPr>
          <p:cNvPr id="51" name="Elbow Connector 50"/>
          <p:cNvCxnSpPr>
            <a:stCxn id="18" idx="2"/>
            <a:endCxn id="20" idx="0"/>
          </p:cNvCxnSpPr>
          <p:nvPr/>
        </p:nvCxnSpPr>
        <p:spPr>
          <a:xfrm rot="5400000">
            <a:off x="7539787" y="3961788"/>
            <a:ext cx="746488" cy="385763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cxnSp>
        <p:nvCxnSpPr>
          <p:cNvPr id="52" name="Elbow Connector 51"/>
          <p:cNvCxnSpPr>
            <a:stCxn id="18" idx="2"/>
            <a:endCxn id="21" idx="0"/>
          </p:cNvCxnSpPr>
          <p:nvPr/>
        </p:nvCxnSpPr>
        <p:spPr>
          <a:xfrm>
            <a:off x="8105912" y="3781425"/>
            <a:ext cx="1547813" cy="742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D6D8E"/>
            </a:solidFill>
            <a:prstDash val="soli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BC1D7D6-ED78-46AE-A662-5D8F2DB0DFC3}"/>
              </a:ext>
            </a:extLst>
          </p:cNvPr>
          <p:cNvSpPr>
            <a:spLocks noGrp="1"/>
          </p:cNvSpPr>
          <p:nvPr/>
        </p:nvSpPr>
        <p:spPr>
          <a:xfrm>
            <a:off x="8463099" y="541020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 err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Muestra</a:t>
            </a:r>
            <a:r>
              <a:rPr sz="1350" b="1" dirty="0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 B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90A62A0-CA36-4243-AB74-F5D4E3A5EC75}"/>
              </a:ext>
            </a:extLst>
          </p:cNvPr>
          <p:cNvSpPr>
            <a:spLocks noGrp="1"/>
          </p:cNvSpPr>
          <p:nvPr/>
        </p:nvSpPr>
        <p:spPr>
          <a:xfrm>
            <a:off x="6019800" y="1714500"/>
            <a:ext cx="0" cy="400050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6706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08065A7-DF50-4AE6-BD4C-FBA65070C65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Modelos ensamblados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4618F-D90E-4998-9617-35A900A6CE94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61C60-AC98-442B-A7C8-CEAF8B9811EE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6E0F10-50EF-4030-A1BA-FA63439574B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97B39-2581-4578-A863-166FAF97F2C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4/18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A793D8-0CD2-40F7-A5CC-ACCC7D28879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Un ensamblado combina varios modelos base para producir una sola predicción.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F358C3-87B5-429C-95B9-816BE82DA9CE}"/>
              </a:ext>
            </a:extLst>
          </p:cNvPr>
          <p:cNvSpPr>
            <a:spLocks noGrp="1"/>
          </p:cNvSpPr>
          <p:nvPr/>
        </p:nvSpPr>
        <p:spPr>
          <a:xfrm>
            <a:off x="609600" y="2805112"/>
            <a:ext cx="1285875" cy="666750"/>
          </a:xfrm>
          <a:prstGeom prst="roundRect">
            <a:avLst>
              <a:gd name="adj" fmla="val 11429"/>
            </a:avLst>
          </a:prstGeom>
          <a:solidFill>
            <a:srgbClr val="071B2D"/>
          </a:solidFill>
          <a:ln w="19050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383EE0-968B-4906-934E-D6AA9A469A89}"/>
              </a:ext>
            </a:extLst>
          </p:cNvPr>
          <p:cNvSpPr>
            <a:spLocks noGrp="1"/>
          </p:cNvSpPr>
          <p:nvPr/>
        </p:nvSpPr>
        <p:spPr>
          <a:xfrm>
            <a:off x="3190875" y="1809750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Modelo 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D1BC9E-635C-4439-9B83-C5D0E718B3CD}"/>
              </a:ext>
            </a:extLst>
          </p:cNvPr>
          <p:cNvSpPr>
            <a:spLocks noGrp="1"/>
          </p:cNvSpPr>
          <p:nvPr/>
        </p:nvSpPr>
        <p:spPr>
          <a:xfrm>
            <a:off x="3190875" y="2857500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Modelo 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277253-5901-44DE-9CFD-B6EB81ECFF42}"/>
              </a:ext>
            </a:extLst>
          </p:cNvPr>
          <p:cNvSpPr>
            <a:spLocks noGrp="1"/>
          </p:cNvSpPr>
          <p:nvPr/>
        </p:nvSpPr>
        <p:spPr>
          <a:xfrm>
            <a:off x="3190875" y="3905250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Modelo 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0A263B-9297-409A-A226-86B8271EFD42}"/>
              </a:ext>
            </a:extLst>
          </p:cNvPr>
          <p:cNvSpPr>
            <a:spLocks noGrp="1"/>
          </p:cNvSpPr>
          <p:nvPr/>
        </p:nvSpPr>
        <p:spPr>
          <a:xfrm>
            <a:off x="6065520" y="2805112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Agregación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108F17-00F2-41A4-B2DD-0ED908B3AC8C}"/>
              </a:ext>
            </a:extLst>
          </p:cNvPr>
          <p:cNvSpPr>
            <a:spLocks noGrp="1"/>
          </p:cNvSpPr>
          <p:nvPr/>
        </p:nvSpPr>
        <p:spPr>
          <a:xfrm>
            <a:off x="9181556" y="2805112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Predicción final</a:t>
            </a:r>
          </a:p>
        </p:txBody>
      </p:sp>
      <p:cxnSp>
        <p:nvCxnSpPr>
          <p:cNvPr id="34" name="Elbow Connector 33"/>
          <p:cNvCxnSpPr>
            <a:stCxn id="7" idx="3"/>
            <a:endCxn id="8" idx="1"/>
          </p:cNvCxnSpPr>
          <p:nvPr/>
        </p:nvCxnSpPr>
        <p:spPr>
          <a:xfrm flipV="1">
            <a:off x="1895475" y="2095500"/>
            <a:ext cx="1295400" cy="1042987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5" name="Elbow Connector 34"/>
          <p:cNvCxnSpPr>
            <a:stCxn id="7" idx="3"/>
            <a:endCxn id="9" idx="1"/>
          </p:cNvCxnSpPr>
          <p:nvPr/>
        </p:nvCxnSpPr>
        <p:spPr>
          <a:xfrm>
            <a:off x="1895475" y="3138487"/>
            <a:ext cx="1295400" cy="4763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6" name="Elbow Connector 35"/>
          <p:cNvCxnSpPr>
            <a:stCxn id="7" idx="3"/>
            <a:endCxn id="10" idx="1"/>
          </p:cNvCxnSpPr>
          <p:nvPr/>
        </p:nvCxnSpPr>
        <p:spPr>
          <a:xfrm>
            <a:off x="1895475" y="3138487"/>
            <a:ext cx="1295400" cy="1052513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7" name="Elbow Connector 36"/>
          <p:cNvCxnSpPr>
            <a:stCxn id="8" idx="3"/>
            <a:endCxn id="11" idx="1"/>
          </p:cNvCxnSpPr>
          <p:nvPr/>
        </p:nvCxnSpPr>
        <p:spPr>
          <a:xfrm>
            <a:off x="4619625" y="2095500"/>
            <a:ext cx="1445895" cy="1042987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8" name="Elbow Connector 37"/>
          <p:cNvCxnSpPr>
            <a:stCxn id="9" idx="3"/>
            <a:endCxn id="11" idx="1"/>
          </p:cNvCxnSpPr>
          <p:nvPr/>
        </p:nvCxnSpPr>
        <p:spPr>
          <a:xfrm flipV="1">
            <a:off x="4619625" y="3138487"/>
            <a:ext cx="1445895" cy="4763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9" name="Elbow Connector 38"/>
          <p:cNvCxnSpPr>
            <a:stCxn id="10" idx="3"/>
            <a:endCxn id="11" idx="1"/>
          </p:cNvCxnSpPr>
          <p:nvPr/>
        </p:nvCxnSpPr>
        <p:spPr>
          <a:xfrm flipV="1">
            <a:off x="4619625" y="3138487"/>
            <a:ext cx="1445895" cy="1052513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40" name="Straight Arrow Connector 39"/>
          <p:cNvCxnSpPr>
            <a:stCxn id="11" idx="3"/>
            <a:endCxn id="12" idx="1"/>
          </p:cNvCxnSpPr>
          <p:nvPr/>
        </p:nvCxnSpPr>
        <p:spPr>
          <a:xfrm>
            <a:off x="7684770" y="3138487"/>
            <a:ext cx="1496786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97D68-784A-4FE6-8F61-C221313BDC1B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Beneficio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DA0BC4-86C5-4F4E-9778-B370A6E35C1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096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Si los modelos cometen errores parcialmente distintos, la agregación reduce el error que depende de una muestra particular.</a:t>
            </a:r>
          </a:p>
        </p:txBody>
      </p:sp>
    </p:spTree>
    <p:extLst>
      <p:ext uri="{BB962C8B-B14F-4D97-AF65-F5344CB8AC3E}">
        <p14:creationId xmlns:p14="http://schemas.microsoft.com/office/powerpoint/2010/main" val="39261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39C26AE7-450C-4202-ADE5-8E09065B995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Muestreo bootstrap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7FF43-FEB2-47D7-B6ED-94B6C52B6C6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51F7CE-F076-4662-BC13-269B4E200D3B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E6EC9-B119-4A46-AD88-258646C2297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1DFF9F-CCD3-4179-9A03-74AF22F1DC0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5/18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8B85CF-C471-428D-8E35-68F6B4AD88BA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Cada muestra bootstrap tiene n observaciones extraídas con reemplazo desde los datos originales.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30F48-5910-40E1-90BE-7DE74B805C2B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Datos originales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E57E88-A050-4964-80B4-40565FD07538}"/>
              </a:ext>
            </a:extLst>
          </p:cNvPr>
          <p:cNvSpPr>
            <a:spLocks noGrp="1"/>
          </p:cNvSpPr>
          <p:nvPr/>
        </p:nvSpPr>
        <p:spPr>
          <a:xfrm>
            <a:off x="285750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C5D07-1EF9-4927-97F0-7A1D192BABCF}"/>
              </a:ext>
            </a:extLst>
          </p:cNvPr>
          <p:cNvSpPr>
            <a:spLocks noGrp="1"/>
          </p:cNvSpPr>
          <p:nvPr/>
        </p:nvSpPr>
        <p:spPr>
          <a:xfrm>
            <a:off x="285750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46EFD3-11E8-43C4-A13E-00B94414416A}"/>
              </a:ext>
            </a:extLst>
          </p:cNvPr>
          <p:cNvSpPr>
            <a:spLocks noGrp="1"/>
          </p:cNvSpPr>
          <p:nvPr/>
        </p:nvSpPr>
        <p:spPr>
          <a:xfrm>
            <a:off x="356235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D8358C-D78F-412B-A597-34597569FD35}"/>
              </a:ext>
            </a:extLst>
          </p:cNvPr>
          <p:cNvSpPr>
            <a:spLocks noGrp="1"/>
          </p:cNvSpPr>
          <p:nvPr/>
        </p:nvSpPr>
        <p:spPr>
          <a:xfrm>
            <a:off x="356235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B63568-32EF-4FBC-8ACF-01DAD51BAF51}"/>
              </a:ext>
            </a:extLst>
          </p:cNvPr>
          <p:cNvSpPr>
            <a:spLocks noGrp="1"/>
          </p:cNvSpPr>
          <p:nvPr/>
        </p:nvSpPr>
        <p:spPr>
          <a:xfrm>
            <a:off x="426720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5C4DC-0262-4401-954D-F7627AB67B8B}"/>
              </a:ext>
            </a:extLst>
          </p:cNvPr>
          <p:cNvSpPr>
            <a:spLocks noGrp="1"/>
          </p:cNvSpPr>
          <p:nvPr/>
        </p:nvSpPr>
        <p:spPr>
          <a:xfrm>
            <a:off x="426720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D4580A-0FE8-40E9-B832-053C76980E0F}"/>
              </a:ext>
            </a:extLst>
          </p:cNvPr>
          <p:cNvSpPr>
            <a:spLocks noGrp="1"/>
          </p:cNvSpPr>
          <p:nvPr/>
        </p:nvSpPr>
        <p:spPr>
          <a:xfrm>
            <a:off x="497205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50C5D0-00C6-4285-981C-10A97D4886A8}"/>
              </a:ext>
            </a:extLst>
          </p:cNvPr>
          <p:cNvSpPr>
            <a:spLocks noGrp="1"/>
          </p:cNvSpPr>
          <p:nvPr/>
        </p:nvSpPr>
        <p:spPr>
          <a:xfrm>
            <a:off x="497205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6B255A-B919-4193-AB4D-D788985A3C7D}"/>
              </a:ext>
            </a:extLst>
          </p:cNvPr>
          <p:cNvSpPr>
            <a:spLocks noGrp="1"/>
          </p:cNvSpPr>
          <p:nvPr/>
        </p:nvSpPr>
        <p:spPr>
          <a:xfrm>
            <a:off x="567690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B2FC49-89A7-43F3-8CD3-359DE437BEF9}"/>
              </a:ext>
            </a:extLst>
          </p:cNvPr>
          <p:cNvSpPr>
            <a:spLocks noGrp="1"/>
          </p:cNvSpPr>
          <p:nvPr/>
        </p:nvSpPr>
        <p:spPr>
          <a:xfrm>
            <a:off x="567690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D530C6-D9EE-4C9F-8CCF-0CB892A32316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8300D3-A647-4085-B84D-F7C1783EF09F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A1D72-D40B-4960-91E6-DD732F171075}"/>
              </a:ext>
            </a:extLst>
          </p:cNvPr>
          <p:cNvSpPr>
            <a:spLocks noGrp="1"/>
          </p:cNvSpPr>
          <p:nvPr/>
        </p:nvSpPr>
        <p:spPr>
          <a:xfrm>
            <a:off x="708660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58C026-F0D8-4029-9BE5-779C33001BB2}"/>
              </a:ext>
            </a:extLst>
          </p:cNvPr>
          <p:cNvSpPr>
            <a:spLocks noGrp="1"/>
          </p:cNvSpPr>
          <p:nvPr/>
        </p:nvSpPr>
        <p:spPr>
          <a:xfrm>
            <a:off x="708660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DD740B-137C-415F-B627-E7F35D28CA04}"/>
              </a:ext>
            </a:extLst>
          </p:cNvPr>
          <p:cNvSpPr>
            <a:spLocks noGrp="1"/>
          </p:cNvSpPr>
          <p:nvPr/>
        </p:nvSpPr>
        <p:spPr>
          <a:xfrm>
            <a:off x="7791450" y="1885950"/>
            <a:ext cx="476250" cy="476250"/>
          </a:xfrm>
          <a:prstGeom prst="ellipse">
            <a:avLst/>
          </a:prstGeom>
          <a:solidFill>
            <a:srgbClr val="071B2D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AF3115-BEFE-4620-A52A-B2EDBC7E3605}"/>
              </a:ext>
            </a:extLst>
          </p:cNvPr>
          <p:cNvSpPr>
            <a:spLocks noGrp="1"/>
          </p:cNvSpPr>
          <p:nvPr/>
        </p:nvSpPr>
        <p:spPr>
          <a:xfrm>
            <a:off x="7791450" y="18859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2D0BEC-AA53-4F2A-AC04-4652CA3408F8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Bootstrap 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2FDB82-5046-4898-8C2F-5576EB3BCDE2}"/>
              </a:ext>
            </a:extLst>
          </p:cNvPr>
          <p:cNvSpPr>
            <a:spLocks noGrp="1"/>
          </p:cNvSpPr>
          <p:nvPr/>
        </p:nvSpPr>
        <p:spPr>
          <a:xfrm>
            <a:off x="285750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6D904-BC2E-4B1F-9E9B-711B33BB3985}"/>
              </a:ext>
            </a:extLst>
          </p:cNvPr>
          <p:cNvSpPr>
            <a:spLocks noGrp="1"/>
          </p:cNvSpPr>
          <p:nvPr/>
        </p:nvSpPr>
        <p:spPr>
          <a:xfrm>
            <a:off x="285750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0376FFA-6DEA-460A-A4EC-4DC049EA7BEC}"/>
              </a:ext>
            </a:extLst>
          </p:cNvPr>
          <p:cNvSpPr>
            <a:spLocks noGrp="1"/>
          </p:cNvSpPr>
          <p:nvPr/>
        </p:nvSpPr>
        <p:spPr>
          <a:xfrm>
            <a:off x="356235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910B2C-CE88-48B2-BC60-87C8503B4659}"/>
              </a:ext>
            </a:extLst>
          </p:cNvPr>
          <p:cNvSpPr>
            <a:spLocks noGrp="1"/>
          </p:cNvSpPr>
          <p:nvPr/>
        </p:nvSpPr>
        <p:spPr>
          <a:xfrm>
            <a:off x="356235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1506536-5E4A-43EF-9A6F-362523E85020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B3D10D-987C-4C27-9FC7-94CEFBA273BB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978FA35-F27D-4D12-8F19-9B686B2AFD31}"/>
              </a:ext>
            </a:extLst>
          </p:cNvPr>
          <p:cNvSpPr>
            <a:spLocks noGrp="1"/>
          </p:cNvSpPr>
          <p:nvPr/>
        </p:nvSpPr>
        <p:spPr>
          <a:xfrm>
            <a:off x="497205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517CB3-D96F-498B-860B-3BD67688474B}"/>
              </a:ext>
            </a:extLst>
          </p:cNvPr>
          <p:cNvSpPr>
            <a:spLocks noGrp="1"/>
          </p:cNvSpPr>
          <p:nvPr/>
        </p:nvSpPr>
        <p:spPr>
          <a:xfrm>
            <a:off x="497205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7A238D-2D42-4E67-ADC7-8BDE90B7055A}"/>
              </a:ext>
            </a:extLst>
          </p:cNvPr>
          <p:cNvSpPr>
            <a:spLocks noGrp="1"/>
          </p:cNvSpPr>
          <p:nvPr/>
        </p:nvSpPr>
        <p:spPr>
          <a:xfrm>
            <a:off x="567690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B575B2-6A3B-43F1-93F8-522A0E09F003}"/>
              </a:ext>
            </a:extLst>
          </p:cNvPr>
          <p:cNvSpPr>
            <a:spLocks noGrp="1"/>
          </p:cNvSpPr>
          <p:nvPr/>
        </p:nvSpPr>
        <p:spPr>
          <a:xfrm>
            <a:off x="567690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F71B9F0-401B-4776-A166-5D86E4247D24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65C679-221E-4AB3-9E71-0D839A39E276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6D7589-DF28-4E48-939E-18C171F5D59E}"/>
              </a:ext>
            </a:extLst>
          </p:cNvPr>
          <p:cNvSpPr>
            <a:spLocks noGrp="1"/>
          </p:cNvSpPr>
          <p:nvPr/>
        </p:nvSpPr>
        <p:spPr>
          <a:xfrm>
            <a:off x="708660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7752DF5-2871-49E3-991E-BD49A029104D}"/>
              </a:ext>
            </a:extLst>
          </p:cNvPr>
          <p:cNvSpPr>
            <a:spLocks noGrp="1"/>
          </p:cNvSpPr>
          <p:nvPr/>
        </p:nvSpPr>
        <p:spPr>
          <a:xfrm>
            <a:off x="708660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A50C0BA-200F-451F-A74F-52B052F5D761}"/>
              </a:ext>
            </a:extLst>
          </p:cNvPr>
          <p:cNvSpPr>
            <a:spLocks noGrp="1"/>
          </p:cNvSpPr>
          <p:nvPr/>
        </p:nvSpPr>
        <p:spPr>
          <a:xfrm>
            <a:off x="7791450" y="2800350"/>
            <a:ext cx="457200" cy="457200"/>
          </a:xfrm>
          <a:prstGeom prst="ellipse">
            <a:avLst/>
          </a:prstGeom>
          <a:solidFill>
            <a:srgbClr val="CDECEA"/>
          </a:solidFill>
          <a:ln w="9525">
            <a:solidFill>
              <a:srgbClr val="17B6B0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57C763-D3EE-4895-9977-702DD4565C2D}"/>
              </a:ext>
            </a:extLst>
          </p:cNvPr>
          <p:cNvSpPr>
            <a:spLocks noGrp="1"/>
          </p:cNvSpPr>
          <p:nvPr/>
        </p:nvSpPr>
        <p:spPr>
          <a:xfrm>
            <a:off x="7791450" y="28003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82E844-9867-4935-A42A-5DDC1F27693C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Bootstrap 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6D98E90-0B38-44B5-8EF3-ACB6D9BAAC35}"/>
              </a:ext>
            </a:extLst>
          </p:cNvPr>
          <p:cNvSpPr>
            <a:spLocks noGrp="1"/>
          </p:cNvSpPr>
          <p:nvPr/>
        </p:nvSpPr>
        <p:spPr>
          <a:xfrm>
            <a:off x="285750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5E7073-A61D-45EC-A7D9-B1BE6B46A3EC}"/>
              </a:ext>
            </a:extLst>
          </p:cNvPr>
          <p:cNvSpPr>
            <a:spLocks noGrp="1"/>
          </p:cNvSpPr>
          <p:nvPr/>
        </p:nvSpPr>
        <p:spPr>
          <a:xfrm>
            <a:off x="285750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129B8C9-F157-4505-9D83-390137E757F3}"/>
              </a:ext>
            </a:extLst>
          </p:cNvPr>
          <p:cNvSpPr>
            <a:spLocks noGrp="1"/>
          </p:cNvSpPr>
          <p:nvPr/>
        </p:nvSpPr>
        <p:spPr>
          <a:xfrm>
            <a:off x="356235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368B1F-510B-420C-A05E-3B8E510704CC}"/>
              </a:ext>
            </a:extLst>
          </p:cNvPr>
          <p:cNvSpPr>
            <a:spLocks noGrp="1"/>
          </p:cNvSpPr>
          <p:nvPr/>
        </p:nvSpPr>
        <p:spPr>
          <a:xfrm>
            <a:off x="356235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299E4B2-EDF1-458C-ABA4-F0C55778BEBA}"/>
              </a:ext>
            </a:extLst>
          </p:cNvPr>
          <p:cNvSpPr>
            <a:spLocks noGrp="1"/>
          </p:cNvSpPr>
          <p:nvPr/>
        </p:nvSpPr>
        <p:spPr>
          <a:xfrm>
            <a:off x="426720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2BFD42-70C8-4A7F-B437-F300C331FBEF}"/>
              </a:ext>
            </a:extLst>
          </p:cNvPr>
          <p:cNvSpPr>
            <a:spLocks noGrp="1"/>
          </p:cNvSpPr>
          <p:nvPr/>
        </p:nvSpPr>
        <p:spPr>
          <a:xfrm>
            <a:off x="426720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D9775B1-D62C-4848-AF52-197E8C7DE698}"/>
              </a:ext>
            </a:extLst>
          </p:cNvPr>
          <p:cNvSpPr>
            <a:spLocks noGrp="1"/>
          </p:cNvSpPr>
          <p:nvPr/>
        </p:nvSpPr>
        <p:spPr>
          <a:xfrm>
            <a:off x="497205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46F894-DBE9-4916-ACB5-B96ADCB6D7B6}"/>
              </a:ext>
            </a:extLst>
          </p:cNvPr>
          <p:cNvSpPr>
            <a:spLocks noGrp="1"/>
          </p:cNvSpPr>
          <p:nvPr/>
        </p:nvSpPr>
        <p:spPr>
          <a:xfrm>
            <a:off x="497205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A25822F-A51E-445E-BB9A-FC430A8B39B4}"/>
              </a:ext>
            </a:extLst>
          </p:cNvPr>
          <p:cNvSpPr>
            <a:spLocks noGrp="1"/>
          </p:cNvSpPr>
          <p:nvPr/>
        </p:nvSpPr>
        <p:spPr>
          <a:xfrm>
            <a:off x="567690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CF40CDC-3BA7-44F6-96A6-8AA9EA9FA816}"/>
              </a:ext>
            </a:extLst>
          </p:cNvPr>
          <p:cNvSpPr>
            <a:spLocks noGrp="1"/>
          </p:cNvSpPr>
          <p:nvPr/>
        </p:nvSpPr>
        <p:spPr>
          <a:xfrm>
            <a:off x="567690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A86F2EC-6239-431A-9C61-6EF09063BFEF}"/>
              </a:ext>
            </a:extLst>
          </p:cNvPr>
          <p:cNvSpPr>
            <a:spLocks noGrp="1"/>
          </p:cNvSpPr>
          <p:nvPr/>
        </p:nvSpPr>
        <p:spPr>
          <a:xfrm>
            <a:off x="638175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CDD5C31-9E2B-43BA-89ED-C6D981CE0B5D}"/>
              </a:ext>
            </a:extLst>
          </p:cNvPr>
          <p:cNvSpPr>
            <a:spLocks noGrp="1"/>
          </p:cNvSpPr>
          <p:nvPr/>
        </p:nvSpPr>
        <p:spPr>
          <a:xfrm>
            <a:off x="638175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6027838-9F9C-4055-A4CE-3A0AA47AED3F}"/>
              </a:ext>
            </a:extLst>
          </p:cNvPr>
          <p:cNvSpPr>
            <a:spLocks noGrp="1"/>
          </p:cNvSpPr>
          <p:nvPr/>
        </p:nvSpPr>
        <p:spPr>
          <a:xfrm>
            <a:off x="708660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47835C2-BD90-48F1-BA82-C0C8306B176C}"/>
              </a:ext>
            </a:extLst>
          </p:cNvPr>
          <p:cNvSpPr>
            <a:spLocks noGrp="1"/>
          </p:cNvSpPr>
          <p:nvPr/>
        </p:nvSpPr>
        <p:spPr>
          <a:xfrm>
            <a:off x="708660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0D733CA-C48C-461E-B10A-7F2278A4BF87}"/>
              </a:ext>
            </a:extLst>
          </p:cNvPr>
          <p:cNvSpPr>
            <a:spLocks noGrp="1"/>
          </p:cNvSpPr>
          <p:nvPr/>
        </p:nvSpPr>
        <p:spPr>
          <a:xfrm>
            <a:off x="7791450" y="3771900"/>
            <a:ext cx="457200" cy="457200"/>
          </a:xfrm>
          <a:prstGeom prst="ellipse">
            <a:avLst/>
          </a:prstGeom>
          <a:solidFill>
            <a:srgbClr val="FBE8C6"/>
          </a:solidFill>
          <a:ln w="9525">
            <a:solidFill>
              <a:srgbClr val="F4B64E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94436E9-AC8E-4C14-90E7-270DB78DAA7B}"/>
              </a:ext>
            </a:extLst>
          </p:cNvPr>
          <p:cNvSpPr>
            <a:spLocks noGrp="1"/>
          </p:cNvSpPr>
          <p:nvPr/>
        </p:nvSpPr>
        <p:spPr>
          <a:xfrm>
            <a:off x="7791450" y="3771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1D9A678-1429-4B0E-BFCC-0402BF719809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6F65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F65A8"/>
                </a:solidFill>
                <a:latin typeface="Helvetica Neue"/>
                <a:ea typeface="Helvetica Neue"/>
                <a:cs typeface="Helvetica Neue"/>
              </a:rPr>
              <a:t>Bootstrap 3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F51256D-F14A-44B4-8A10-57ACE0A8AB4D}"/>
              </a:ext>
            </a:extLst>
          </p:cNvPr>
          <p:cNvSpPr>
            <a:spLocks noGrp="1"/>
          </p:cNvSpPr>
          <p:nvPr/>
        </p:nvSpPr>
        <p:spPr>
          <a:xfrm>
            <a:off x="285750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FC5D1FB-296E-471D-B8F6-F910CE097506}"/>
              </a:ext>
            </a:extLst>
          </p:cNvPr>
          <p:cNvSpPr>
            <a:spLocks noGrp="1"/>
          </p:cNvSpPr>
          <p:nvPr/>
        </p:nvSpPr>
        <p:spPr>
          <a:xfrm>
            <a:off x="285750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018FAF7-B78D-487F-8359-B019CAB3EB96}"/>
              </a:ext>
            </a:extLst>
          </p:cNvPr>
          <p:cNvSpPr>
            <a:spLocks noGrp="1"/>
          </p:cNvSpPr>
          <p:nvPr/>
        </p:nvSpPr>
        <p:spPr>
          <a:xfrm>
            <a:off x="356235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E9C67B-3660-4094-91EA-77CCAEA3B356}"/>
              </a:ext>
            </a:extLst>
          </p:cNvPr>
          <p:cNvSpPr>
            <a:spLocks noGrp="1"/>
          </p:cNvSpPr>
          <p:nvPr/>
        </p:nvSpPr>
        <p:spPr>
          <a:xfrm>
            <a:off x="356235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0F9102A-77DC-4DAC-B3F2-B6C01A96A68F}"/>
              </a:ext>
            </a:extLst>
          </p:cNvPr>
          <p:cNvSpPr>
            <a:spLocks noGrp="1"/>
          </p:cNvSpPr>
          <p:nvPr/>
        </p:nvSpPr>
        <p:spPr>
          <a:xfrm>
            <a:off x="426720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2BF9942-CD07-4B0A-A247-02FC60BE3EF2}"/>
              </a:ext>
            </a:extLst>
          </p:cNvPr>
          <p:cNvSpPr>
            <a:spLocks noGrp="1"/>
          </p:cNvSpPr>
          <p:nvPr/>
        </p:nvSpPr>
        <p:spPr>
          <a:xfrm>
            <a:off x="426720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DF4825D-3777-46AA-88F1-5D92FADE9A28}"/>
              </a:ext>
            </a:extLst>
          </p:cNvPr>
          <p:cNvSpPr>
            <a:spLocks noGrp="1"/>
          </p:cNvSpPr>
          <p:nvPr/>
        </p:nvSpPr>
        <p:spPr>
          <a:xfrm>
            <a:off x="497205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9A0AB82-5803-4AD9-B00C-C954D640C7BB}"/>
              </a:ext>
            </a:extLst>
          </p:cNvPr>
          <p:cNvSpPr>
            <a:spLocks noGrp="1"/>
          </p:cNvSpPr>
          <p:nvPr/>
        </p:nvSpPr>
        <p:spPr>
          <a:xfrm>
            <a:off x="497205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990B6B1-1054-4D2E-B4F5-3456192B2643}"/>
              </a:ext>
            </a:extLst>
          </p:cNvPr>
          <p:cNvSpPr>
            <a:spLocks noGrp="1"/>
          </p:cNvSpPr>
          <p:nvPr/>
        </p:nvSpPr>
        <p:spPr>
          <a:xfrm>
            <a:off x="567690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710DC04-C983-4E11-96C4-671FC9A2BF09}"/>
              </a:ext>
            </a:extLst>
          </p:cNvPr>
          <p:cNvSpPr>
            <a:spLocks noGrp="1"/>
          </p:cNvSpPr>
          <p:nvPr/>
        </p:nvSpPr>
        <p:spPr>
          <a:xfrm>
            <a:off x="567690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A11209E-5CB3-4550-99D0-BC238A8E60E4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EEB240F-EA09-4780-936D-F6F3AE2A6704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D40589A-E518-4B71-B21E-9CE678067E59}"/>
              </a:ext>
            </a:extLst>
          </p:cNvPr>
          <p:cNvSpPr>
            <a:spLocks noGrp="1"/>
          </p:cNvSpPr>
          <p:nvPr/>
        </p:nvSpPr>
        <p:spPr>
          <a:xfrm>
            <a:off x="708660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CF8785D-9627-4CC9-92BB-416849EF85B3}"/>
              </a:ext>
            </a:extLst>
          </p:cNvPr>
          <p:cNvSpPr>
            <a:spLocks noGrp="1"/>
          </p:cNvSpPr>
          <p:nvPr/>
        </p:nvSpPr>
        <p:spPr>
          <a:xfrm>
            <a:off x="708660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350B63D-20AA-4C57-AC3B-3EDEA1BFFF5E}"/>
              </a:ext>
            </a:extLst>
          </p:cNvPr>
          <p:cNvSpPr>
            <a:spLocks noGrp="1"/>
          </p:cNvSpPr>
          <p:nvPr/>
        </p:nvSpPr>
        <p:spPr>
          <a:xfrm>
            <a:off x="7791450" y="4743450"/>
            <a:ext cx="457200" cy="457200"/>
          </a:xfrm>
          <a:prstGeom prst="ellipse">
            <a:avLst/>
          </a:prstGeom>
          <a:solidFill>
            <a:srgbClr val="E4E0F2"/>
          </a:solidFill>
          <a:ln w="9525">
            <a:solidFill>
              <a:srgbClr val="6F65A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917A957-5EDD-4788-B0E3-2FAFFF1D07DE}"/>
              </a:ext>
            </a:extLst>
          </p:cNvPr>
          <p:cNvSpPr>
            <a:spLocks noGrp="1"/>
          </p:cNvSpPr>
          <p:nvPr/>
        </p:nvSpPr>
        <p:spPr>
          <a:xfrm>
            <a:off x="7791450" y="47434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57FA11B-FBCF-4920-8BE8-0B073D3F6738}"/>
              </a:ext>
            </a:extLst>
          </p:cNvPr>
          <p:cNvSpPr>
            <a:spLocks noGrp="1"/>
          </p:cNvSpPr>
          <p:nvPr/>
        </p:nvSpPr>
        <p:spPr>
          <a:xfrm>
            <a:off x="9429750" y="2476500"/>
            <a:ext cx="1809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≈ 63,2%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180C8DA-48D7-41CC-829F-F3B29B7EE99F}"/>
              </a:ext>
            </a:extLst>
          </p:cNvPr>
          <p:cNvSpPr>
            <a:spLocks noGrp="1"/>
          </p:cNvSpPr>
          <p:nvPr/>
        </p:nvSpPr>
        <p:spPr>
          <a:xfrm>
            <a:off x="9448800" y="3286125"/>
            <a:ext cx="18097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observaciones únicas esperadas en una muestra grande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6EA477F-1363-42C3-A969-DC7F2E94E97F}"/>
              </a:ext>
            </a:extLst>
          </p:cNvPr>
          <p:cNvSpPr>
            <a:spLocks noGrp="1"/>
          </p:cNvSpPr>
          <p:nvPr/>
        </p:nvSpPr>
        <p:spPr>
          <a:xfrm>
            <a:off x="723900" y="59626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Las repeticiones crean conjuntos de entrenamiento distintos sin recolectar datos nuevos.</a:t>
            </a:r>
          </a:p>
        </p:txBody>
      </p:sp>
    </p:spTree>
    <p:extLst>
      <p:ext uri="{BB962C8B-B14F-4D97-AF65-F5344CB8AC3E}">
        <p14:creationId xmlns:p14="http://schemas.microsoft.com/office/powerpoint/2010/main" val="175153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1C09FEE-95B8-4F23-BF6A-AD3160CC769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Observaciones fuera de bolsa (OOB)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81E46A-C022-447D-A3F2-37A9881A075D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A9350-0120-4A70-8789-B45C27B39605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A9B69-610D-440B-B516-6D372EF27AB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5A0890-1061-4E43-9D38-2765A6A2A84C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6/18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A98238-97F7-458C-AAC6-A6C518883E7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Las filas que no entran en una muestra bootstrap sirven como validación interna para ese árbol.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0B2D88-36C1-4276-B82D-EFFC9C3D6DC6}"/>
              </a:ext>
            </a:extLst>
          </p:cNvPr>
          <p:cNvSpPr>
            <a:spLocks noGrp="1"/>
          </p:cNvSpPr>
          <p:nvPr/>
        </p:nvSpPr>
        <p:spPr>
          <a:xfrm>
            <a:off x="751115" y="2314983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071B2D"/>
          </a:solidFill>
          <a:ln w="19050">
            <a:solidFill>
              <a:srgbClr val="071B2D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Bootstrap del árbol 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3F19A1-CC5F-4F52-A177-EE8A8549161B}"/>
              </a:ext>
            </a:extLst>
          </p:cNvPr>
          <p:cNvSpPr>
            <a:spLocks noGrp="1"/>
          </p:cNvSpPr>
          <p:nvPr/>
        </p:nvSpPr>
        <p:spPr>
          <a:xfrm>
            <a:off x="3805918" y="2314983"/>
            <a:ext cx="1714500" cy="723900"/>
          </a:xfrm>
          <a:prstGeom prst="roundRect">
            <a:avLst>
              <a:gd name="adj" fmla="val 10526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Árbol 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1E506A-2E06-47BD-9A75-B9F7FC48B22D}"/>
              </a:ext>
            </a:extLst>
          </p:cNvPr>
          <p:cNvSpPr>
            <a:spLocks noGrp="1"/>
          </p:cNvSpPr>
          <p:nvPr/>
        </p:nvSpPr>
        <p:spPr>
          <a:xfrm>
            <a:off x="1792061" y="4109493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FBE8C6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Filas OOB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49725A-DF03-4231-A27F-8458BFE1FBE5}"/>
              </a:ext>
            </a:extLst>
          </p:cNvPr>
          <p:cNvSpPr>
            <a:spLocks noGrp="1"/>
          </p:cNvSpPr>
          <p:nvPr/>
        </p:nvSpPr>
        <p:spPr>
          <a:xfrm>
            <a:off x="6600553" y="3745094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Predicción y error OOB</a:t>
            </a:r>
          </a:p>
        </p:txBody>
      </p:sp>
      <p:cxnSp>
        <p:nvCxnSpPr>
          <p:cNvPr id="28" name="Straight Arrow Connector 27"/>
          <p:cNvCxnSpPr>
            <a:stCxn id="7" idx="3"/>
            <a:endCxn id="8" idx="1"/>
          </p:cNvCxnSpPr>
          <p:nvPr/>
        </p:nvCxnSpPr>
        <p:spPr>
          <a:xfrm>
            <a:off x="3132365" y="2676933"/>
            <a:ext cx="673553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29" name="Elbow Connector 28"/>
          <p:cNvCxnSpPr>
            <a:stCxn id="8" idx="3"/>
            <a:endCxn id="10" idx="1"/>
          </p:cNvCxnSpPr>
          <p:nvPr/>
        </p:nvCxnSpPr>
        <p:spPr>
          <a:xfrm>
            <a:off x="5520418" y="2676933"/>
            <a:ext cx="1080135" cy="1544411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cxnSp>
        <p:nvCxnSpPr>
          <p:cNvPr id="30" name="Elbow Connector 29"/>
          <p:cNvCxnSpPr>
            <a:stCxn id="9" idx="3"/>
            <a:endCxn id="10" idx="1"/>
          </p:cNvCxnSpPr>
          <p:nvPr/>
        </p:nvCxnSpPr>
        <p:spPr>
          <a:xfrm flipV="1">
            <a:off x="4173311" y="4221344"/>
            <a:ext cx="2427242" cy="250099"/>
          </a:xfrm>
          <a:prstGeom prst="bentConnector3">
            <a:avLst>
              <a:gd name="adj1" fmla="val 50000"/>
            </a:avLst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80315-2F8C-482F-8918-61A2A5A0734E}"/>
              </a:ext>
            </a:extLst>
          </p:cNvPr>
          <p:cNvSpPr>
            <a:spLocks noGrp="1"/>
          </p:cNvSpPr>
          <p:nvPr/>
        </p:nvSpPr>
        <p:spPr>
          <a:xfrm>
            <a:off x="9666786" y="2752725"/>
            <a:ext cx="1714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dirty="0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≈ 36,8%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79436C-87B2-429F-9170-60B3FA1AF2F5}"/>
              </a:ext>
            </a:extLst>
          </p:cNvPr>
          <p:cNvSpPr>
            <a:spLocks noGrp="1"/>
          </p:cNvSpPr>
          <p:nvPr/>
        </p:nvSpPr>
        <p:spPr>
          <a:xfrm>
            <a:off x="9666786" y="3400561"/>
            <a:ext cx="186499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 err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queda</a:t>
            </a:r>
            <a:r>
              <a:rPr sz="1275" b="0" dirty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 fuera de </a:t>
            </a:r>
            <a:r>
              <a:rPr sz="1275" b="0" dirty="0" err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una</a:t>
            </a:r>
            <a:r>
              <a:rPr sz="1275" b="0" dirty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muestra</a:t>
            </a:r>
            <a:r>
              <a:rPr sz="1275" b="0" dirty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 bootstrap grande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DC5496-F5E2-4C6E-B6B6-30FEE99C6277}"/>
              </a:ext>
            </a:extLst>
          </p:cNvPr>
          <p:cNvSpPr>
            <a:spLocks noGrp="1"/>
          </p:cNvSpPr>
          <p:nvPr/>
        </p:nvSpPr>
        <p:spPr>
          <a:xfrm>
            <a:off x="781050" y="55721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Uso principal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69F635-F8A8-4127-99E3-CE8DCC9473DF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Estimar el desempeño sin reservar un conjunto de validación adicional, cuando el modelo implementa OOB.</a:t>
            </a:r>
          </a:p>
        </p:txBody>
      </p:sp>
    </p:spTree>
    <p:extLst>
      <p:ext uri="{BB962C8B-B14F-4D97-AF65-F5344CB8AC3E}">
        <p14:creationId xmlns:p14="http://schemas.microsoft.com/office/powerpoint/2010/main" val="1089824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5A6D36-F6EC-495C-BE69-D49FE6BF80A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Bagging: definición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AB1BFC-9B3C-4E92-BFF8-5750B328E22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C4D34E-8780-4442-B2DD-E6082C745517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0B302B-1BE8-49DB-AFE9-98E25A9AF33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28874-97B1-4714-9863-32F3CDF8F905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7/18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DD02D-3C69-48C6-BA92-929D2CC047F1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2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Bootstrap aggregating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DC62F-217E-48A8-BFE4-39B6D61768CE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Entrena el mismo tipo de modelo sobre muestras bootstrap distintas y agrega sus predicciones.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70098A0-A72A-419A-9685-CCCB17C8F1CD}"/>
              </a:ext>
            </a:extLst>
          </p:cNvPr>
          <p:cNvSpPr>
            <a:spLocks noGrp="1"/>
          </p:cNvSpPr>
          <p:nvPr/>
        </p:nvSpPr>
        <p:spPr>
          <a:xfrm>
            <a:off x="6381750" y="1295400"/>
            <a:ext cx="0" cy="4476750"/>
          </a:xfrm>
          <a:prstGeom prst="line">
            <a:avLst/>
          </a:prstGeom>
          <a:noFill/>
          <a:ln w="19050">
            <a:solidFill>
              <a:srgbClr val="35546A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D21CF3-AB25-45E0-9006-10B548F62235}"/>
              </a:ext>
            </a:extLst>
          </p:cNvPr>
          <p:cNvSpPr>
            <a:spLocks noGrp="1"/>
          </p:cNvSpPr>
          <p:nvPr/>
        </p:nvSpPr>
        <p:spPr>
          <a:xfrm>
            <a:off x="7000875" y="15240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Clasificación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20F92D-CDD2-430F-9E29-823F09047C6E}"/>
              </a:ext>
            </a:extLst>
          </p:cNvPr>
          <p:cNvSpPr>
            <a:spLocks noGrp="1"/>
          </p:cNvSpPr>
          <p:nvPr/>
        </p:nvSpPr>
        <p:spPr>
          <a:xfrm>
            <a:off x="7000875" y="274320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BBD2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BD2DC"/>
                </a:solidFill>
                <a:latin typeface="Helvetica Neue"/>
                <a:ea typeface="Helvetica Neue"/>
                <a:cs typeface="Helvetica Neue"/>
              </a:rPr>
              <a:t>Votación mayoritaria o promedio de probabilidades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D0A807-11AD-44E2-B670-F53618B4DC6D}"/>
              </a:ext>
            </a:extLst>
          </p:cNvPr>
          <p:cNvSpPr>
            <a:spLocks noGrp="1"/>
          </p:cNvSpPr>
          <p:nvPr/>
        </p:nvSpPr>
        <p:spPr>
          <a:xfrm>
            <a:off x="7000875" y="38576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Regresión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E6796D-A6D7-4FDA-A7BB-97FF0274D26F}"/>
              </a:ext>
            </a:extLst>
          </p:cNvPr>
          <p:cNvSpPr>
            <a:spLocks noGrp="1"/>
          </p:cNvSpPr>
          <p:nvPr/>
        </p:nvSpPr>
        <p:spPr>
          <a:xfrm>
            <a:off x="7000875" y="5232765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BBD2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BBD2DC"/>
                </a:solidFill>
                <a:latin typeface="Helvetica Neue"/>
                <a:ea typeface="Helvetica Neue"/>
                <a:cs typeface="Helvetica Neue"/>
              </a:rPr>
              <a:t>Promedio</a:t>
            </a:r>
            <a:r>
              <a:rPr sz="1425" b="0" dirty="0">
                <a:solidFill>
                  <a:srgbClr val="BBD2DC"/>
                </a:solidFill>
                <a:latin typeface="Helvetica Neue"/>
                <a:ea typeface="Helvetica Neue"/>
                <a:cs typeface="Helvetica Neue"/>
              </a:rPr>
              <a:t> de las </a:t>
            </a:r>
            <a:r>
              <a:rPr sz="1425" b="0" dirty="0" err="1">
                <a:solidFill>
                  <a:srgbClr val="BBD2DC"/>
                </a:solidFill>
                <a:latin typeface="Helvetica Neue"/>
                <a:ea typeface="Helvetica Neue"/>
                <a:cs typeface="Helvetica Neue"/>
              </a:rPr>
              <a:t>predicciones</a:t>
            </a:r>
            <a:r>
              <a:rPr sz="1425" b="0" dirty="0">
                <a:solidFill>
                  <a:srgbClr val="BBD2D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b="0" dirty="0" err="1">
                <a:solidFill>
                  <a:srgbClr val="BBD2DC"/>
                </a:solidFill>
                <a:latin typeface="Helvetica Neue"/>
                <a:ea typeface="Helvetica Neue"/>
                <a:cs typeface="Helvetica Neue"/>
              </a:rPr>
              <a:t>individuales</a:t>
            </a:r>
            <a:endParaRPr sz="1425" b="0" dirty="0">
              <a:solidFill>
                <a:srgbClr val="BBD2DC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595E09-63ED-4C95-A3A9-8D12BD77D0D4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B = número de modelos base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191D07-1D19-2166-F450-E29CB845D733}"/>
                  </a:ext>
                </a:extLst>
              </p:cNvPr>
              <p:cNvSpPr txBox="1"/>
              <p:nvPr/>
            </p:nvSpPr>
            <p:spPr>
              <a:xfrm>
                <a:off x="7334250" y="2141636"/>
                <a:ext cx="3192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L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s-419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𝒎𝒐𝒅𝒂</m:t>
                      </m:r>
                      <m:r>
                        <a:rPr lang="es-419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419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d>
                        <m:dPr>
                          <m:ctrlP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419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L" sz="20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191D07-1D19-2166-F450-E29CB845D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0" y="2141636"/>
                <a:ext cx="3192862" cy="307777"/>
              </a:xfrm>
              <a:prstGeom prst="rect">
                <a:avLst/>
              </a:prstGeom>
              <a:blipFill>
                <a:blip r:embed="rId3"/>
                <a:stretch>
                  <a:fillRect l="-1587" t="-20000" r="-2381" b="-32000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1C92D3-3E6A-326A-FD2D-95CF10CCDD30}"/>
                  </a:ext>
                </a:extLst>
              </p:cNvPr>
              <p:cNvSpPr txBox="1"/>
              <p:nvPr/>
            </p:nvSpPr>
            <p:spPr>
              <a:xfrm>
                <a:off x="7875007" y="4201564"/>
                <a:ext cx="2111347" cy="1045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L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s-419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p>
                        <m:e>
                          <m:sSub>
                            <m:sSubPr>
                              <m:ctrlPr>
                                <a:rPr lang="es-419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s-419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419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L" sz="24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1C92D3-3E6A-326A-FD2D-95CF10CCD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007" y="4201564"/>
                <a:ext cx="2111347" cy="1045671"/>
              </a:xfrm>
              <a:prstGeom prst="rect">
                <a:avLst/>
              </a:prstGeom>
              <a:blipFill>
                <a:blip r:embed="rId4"/>
                <a:stretch>
                  <a:fillRect l="-13174" t="-111905" r="-4192" b="-173810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733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3898AB9-57D0-436F-8B73-00DC1D86DE9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Algoritmo de bagging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BDF574-F0B1-42A3-BCC3-BBE138BB04B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AC880F-6CC3-4382-A029-8740CAB6F777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67ECA-FE10-413A-AFA4-909FDB98449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2CA1E-0615-472B-94FB-D82CE7117B42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8/18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AFC7B35-9C4C-41E4-8F61-19A70EB72365}"/>
              </a:ext>
            </a:extLst>
          </p:cNvPr>
          <p:cNvSpPr>
            <a:spLocks noGrp="1"/>
          </p:cNvSpPr>
          <p:nvPr/>
        </p:nvSpPr>
        <p:spPr>
          <a:xfrm>
            <a:off x="999310" y="21907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D960D-99AD-4053-830F-77466C11911D}"/>
              </a:ext>
            </a:extLst>
          </p:cNvPr>
          <p:cNvSpPr>
            <a:spLocks noGrp="1"/>
          </p:cNvSpPr>
          <p:nvPr/>
        </p:nvSpPr>
        <p:spPr>
          <a:xfrm>
            <a:off x="542925" y="31432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Muestrear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FA0D47-8E02-479B-9F90-76BEED216AFF}"/>
              </a:ext>
            </a:extLst>
          </p:cNvPr>
          <p:cNvSpPr>
            <a:spLocks noGrp="1"/>
          </p:cNvSpPr>
          <p:nvPr/>
        </p:nvSpPr>
        <p:spPr>
          <a:xfrm>
            <a:off x="304800" y="3619500"/>
            <a:ext cx="2095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Crear B muestras bootstrap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ABBB4AC-C728-47B4-B8E3-921404D43371}"/>
              </a:ext>
            </a:extLst>
          </p:cNvPr>
          <p:cNvSpPr>
            <a:spLocks noGrp="1"/>
          </p:cNvSpPr>
          <p:nvPr/>
        </p:nvSpPr>
        <p:spPr>
          <a:xfrm>
            <a:off x="3856810" y="21907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ABA75-4E69-49FB-8494-F83D2F36723D}"/>
              </a:ext>
            </a:extLst>
          </p:cNvPr>
          <p:cNvSpPr>
            <a:spLocks noGrp="1"/>
          </p:cNvSpPr>
          <p:nvPr/>
        </p:nvSpPr>
        <p:spPr>
          <a:xfrm>
            <a:off x="3400425" y="31432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Entrenar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DE6BDA-0CE9-43B2-90D1-EF3A71512EC5}"/>
              </a:ext>
            </a:extLst>
          </p:cNvPr>
          <p:cNvSpPr>
            <a:spLocks noGrp="1"/>
          </p:cNvSpPr>
          <p:nvPr/>
        </p:nvSpPr>
        <p:spPr>
          <a:xfrm>
            <a:off x="3162300" y="3619500"/>
            <a:ext cx="2095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Ajustar un árbol en cada muestra</a:t>
            </a:r>
          </a:p>
        </p:txBody>
      </p:sp>
      <p:cxnSp>
        <p:nvCxnSpPr>
          <p:cNvPr id="34" name="Straight Arrow Connector 33"/>
          <p:cNvCxnSpPr>
            <a:stCxn id="6" idx="3"/>
            <a:endCxn id="9" idx="1"/>
          </p:cNvCxnSpPr>
          <p:nvPr/>
        </p:nvCxnSpPr>
        <p:spPr>
          <a:xfrm>
            <a:off x="1685110" y="2533650"/>
            <a:ext cx="217170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3A093A7-08E4-4B5F-B34D-1641D48E1279}"/>
              </a:ext>
            </a:extLst>
          </p:cNvPr>
          <p:cNvSpPr>
            <a:spLocks noGrp="1"/>
          </p:cNvSpPr>
          <p:nvPr/>
        </p:nvSpPr>
        <p:spPr>
          <a:xfrm>
            <a:off x="6714310" y="21907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DB3223-CFD1-4E9D-B421-860AB2649D78}"/>
              </a:ext>
            </a:extLst>
          </p:cNvPr>
          <p:cNvSpPr>
            <a:spLocks noGrp="1"/>
          </p:cNvSpPr>
          <p:nvPr/>
        </p:nvSpPr>
        <p:spPr>
          <a:xfrm>
            <a:off x="6257925" y="31432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Predecir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291F3-DD97-4DF9-989C-6CD359781CBE}"/>
              </a:ext>
            </a:extLst>
          </p:cNvPr>
          <p:cNvSpPr>
            <a:spLocks noGrp="1"/>
          </p:cNvSpPr>
          <p:nvPr/>
        </p:nvSpPr>
        <p:spPr>
          <a:xfrm>
            <a:off x="6019800" y="3619500"/>
            <a:ext cx="2095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Obtener B respuestas para x</a:t>
            </a:r>
          </a:p>
        </p:txBody>
      </p:sp>
      <p:cxnSp>
        <p:nvCxnSpPr>
          <p:cNvPr id="38" name="Straight Arrow Connector 37"/>
          <p:cNvCxnSpPr>
            <a:stCxn id="9" idx="3"/>
            <a:endCxn id="13" idx="1"/>
          </p:cNvCxnSpPr>
          <p:nvPr/>
        </p:nvCxnSpPr>
        <p:spPr>
          <a:xfrm>
            <a:off x="4542610" y="2533650"/>
            <a:ext cx="217170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E42D828-99D2-4472-ACBF-7B5AD763DB00}"/>
              </a:ext>
            </a:extLst>
          </p:cNvPr>
          <p:cNvSpPr>
            <a:spLocks noGrp="1"/>
          </p:cNvSpPr>
          <p:nvPr/>
        </p:nvSpPr>
        <p:spPr>
          <a:xfrm>
            <a:off x="9571810" y="21907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34B13A-1F67-4923-A837-A8D56C0B778F}"/>
              </a:ext>
            </a:extLst>
          </p:cNvPr>
          <p:cNvSpPr>
            <a:spLocks noGrp="1"/>
          </p:cNvSpPr>
          <p:nvPr/>
        </p:nvSpPr>
        <p:spPr>
          <a:xfrm>
            <a:off x="9115425" y="31432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Agregar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7DB2B5-56DE-4DD8-A73C-9720321E1454}"/>
              </a:ext>
            </a:extLst>
          </p:cNvPr>
          <p:cNvSpPr>
            <a:spLocks noGrp="1"/>
          </p:cNvSpPr>
          <p:nvPr/>
        </p:nvSpPr>
        <p:spPr>
          <a:xfrm>
            <a:off x="8877300" y="3619500"/>
            <a:ext cx="2095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Votar o promediar</a:t>
            </a:r>
          </a:p>
        </p:txBody>
      </p:sp>
      <p:cxnSp>
        <p:nvCxnSpPr>
          <p:cNvPr id="42" name="Straight Arrow Connector 41"/>
          <p:cNvCxnSpPr>
            <a:stCxn id="13" idx="3"/>
            <a:endCxn id="17" idx="1"/>
          </p:cNvCxnSpPr>
          <p:nvPr/>
        </p:nvCxnSpPr>
        <p:spPr>
          <a:xfrm>
            <a:off x="7400110" y="2533650"/>
            <a:ext cx="217170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6A7A-9D2B-42C7-A582-CDD7C244CCE7}"/>
              </a:ext>
            </a:extLst>
          </p:cNvPr>
          <p:cNvSpPr>
            <a:spLocks noGrp="1"/>
          </p:cNvSpPr>
          <p:nvPr/>
        </p:nvSpPr>
        <p:spPr>
          <a:xfrm>
            <a:off x="800100" y="50292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Entrenamiento paralelo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E9B392-74E5-48C8-BB94-C9F7959DD701}"/>
              </a:ext>
            </a:extLst>
          </p:cNvPr>
          <p:cNvSpPr>
            <a:spLocks noGrp="1"/>
          </p:cNvSpPr>
          <p:nvPr/>
        </p:nvSpPr>
        <p:spPr>
          <a:xfrm>
            <a:off x="800100" y="542925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Los árboles no dependen unos de otros. Esto permite entrenarlos al mismo tiempo.</a:t>
            </a:r>
          </a:p>
        </p:txBody>
      </p:sp>
    </p:spTree>
    <p:extLst>
      <p:ext uri="{BB962C8B-B14F-4D97-AF65-F5344CB8AC3E}">
        <p14:creationId xmlns:p14="http://schemas.microsoft.com/office/powerpoint/2010/main" val="150004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292CAB4-6D0F-4C7A-9FFB-0A83570CAD7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Por qué bagging reduce la varianza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E507CC-295D-4D2E-8D07-82373140A78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0A41DC-3F59-4169-AE3B-5C6E56C2DC8A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961B0-AAEC-4DC3-97BF-682A25817D6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7780-4E0C-44E3-8718-70A12DAB137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9/18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2C8A4-A5E1-4A4D-A39F-75346E04CA7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Promediar suaviza errores individuales cuando los modelos no están perfectamente correlacionados.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57B962-E126-4A1C-816A-F37FC5ABBC68}"/>
              </a:ext>
            </a:extLst>
          </p:cNvPr>
          <p:cNvSpPr>
            <a:spLocks noGrp="1"/>
          </p:cNvSpPr>
          <p:nvPr/>
        </p:nvSpPr>
        <p:spPr>
          <a:xfrm>
            <a:off x="1123950" y="2143125"/>
            <a:ext cx="9906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endParaRPr sz="2550" b="1" dirty="0">
              <a:solidFill>
                <a:srgbClr val="071B2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2BB5F-1710-4085-A447-EF354E1DE236}"/>
              </a:ext>
            </a:extLst>
          </p:cNvPr>
          <p:cNvSpPr>
            <a:spLocks noGrp="1"/>
          </p:cNvSpPr>
          <p:nvPr/>
        </p:nvSpPr>
        <p:spPr>
          <a:xfrm>
            <a:off x="1428750" y="3476625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ρ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3D4657-B674-468A-A0FF-0250D9E98A53}"/>
              </a:ext>
            </a:extLst>
          </p:cNvPr>
          <p:cNvSpPr>
            <a:spLocks noGrp="1"/>
          </p:cNvSpPr>
          <p:nvPr/>
        </p:nvSpPr>
        <p:spPr>
          <a:xfrm>
            <a:off x="2238375" y="3429000"/>
            <a:ext cx="333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Correlación entre errores</a:t>
            </a:r>
          </a:p>
          <a:p>
            <a:pPr algn="l"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Menor ρ produce mayor ganancia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D53124-2384-48E2-A0D5-0C3FE9D05FB1}"/>
              </a:ext>
            </a:extLst>
          </p:cNvPr>
          <p:cNvSpPr>
            <a:spLocks noGrp="1"/>
          </p:cNvSpPr>
          <p:nvPr/>
        </p:nvSpPr>
        <p:spPr>
          <a:xfrm>
            <a:off x="6572250" y="3476625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C823E2-CEBB-4017-B205-0722F7A0D6D9}"/>
              </a:ext>
            </a:extLst>
          </p:cNvPr>
          <p:cNvSpPr>
            <a:spLocks noGrp="1"/>
          </p:cNvSpPr>
          <p:nvPr/>
        </p:nvSpPr>
        <p:spPr>
          <a:xfrm>
            <a:off x="7381875" y="3429000"/>
            <a:ext cx="333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Cantidad de árboles</a:t>
            </a:r>
          </a:p>
          <a:p>
            <a:pPr algn="l"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Más árboles estabilizan el promedio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A29A406-A775-4D90-AF9B-2282FD4DC04C}"/>
              </a:ext>
            </a:extLst>
          </p:cNvPr>
          <p:cNvSpPr>
            <a:spLocks noGrp="1"/>
          </p:cNvSpPr>
          <p:nvPr/>
        </p:nvSpPr>
        <p:spPr>
          <a:xfrm>
            <a:off x="6000750" y="3286125"/>
            <a:ext cx="0" cy="1285875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567086-8E9E-4CEF-9617-39BD59D493B8}"/>
              </a:ext>
            </a:extLst>
          </p:cNvPr>
          <p:cNvSpPr>
            <a:spLocks noGrp="1"/>
          </p:cNvSpPr>
          <p:nvPr/>
        </p:nvSpPr>
        <p:spPr>
          <a:xfrm>
            <a:off x="1066800" y="5095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rPr>
              <a:t>Límite importante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A64F9-F123-44CA-AFF7-D311C1030716}"/>
              </a:ext>
            </a:extLst>
          </p:cNvPr>
          <p:cNvSpPr>
            <a:spLocks noGrp="1"/>
          </p:cNvSpPr>
          <p:nvPr/>
        </p:nvSpPr>
        <p:spPr>
          <a:xfrm>
            <a:off x="1066800" y="5448300"/>
            <a:ext cx="98583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Si ρ es alto, muchos árboles repiten errores parecidos. Aumentar B no elimina ese componente.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5E4086-1B4B-02E8-5810-490F48567CA1}"/>
                  </a:ext>
                </a:extLst>
              </p:cNvPr>
              <p:cNvSpPr txBox="1"/>
              <p:nvPr/>
            </p:nvSpPr>
            <p:spPr>
              <a:xfrm>
                <a:off x="3905250" y="2223432"/>
                <a:ext cx="3960251" cy="586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000" b="1" i="1" smtClean="0"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s-419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𝒑𝒓𝒐𝒎𝒆𝒅𝒊𝒐</m:t>
                          </m:r>
                        </m:e>
                      </m:d>
                      <m:r>
                        <a:rPr lang="es-419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s-419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s-419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  <m:r>
                            <a:rPr lang="es-419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419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419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𝝆</m:t>
                              </m:r>
                            </m:num>
                            <m:den>
                              <m:r>
                                <a:rPr lang="es-419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CL" sz="2000" b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5E4086-1B4B-02E8-5810-490F48567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0" y="2223432"/>
                <a:ext cx="3960251" cy="586443"/>
              </a:xfrm>
              <a:prstGeom prst="rect">
                <a:avLst/>
              </a:prstGeom>
              <a:blipFill>
                <a:blip r:embed="rId3"/>
                <a:stretch>
                  <a:fillRect l="-958" b="-12766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55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EB1AD7-E945-465E-8EE7-7DBC79DF65A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Random Forest: definición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1CE9C5-AF53-426C-88FB-E4E4DC8CF31F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F00507-2B64-438F-AEDD-4CE61DC639B9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46A13-55CB-4DA5-A857-3C8A9F7E9E8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7E378F-CC6E-4D9A-A716-27FD5319599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10/18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050685-8800-4566-8BEA-095CEAB71B4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382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Random Forest = bagging de árboles + selección aleatoria de variables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2A1A9A-146C-4BF9-BFBA-D6043F9EA8D5}"/>
              </a:ext>
            </a:extLst>
          </p:cNvPr>
          <p:cNvSpPr>
            <a:spLocks noGrp="1"/>
          </p:cNvSpPr>
          <p:nvPr/>
        </p:nvSpPr>
        <p:spPr>
          <a:xfrm>
            <a:off x="1000125" y="2575286"/>
            <a:ext cx="552450" cy="5524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4A6BD1-769D-412F-9F82-9C31210D3853}"/>
              </a:ext>
            </a:extLst>
          </p:cNvPr>
          <p:cNvSpPr>
            <a:spLocks noGrp="1"/>
          </p:cNvSpPr>
          <p:nvPr/>
        </p:nvSpPr>
        <p:spPr>
          <a:xfrm>
            <a:off x="1857375" y="26479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Filas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BC8-00F9-4843-8251-FE0F380593D8}"/>
              </a:ext>
            </a:extLst>
          </p:cNvPr>
          <p:cNvSpPr>
            <a:spLocks noGrp="1"/>
          </p:cNvSpPr>
          <p:nvPr/>
        </p:nvSpPr>
        <p:spPr>
          <a:xfrm>
            <a:off x="3571875" y="2550249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 árbol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recibe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una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muestra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bootstrap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DD2616-6C30-4B47-B4C2-02B84209BC4D}"/>
              </a:ext>
            </a:extLst>
          </p:cNvPr>
          <p:cNvSpPr>
            <a:spLocks noGrp="1"/>
          </p:cNvSpPr>
          <p:nvPr/>
        </p:nvSpPr>
        <p:spPr>
          <a:xfrm>
            <a:off x="1000125" y="3575411"/>
            <a:ext cx="552450" cy="55245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DFB76-FECE-4608-9BE4-17AF4A797B39}"/>
              </a:ext>
            </a:extLst>
          </p:cNvPr>
          <p:cNvSpPr>
            <a:spLocks noGrp="1"/>
          </p:cNvSpPr>
          <p:nvPr/>
        </p:nvSpPr>
        <p:spPr>
          <a:xfrm>
            <a:off x="1857375" y="364807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Variables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6F31DF-1B21-4D01-A54B-09B17E3C24FF}"/>
              </a:ext>
            </a:extLst>
          </p:cNvPr>
          <p:cNvSpPr>
            <a:spLocks noGrp="1"/>
          </p:cNvSpPr>
          <p:nvPr/>
        </p:nvSpPr>
        <p:spPr>
          <a:xfrm>
            <a:off x="3571874" y="3556361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división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evalúa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solo un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subconjunto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aleatorio</a:t>
            </a:r>
            <a:endParaRPr sz="1800" b="0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46C38F-1EC0-43E8-9700-49C531FC7E26}"/>
              </a:ext>
            </a:extLst>
          </p:cNvPr>
          <p:cNvSpPr>
            <a:spLocks noGrp="1"/>
          </p:cNvSpPr>
          <p:nvPr/>
        </p:nvSpPr>
        <p:spPr>
          <a:xfrm>
            <a:off x="1000125" y="4575536"/>
            <a:ext cx="552450" cy="552450"/>
          </a:xfrm>
          <a:prstGeom prst="ellipse">
            <a:avLst/>
          </a:prstGeom>
          <a:solidFill>
            <a:srgbClr val="55D9D2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5AAA75-8890-4B71-BF03-56708713DD33}"/>
              </a:ext>
            </a:extLst>
          </p:cNvPr>
          <p:cNvSpPr>
            <a:spLocks noGrp="1"/>
          </p:cNvSpPr>
          <p:nvPr/>
        </p:nvSpPr>
        <p:spPr>
          <a:xfrm>
            <a:off x="1857375" y="464820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ADAE05-6BD5-4E96-A57C-27240C3481E1}"/>
              </a:ext>
            </a:extLst>
          </p:cNvPr>
          <p:cNvSpPr>
            <a:spLocks noGrp="1"/>
          </p:cNvSpPr>
          <p:nvPr/>
        </p:nvSpPr>
        <p:spPr>
          <a:xfrm>
            <a:off x="3571873" y="4556486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Los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árboles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se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parecen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menos</a:t>
            </a:r>
            <a:r>
              <a:rPr sz="1800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entre </a:t>
            </a:r>
            <a:r>
              <a:rPr sz="1800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sí</a:t>
            </a:r>
            <a:endParaRPr sz="1800" b="0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C8D045-26E4-4F73-8E13-EB8C49BE931D}"/>
              </a:ext>
            </a:extLst>
          </p:cNvPr>
          <p:cNvSpPr>
            <a:spLocks noGrp="1"/>
          </p:cNvSpPr>
          <p:nvPr/>
        </p:nvSpPr>
        <p:spPr>
          <a:xfrm>
            <a:off x="971550" y="58483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Objetivo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B26916-F9E8-4876-A344-A5E029ED9EFE}"/>
              </a:ext>
            </a:extLst>
          </p:cNvPr>
          <p:cNvSpPr>
            <a:spLocks noGrp="1"/>
          </p:cNvSpPr>
          <p:nvPr/>
        </p:nvSpPr>
        <p:spPr>
          <a:xfrm>
            <a:off x="2190750" y="5781675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Reducir la correlación entre árboles para mejorar el promedio.</a:t>
            </a:r>
          </a:p>
        </p:txBody>
      </p:sp>
    </p:spTree>
    <p:extLst>
      <p:ext uri="{BB962C8B-B14F-4D97-AF65-F5344CB8AC3E}">
        <p14:creationId xmlns:p14="http://schemas.microsoft.com/office/powerpoint/2010/main" val="30589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0F71C69-700F-4B1C-B327-E482C029D37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Selección aleatoria de variables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03810D-5F48-451C-ADC6-1E87EF6FD22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B27334-26C3-44A3-94BF-ABFB07A1FD4C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D9A75D-FA21-4A1D-AAEF-8BDCB2E846F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2A9C6-46F0-4E13-B9BD-6247C5C9940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11/18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024CA-0D87-4753-8A65-DB1FF9F3C068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En cada nodo, el algoritmo prueba mtry variables elegidas al azar entre p variables disponibles.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DD0957-B5E5-461B-A72B-FE7484D0D6F7}"/>
              </a:ext>
            </a:extLst>
          </p:cNvPr>
          <p:cNvSpPr>
            <a:spLocks noGrp="1"/>
          </p:cNvSpPr>
          <p:nvPr/>
        </p:nvSpPr>
        <p:spPr>
          <a:xfrm>
            <a:off x="2705508" y="195262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 = 8 variables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12F42A9-D95F-4F98-9080-D19AD07FA9AA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Edad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245158-1847-410C-BFA9-A522D2462BE3}"/>
              </a:ext>
            </a:extLst>
          </p:cNvPr>
          <p:cNvSpPr>
            <a:spLocks noGrp="1"/>
          </p:cNvSpPr>
          <p:nvPr/>
        </p:nvSpPr>
        <p:spPr>
          <a:xfrm>
            <a:off x="2143125" y="24765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CDECEA"/>
          </a:solidFill>
          <a:ln w="28575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Ingreso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5C0EE2-E162-4365-BF41-49674077451F}"/>
              </a:ext>
            </a:extLst>
          </p:cNvPr>
          <p:cNvSpPr>
            <a:spLocks noGrp="1"/>
          </p:cNvSpPr>
          <p:nvPr/>
        </p:nvSpPr>
        <p:spPr>
          <a:xfrm>
            <a:off x="3571875" y="24765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Zona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2601CE0-C1D9-4065-AA0E-2973B4A11497}"/>
              </a:ext>
            </a:extLst>
          </p:cNvPr>
          <p:cNvSpPr>
            <a:spLocks noGrp="1"/>
          </p:cNvSpPr>
          <p:nvPr/>
        </p:nvSpPr>
        <p:spPr>
          <a:xfrm>
            <a:off x="5000625" y="24765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Canal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F0A525-466E-4C92-9503-66C0FDEBE87B}"/>
              </a:ext>
            </a:extLst>
          </p:cNvPr>
          <p:cNvSpPr>
            <a:spLocks noGrp="1"/>
          </p:cNvSpPr>
          <p:nvPr/>
        </p:nvSpPr>
        <p:spPr>
          <a:xfrm>
            <a:off x="714375" y="33147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CDECEA"/>
          </a:solidFill>
          <a:ln w="28575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Saldo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6844561-AEBE-4429-87AC-E45F0FA3FC68}"/>
              </a:ext>
            </a:extLst>
          </p:cNvPr>
          <p:cNvSpPr>
            <a:spLocks noGrp="1"/>
          </p:cNvSpPr>
          <p:nvPr/>
        </p:nvSpPr>
        <p:spPr>
          <a:xfrm>
            <a:off x="2143125" y="33147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Uso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A62100-89EB-4B18-801B-D38DAA6C9DA6}"/>
              </a:ext>
            </a:extLst>
          </p:cNvPr>
          <p:cNvSpPr>
            <a:spLocks noGrp="1"/>
          </p:cNvSpPr>
          <p:nvPr/>
        </p:nvSpPr>
        <p:spPr>
          <a:xfrm>
            <a:off x="3571875" y="33147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CDECEA"/>
          </a:solidFill>
          <a:ln w="28575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Antig.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288761B-16C7-4759-9BD4-8D8032B3D1F7}"/>
              </a:ext>
            </a:extLst>
          </p:cNvPr>
          <p:cNvSpPr>
            <a:spLocks noGrp="1"/>
          </p:cNvSpPr>
          <p:nvPr/>
        </p:nvSpPr>
        <p:spPr>
          <a:xfrm>
            <a:off x="5000625" y="3314700"/>
            <a:ext cx="1190625" cy="514350"/>
          </a:xfrm>
          <a:prstGeom prst="roundRect">
            <a:avLst>
              <a:gd name="adj" fmla="val 14815"/>
            </a:avLst>
          </a:prstGeom>
          <a:solidFill>
            <a:srgbClr val="F5F8F9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Mora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CA4E03-43AA-4744-9719-7CCC25F7DE0B}"/>
              </a:ext>
            </a:extLst>
          </p:cNvPr>
          <p:cNvSpPr>
            <a:spLocks noGrp="1"/>
          </p:cNvSpPr>
          <p:nvPr/>
        </p:nvSpPr>
        <p:spPr>
          <a:xfrm>
            <a:off x="7762059" y="241935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mtry = 3</a:t>
            </a:r>
          </a:p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Ingreso · Saldo · Antig.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530BFBF-36A0-41AF-96A1-D62011F4FE7A}"/>
              </a:ext>
            </a:extLst>
          </p:cNvPr>
          <p:cNvSpPr>
            <a:spLocks noGrp="1"/>
          </p:cNvSpPr>
          <p:nvPr/>
        </p:nvSpPr>
        <p:spPr>
          <a:xfrm>
            <a:off x="7762059" y="4524375"/>
            <a:ext cx="2857500" cy="952500"/>
          </a:xfrm>
          <a:prstGeom prst="roundRect">
            <a:avLst>
              <a:gd name="adj" fmla="val 8000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Mejor división</a:t>
            </a:r>
          </a:p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Saldo &lt; 420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71DFB7C-560B-4B8F-B17A-76AEAC07E5BE}"/>
              </a:ext>
            </a:extLst>
          </p:cNvPr>
          <p:cNvSpPr>
            <a:spLocks noGrp="1"/>
          </p:cNvSpPr>
          <p:nvPr/>
        </p:nvSpPr>
        <p:spPr>
          <a:xfrm>
            <a:off x="6839766" y="2064475"/>
            <a:ext cx="0" cy="371475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9190809" y="3562350"/>
            <a:ext cx="0" cy="962025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2F94F0A-D321-423C-8638-A99F0C48A317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519112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Una variable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dominante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no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controla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todos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los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árboles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ni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todos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los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nodos</a:t>
            </a:r>
            <a:r>
              <a:rPr sz="1800" b="1" dirty="0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569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B57C050-C191-41AA-AF39-6A2F40173B2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Bagging y Random Forest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D1D2F0-DDC4-44BD-85F7-1C097AB715D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E4D8C-8CCD-426C-AAD0-CB4EFBE43EA1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912F4-701A-43B4-A55E-C41A091714F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0E40C-E3A1-4C60-A4B8-A7B77D37462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12/18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0FBCB-7EAF-43F3-8F06-D340C9530151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667000" cy="571500"/>
          </a:xfrm>
          <a:prstGeom prst="rect">
            <a:avLst/>
          </a:prstGeom>
          <a:solidFill>
            <a:srgbClr val="071B2D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Aspecto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A37D70-7272-44BA-963A-E5531D6FD5BB}"/>
              </a:ext>
            </a:extLst>
          </p:cNvPr>
          <p:cNvSpPr>
            <a:spLocks noGrp="1"/>
          </p:cNvSpPr>
          <p:nvPr/>
        </p:nvSpPr>
        <p:spPr>
          <a:xfrm>
            <a:off x="3333750" y="1619250"/>
            <a:ext cx="4000500" cy="571500"/>
          </a:xfrm>
          <a:prstGeom prst="rect">
            <a:avLst/>
          </a:prstGeom>
          <a:solidFill>
            <a:srgbClr val="2D6D8E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Bagging con árboles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52F89-C534-40FA-9499-7939B6752BE4}"/>
              </a:ext>
            </a:extLst>
          </p:cNvPr>
          <p:cNvSpPr>
            <a:spLocks noGrp="1"/>
          </p:cNvSpPr>
          <p:nvPr/>
        </p:nvSpPr>
        <p:spPr>
          <a:xfrm>
            <a:off x="7334250" y="1619250"/>
            <a:ext cx="4095750" cy="57150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Random Forest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B50BCF-A611-4A6D-8A7A-67308F4E63BA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66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Muestreo de filas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50138-FCB9-40E5-822B-60D33AD299EF}"/>
              </a:ext>
            </a:extLst>
          </p:cNvPr>
          <p:cNvSpPr>
            <a:spLocks noGrp="1"/>
          </p:cNvSpPr>
          <p:nvPr/>
        </p:nvSpPr>
        <p:spPr>
          <a:xfrm>
            <a:off x="3333750" y="2190750"/>
            <a:ext cx="4000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Bootstrap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BFE19A-3F22-4C75-B801-1E86D927185E}"/>
              </a:ext>
            </a:extLst>
          </p:cNvPr>
          <p:cNvSpPr>
            <a:spLocks noGrp="1"/>
          </p:cNvSpPr>
          <p:nvPr/>
        </p:nvSpPr>
        <p:spPr>
          <a:xfrm>
            <a:off x="7334250" y="2190750"/>
            <a:ext cx="4095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Bootstrap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BFFDD3-1333-4A4F-B392-124C90DAA906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2667000" cy="685800"/>
          </a:xfrm>
          <a:prstGeom prst="rect">
            <a:avLst/>
          </a:prstGeom>
          <a:solidFill>
            <a:srgbClr val="EAF1F3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Variables por nodo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039933-7C9D-4A34-AD2A-4062F6B619DA}"/>
              </a:ext>
            </a:extLst>
          </p:cNvPr>
          <p:cNvSpPr>
            <a:spLocks noGrp="1"/>
          </p:cNvSpPr>
          <p:nvPr/>
        </p:nvSpPr>
        <p:spPr>
          <a:xfrm>
            <a:off x="3333750" y="2876550"/>
            <a:ext cx="4000500" cy="685800"/>
          </a:xfrm>
          <a:prstGeom prst="rect">
            <a:avLst/>
          </a:prstGeom>
          <a:solidFill>
            <a:srgbClr val="EAF1F3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Todas las variables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761C11-0A9B-4646-8E0E-4A5F5E6E265B}"/>
              </a:ext>
            </a:extLst>
          </p:cNvPr>
          <p:cNvSpPr>
            <a:spLocks noGrp="1"/>
          </p:cNvSpPr>
          <p:nvPr/>
        </p:nvSpPr>
        <p:spPr>
          <a:xfrm>
            <a:off x="7334250" y="2876550"/>
            <a:ext cx="4095750" cy="685800"/>
          </a:xfrm>
          <a:prstGeom prst="rect">
            <a:avLst/>
          </a:prstGeom>
          <a:solidFill>
            <a:srgbClr val="EAF1F3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Subconjunto aleatorio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FE992A-D173-47DF-8CD4-74F7D103FB5C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266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Correlación entre árboles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926449-7902-4777-B28F-9449FE80EADA}"/>
              </a:ext>
            </a:extLst>
          </p:cNvPr>
          <p:cNvSpPr>
            <a:spLocks noGrp="1"/>
          </p:cNvSpPr>
          <p:nvPr/>
        </p:nvSpPr>
        <p:spPr>
          <a:xfrm>
            <a:off x="3333750" y="3562350"/>
            <a:ext cx="4000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Puede mantenerse alta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63B02E-008A-42FE-A2A0-ADDB8A04643D}"/>
              </a:ext>
            </a:extLst>
          </p:cNvPr>
          <p:cNvSpPr>
            <a:spLocks noGrp="1"/>
          </p:cNvSpPr>
          <p:nvPr/>
        </p:nvSpPr>
        <p:spPr>
          <a:xfrm>
            <a:off x="7334250" y="3562350"/>
            <a:ext cx="4095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Tiende a disminuir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29619E-45A6-447E-A0CB-9F849BD0A19B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667000" cy="685800"/>
          </a:xfrm>
          <a:prstGeom prst="rect">
            <a:avLst/>
          </a:prstGeom>
          <a:solidFill>
            <a:srgbClr val="EAF1F3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Agregación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AB0217-2B99-49D8-AB31-596A73140CDD}"/>
              </a:ext>
            </a:extLst>
          </p:cNvPr>
          <p:cNvSpPr>
            <a:spLocks noGrp="1"/>
          </p:cNvSpPr>
          <p:nvPr/>
        </p:nvSpPr>
        <p:spPr>
          <a:xfrm>
            <a:off x="3333750" y="4248150"/>
            <a:ext cx="4000500" cy="685800"/>
          </a:xfrm>
          <a:prstGeom prst="rect">
            <a:avLst/>
          </a:prstGeom>
          <a:solidFill>
            <a:srgbClr val="EAF1F3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Voto o promedio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CD6332-51DE-46CC-A71E-2A8700F648E9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4095750" cy="685800"/>
          </a:xfrm>
          <a:prstGeom prst="rect">
            <a:avLst/>
          </a:prstGeom>
          <a:solidFill>
            <a:srgbClr val="EAF1F3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Voto o promedio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C03776-E3DD-4FB4-8757-A6A4A95EF885}"/>
              </a:ext>
            </a:extLst>
          </p:cNvPr>
          <p:cNvSpPr>
            <a:spLocks noGrp="1"/>
          </p:cNvSpPr>
          <p:nvPr/>
        </p:nvSpPr>
        <p:spPr>
          <a:xfrm>
            <a:off x="666750" y="4933950"/>
            <a:ext cx="266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Uso OOB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68911E-D1F6-433A-8668-2B9ECBF3C48B}"/>
              </a:ext>
            </a:extLst>
          </p:cNvPr>
          <p:cNvSpPr>
            <a:spLocks noGrp="1"/>
          </p:cNvSpPr>
          <p:nvPr/>
        </p:nvSpPr>
        <p:spPr>
          <a:xfrm>
            <a:off x="3333750" y="4933950"/>
            <a:ext cx="8096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Disponible en ambos modelos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6B06D9-0268-42E6-889F-6D469941AF31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Diferencia clave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57415F-E20F-4C4B-986A-14F2288F5596}"/>
              </a:ext>
            </a:extLst>
          </p:cNvPr>
          <p:cNvSpPr>
            <a:spLocks noGrp="1"/>
          </p:cNvSpPr>
          <p:nvPr/>
        </p:nvSpPr>
        <p:spPr>
          <a:xfrm>
            <a:off x="2667000" y="5791200"/>
            <a:ext cx="8286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Random Forest controla la similitud entre árboles mediante mtry.</a:t>
            </a:r>
          </a:p>
        </p:txBody>
      </p:sp>
    </p:spTree>
    <p:extLst>
      <p:ext uri="{BB962C8B-B14F-4D97-AF65-F5344CB8AC3E}">
        <p14:creationId xmlns:p14="http://schemas.microsoft.com/office/powerpoint/2010/main" val="811344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22B3955-8248-4EDD-84F9-8346B375C9F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Ejemplo de clasificación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4965DD-BA12-43F5-8775-51BB4E330E14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D9266-F9C3-481B-961C-4609C5DF1179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7DEEC-B791-496F-A3E0-F22EFBF74AF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81A04C-E427-4615-8079-CC0D4EB515A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13/18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F86CF-6732-458E-BE45-F3F240FE1A3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Cinco árboles estiman si un cliente responderá a una campaña.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BA3EE6-C5E0-424E-8297-CAD0F72EEC1B}"/>
              </a:ext>
            </a:extLst>
          </p:cNvPr>
          <p:cNvSpPr>
            <a:spLocks noGrp="1"/>
          </p:cNvSpPr>
          <p:nvPr/>
        </p:nvSpPr>
        <p:spPr>
          <a:xfrm>
            <a:off x="1332684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Árbol 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C3F16BE-698D-44B4-9ADC-6439E2703585}"/>
              </a:ext>
            </a:extLst>
          </p:cNvPr>
          <p:cNvSpPr>
            <a:spLocks noGrp="1"/>
          </p:cNvSpPr>
          <p:nvPr/>
        </p:nvSpPr>
        <p:spPr>
          <a:xfrm>
            <a:off x="2047059" y="2838450"/>
            <a:ext cx="0" cy="66675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552A602-4EAB-49EC-8540-32A7B76EECD4}"/>
              </a:ext>
            </a:extLst>
          </p:cNvPr>
          <p:cNvSpPr>
            <a:spLocks noGrp="1"/>
          </p:cNvSpPr>
          <p:nvPr/>
        </p:nvSpPr>
        <p:spPr>
          <a:xfrm>
            <a:off x="1523184" y="3524250"/>
            <a:ext cx="1047750" cy="685800"/>
          </a:xfrm>
          <a:prstGeom prst="roundRect">
            <a:avLst>
              <a:gd name="adj" fmla="val 11111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Sí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5AFD12-F38C-40D8-A31B-C586EE8C6E15}"/>
              </a:ext>
            </a:extLst>
          </p:cNvPr>
          <p:cNvSpPr>
            <a:spLocks noGrp="1"/>
          </p:cNvSpPr>
          <p:nvPr/>
        </p:nvSpPr>
        <p:spPr>
          <a:xfrm>
            <a:off x="3285309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Árbol 2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E8D6C58-50F9-461E-AA81-B8EE08C7AA28}"/>
              </a:ext>
            </a:extLst>
          </p:cNvPr>
          <p:cNvSpPr>
            <a:spLocks noGrp="1"/>
          </p:cNvSpPr>
          <p:nvPr/>
        </p:nvSpPr>
        <p:spPr>
          <a:xfrm>
            <a:off x="3999684" y="2838450"/>
            <a:ext cx="0" cy="66675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B3769B7-5FC1-4842-A2D5-E6D3CF2DE93F}"/>
              </a:ext>
            </a:extLst>
          </p:cNvPr>
          <p:cNvSpPr>
            <a:spLocks noGrp="1"/>
          </p:cNvSpPr>
          <p:nvPr/>
        </p:nvSpPr>
        <p:spPr>
          <a:xfrm>
            <a:off x="3475809" y="3524250"/>
            <a:ext cx="1047750" cy="685800"/>
          </a:xfrm>
          <a:prstGeom prst="roundRect">
            <a:avLst>
              <a:gd name="adj" fmla="val 11111"/>
            </a:avLst>
          </a:prstGeom>
          <a:solidFill>
            <a:srgbClr val="C95757"/>
          </a:solidFill>
          <a:ln w="19050">
            <a:solidFill>
              <a:srgbClr val="C95757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49FD375-2698-44CB-BCCA-9D7D596F8CD1}"/>
              </a:ext>
            </a:extLst>
          </p:cNvPr>
          <p:cNvSpPr>
            <a:spLocks noGrp="1"/>
          </p:cNvSpPr>
          <p:nvPr/>
        </p:nvSpPr>
        <p:spPr>
          <a:xfrm>
            <a:off x="5237934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Árbol 3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6F0CA65-7AC1-4779-BFB4-AE523EEC4EEE}"/>
              </a:ext>
            </a:extLst>
          </p:cNvPr>
          <p:cNvSpPr>
            <a:spLocks noGrp="1"/>
          </p:cNvSpPr>
          <p:nvPr/>
        </p:nvSpPr>
        <p:spPr>
          <a:xfrm>
            <a:off x="5952309" y="2838450"/>
            <a:ext cx="0" cy="66675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D3FB74A-B620-4E55-9B38-F610C8C129FB}"/>
              </a:ext>
            </a:extLst>
          </p:cNvPr>
          <p:cNvSpPr>
            <a:spLocks noGrp="1"/>
          </p:cNvSpPr>
          <p:nvPr/>
        </p:nvSpPr>
        <p:spPr>
          <a:xfrm>
            <a:off x="5428434" y="3524250"/>
            <a:ext cx="1047750" cy="685800"/>
          </a:xfrm>
          <a:prstGeom prst="roundRect">
            <a:avLst>
              <a:gd name="adj" fmla="val 11111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Sí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7824AB-79E8-414B-898F-19EA8CA6DF19}"/>
              </a:ext>
            </a:extLst>
          </p:cNvPr>
          <p:cNvSpPr>
            <a:spLocks noGrp="1"/>
          </p:cNvSpPr>
          <p:nvPr/>
        </p:nvSpPr>
        <p:spPr>
          <a:xfrm>
            <a:off x="7190559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Árbol 4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2DDE2F8-DFDD-4195-AFF4-A09398CC3FED}"/>
              </a:ext>
            </a:extLst>
          </p:cNvPr>
          <p:cNvSpPr>
            <a:spLocks noGrp="1"/>
          </p:cNvSpPr>
          <p:nvPr/>
        </p:nvSpPr>
        <p:spPr>
          <a:xfrm>
            <a:off x="7904934" y="2838450"/>
            <a:ext cx="0" cy="66675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1C0686B-28F1-4008-9835-03E891C3A663}"/>
              </a:ext>
            </a:extLst>
          </p:cNvPr>
          <p:cNvSpPr>
            <a:spLocks noGrp="1"/>
          </p:cNvSpPr>
          <p:nvPr/>
        </p:nvSpPr>
        <p:spPr>
          <a:xfrm>
            <a:off x="7381059" y="3524250"/>
            <a:ext cx="1047750" cy="685800"/>
          </a:xfrm>
          <a:prstGeom prst="roundRect">
            <a:avLst>
              <a:gd name="adj" fmla="val 11111"/>
            </a:avLst>
          </a:prstGeom>
          <a:solidFill>
            <a:srgbClr val="2F9E75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Sí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8188FF-C08F-4EA3-A59D-6085194F0D5F}"/>
              </a:ext>
            </a:extLst>
          </p:cNvPr>
          <p:cNvSpPr>
            <a:spLocks noGrp="1"/>
          </p:cNvSpPr>
          <p:nvPr/>
        </p:nvSpPr>
        <p:spPr>
          <a:xfrm>
            <a:off x="9143184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AF4F6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Árbol 5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E3F9B78-3F1F-47CA-B136-BF8FC4FCF330}"/>
              </a:ext>
            </a:extLst>
          </p:cNvPr>
          <p:cNvSpPr>
            <a:spLocks noGrp="1"/>
          </p:cNvSpPr>
          <p:nvPr/>
        </p:nvSpPr>
        <p:spPr>
          <a:xfrm>
            <a:off x="9857559" y="2838450"/>
            <a:ext cx="0" cy="66675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E80E9C-E5A7-42B1-ABD4-F41F0E465248}"/>
              </a:ext>
            </a:extLst>
          </p:cNvPr>
          <p:cNvSpPr>
            <a:spLocks noGrp="1"/>
          </p:cNvSpPr>
          <p:nvPr/>
        </p:nvSpPr>
        <p:spPr>
          <a:xfrm>
            <a:off x="9333684" y="3524250"/>
            <a:ext cx="1047750" cy="685800"/>
          </a:xfrm>
          <a:prstGeom prst="roundRect">
            <a:avLst>
              <a:gd name="adj" fmla="val 11111"/>
            </a:avLst>
          </a:prstGeom>
          <a:solidFill>
            <a:srgbClr val="C95757"/>
          </a:solidFill>
          <a:ln w="19050">
            <a:solidFill>
              <a:srgbClr val="C95757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B36BB22-962E-4387-A1B8-D08079D6AACF}"/>
              </a:ext>
            </a:extLst>
          </p:cNvPr>
          <p:cNvSpPr>
            <a:spLocks noGrp="1"/>
          </p:cNvSpPr>
          <p:nvPr/>
        </p:nvSpPr>
        <p:spPr>
          <a:xfrm>
            <a:off x="2162990" y="4913537"/>
            <a:ext cx="2190750" cy="619125"/>
          </a:xfrm>
          <a:prstGeom prst="roundRect">
            <a:avLst>
              <a:gd name="adj" fmla="val 12308"/>
            </a:avLst>
          </a:prstGeom>
          <a:solidFill>
            <a:srgbClr val="D9EFE7"/>
          </a:solidFill>
          <a:ln w="19050">
            <a:solidFill>
              <a:srgbClr val="2F9E75"/>
            </a:solidFill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rPr>
              <a:t>3 votos Sí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B57D8A4-511D-4C87-885D-3315AC962CB0}"/>
              </a:ext>
            </a:extLst>
          </p:cNvPr>
          <p:cNvSpPr>
            <a:spLocks noGrp="1"/>
          </p:cNvSpPr>
          <p:nvPr/>
        </p:nvSpPr>
        <p:spPr>
          <a:xfrm>
            <a:off x="4639490" y="4913537"/>
            <a:ext cx="2190750" cy="619125"/>
          </a:xfrm>
          <a:prstGeom prst="roundRect">
            <a:avLst>
              <a:gd name="adj" fmla="val 12308"/>
            </a:avLst>
          </a:prstGeom>
          <a:solidFill>
            <a:srgbClr val="F5DDDD"/>
          </a:solidFill>
          <a:ln w="19050">
            <a:solidFill>
              <a:srgbClr val="C95757"/>
            </a:solidFill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rPr>
              <a:t>2 votos No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48AEF8F-CB07-4C44-9ACF-877D16056AE6}"/>
              </a:ext>
            </a:extLst>
          </p:cNvPr>
          <p:cNvSpPr>
            <a:spLocks noGrp="1"/>
          </p:cNvSpPr>
          <p:nvPr/>
        </p:nvSpPr>
        <p:spPr>
          <a:xfrm>
            <a:off x="7306490" y="4818287"/>
            <a:ext cx="3143250" cy="809625"/>
          </a:xfrm>
          <a:prstGeom prst="roundRect">
            <a:avLst>
              <a:gd name="adj" fmla="val 9412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Predicción: Sí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179A8D-1594-4C20-8B18-1CDF0E202672}"/>
              </a:ext>
            </a:extLst>
          </p:cNvPr>
          <p:cNvSpPr>
            <a:spLocks noGrp="1"/>
          </p:cNvSpPr>
          <p:nvPr/>
        </p:nvSpPr>
        <p:spPr>
          <a:xfrm>
            <a:off x="3381375" y="5953125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Probabilidad estimada por votos: 3/5 = 0,60</a:t>
            </a:r>
          </a:p>
        </p:txBody>
      </p:sp>
    </p:spTree>
    <p:extLst>
      <p:ext uri="{BB962C8B-B14F-4D97-AF65-F5344CB8AC3E}">
        <p14:creationId xmlns:p14="http://schemas.microsoft.com/office/powerpoint/2010/main" val="1741469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5D66DFF-94AE-4319-9744-BB9F25B21DD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Hiperparámetros principales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00D091-90CB-4182-89E0-28E6C32D9488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703B85-51ED-4D4A-914B-1CBD376889A5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00B7A-A65B-4561-B488-9CCE23A83BC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AF64C-84D3-48C5-A239-22D8C840F06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14/18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A3A962-5410-4007-8CA4-D945F8AD3132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n_estimators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31BB13-978B-4635-9447-9B36926123F5}"/>
              </a:ext>
            </a:extLst>
          </p:cNvPr>
          <p:cNvSpPr>
            <a:spLocks noGrp="1"/>
          </p:cNvSpPr>
          <p:nvPr/>
        </p:nvSpPr>
        <p:spPr>
          <a:xfrm>
            <a:off x="3571875" y="1495425"/>
            <a:ext cx="3048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Número de árboles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56852F-2B01-4686-ACDA-B5B53A9E579D}"/>
              </a:ext>
            </a:extLst>
          </p:cNvPr>
          <p:cNvSpPr>
            <a:spLocks noGrp="1"/>
          </p:cNvSpPr>
          <p:nvPr/>
        </p:nvSpPr>
        <p:spPr>
          <a:xfrm>
            <a:off x="6667500" y="1495425"/>
            <a:ext cx="4762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Más árboles estabilizan el resultado y aumentan el costo.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F8C85E3-DFE2-4571-835A-244504E65D02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10763250" cy="0"/>
          </a:xfrm>
          <a:prstGeom prst="line">
            <a:avLst/>
          </a:prstGeom>
          <a:noFill/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C72E5-020A-4C2E-B6A6-4857DDA715FA}"/>
              </a:ext>
            </a:extLst>
          </p:cNvPr>
          <p:cNvSpPr>
            <a:spLocks noGrp="1"/>
          </p:cNvSpPr>
          <p:nvPr/>
        </p:nvSpPr>
        <p:spPr>
          <a:xfrm>
            <a:off x="666750" y="2409825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max_features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DFA56D-83F5-4950-8AB2-D2ADF697107B}"/>
              </a:ext>
            </a:extLst>
          </p:cNvPr>
          <p:cNvSpPr>
            <a:spLocks noGrp="1"/>
          </p:cNvSpPr>
          <p:nvPr/>
        </p:nvSpPr>
        <p:spPr>
          <a:xfrm>
            <a:off x="3571875" y="2409825"/>
            <a:ext cx="3048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Variables candidatas por nodo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44DD06-B301-4BCB-BAD7-5A9798B62B70}"/>
              </a:ext>
            </a:extLst>
          </p:cNvPr>
          <p:cNvSpPr>
            <a:spLocks noGrp="1"/>
          </p:cNvSpPr>
          <p:nvPr/>
        </p:nvSpPr>
        <p:spPr>
          <a:xfrm>
            <a:off x="6667500" y="2409825"/>
            <a:ext cx="4762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Menos variables reducen correlación y pueden aumentar sesgo.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2802B54-6BAB-4095-BA3E-084FA13AF2D8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10763250" cy="0"/>
          </a:xfrm>
          <a:prstGeom prst="line">
            <a:avLst/>
          </a:prstGeom>
          <a:noFill/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9D6D77-BE67-4AB4-AC24-0E4DFBD43959}"/>
              </a:ext>
            </a:extLst>
          </p:cNvPr>
          <p:cNvSpPr>
            <a:spLocks noGrp="1"/>
          </p:cNvSpPr>
          <p:nvPr/>
        </p:nvSpPr>
        <p:spPr>
          <a:xfrm>
            <a:off x="666750" y="3324225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max_depth / min_samples_leaf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386E82-BD55-4932-BDD2-095CF62CDCC3}"/>
              </a:ext>
            </a:extLst>
          </p:cNvPr>
          <p:cNvSpPr>
            <a:spLocks noGrp="1"/>
          </p:cNvSpPr>
          <p:nvPr/>
        </p:nvSpPr>
        <p:spPr>
          <a:xfrm>
            <a:off x="3571875" y="3324225"/>
            <a:ext cx="3048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Complejidad de cada árbol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866E18-296B-4B50-B0D1-7BDA947D00F7}"/>
              </a:ext>
            </a:extLst>
          </p:cNvPr>
          <p:cNvSpPr>
            <a:spLocks noGrp="1"/>
          </p:cNvSpPr>
          <p:nvPr/>
        </p:nvSpPr>
        <p:spPr>
          <a:xfrm>
            <a:off x="6667500" y="3324225"/>
            <a:ext cx="4762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Controlan hojas pequeñas y la suavidad de la predicción.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71FE4A1-04A4-4B41-A326-F28F5DF668A8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10763250" cy="0"/>
          </a:xfrm>
          <a:prstGeom prst="line">
            <a:avLst/>
          </a:prstGeom>
          <a:noFill/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0FD0B5-B036-4C7F-A1E8-323B9CC85224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bootstrap / max_samples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45C672-DB53-4F16-8A61-ED0D2FABBE6C}"/>
              </a:ext>
            </a:extLst>
          </p:cNvPr>
          <p:cNvSpPr>
            <a:spLocks noGrp="1"/>
          </p:cNvSpPr>
          <p:nvPr/>
        </p:nvSpPr>
        <p:spPr>
          <a:xfrm>
            <a:off x="3571875" y="4238625"/>
            <a:ext cx="3048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Cómo muestrear filas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F568CA-9657-441D-8634-6B9AC2747FF4}"/>
              </a:ext>
            </a:extLst>
          </p:cNvPr>
          <p:cNvSpPr>
            <a:spLocks noGrp="1"/>
          </p:cNvSpPr>
          <p:nvPr/>
        </p:nvSpPr>
        <p:spPr>
          <a:xfrm>
            <a:off x="6667500" y="4238625"/>
            <a:ext cx="4762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Definen si hay reemplazo y cuánto usa cada árbol.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9BEF250-4062-4C0F-BB39-E8EFC4529743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763250" cy="0"/>
          </a:xfrm>
          <a:prstGeom prst="line">
            <a:avLst/>
          </a:prstGeom>
          <a:noFill/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EC69A3-0E57-4D39-A1AF-4D266EFA44EF}"/>
              </a:ext>
            </a:extLst>
          </p:cNvPr>
          <p:cNvSpPr>
            <a:spLocks noGrp="1"/>
          </p:cNvSpPr>
          <p:nvPr/>
        </p:nvSpPr>
        <p:spPr>
          <a:xfrm>
            <a:off x="666750" y="5153025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class_weight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F3D74A-8DF2-41EC-A2D2-3048DA9791A8}"/>
              </a:ext>
            </a:extLst>
          </p:cNvPr>
          <p:cNvSpPr>
            <a:spLocks noGrp="1"/>
          </p:cNvSpPr>
          <p:nvPr/>
        </p:nvSpPr>
        <p:spPr>
          <a:xfrm>
            <a:off x="3571875" y="5153025"/>
            <a:ext cx="3048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Peso de las clases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A8754A-C31D-4CE0-ADC2-ED7299D3E5AC}"/>
              </a:ext>
            </a:extLst>
          </p:cNvPr>
          <p:cNvSpPr>
            <a:spLocks noGrp="1"/>
          </p:cNvSpPr>
          <p:nvPr/>
        </p:nvSpPr>
        <p:spPr>
          <a:xfrm>
            <a:off x="6667500" y="5153025"/>
            <a:ext cx="4762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Ayuda cuando la variable objetivo está desbalanceada.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06261924-E7BA-4371-A8E8-B05941D5187B}"/>
              </a:ext>
            </a:extLst>
          </p:cNvPr>
          <p:cNvSpPr>
            <a:spLocks noGrp="1"/>
          </p:cNvSpPr>
          <p:nvPr/>
        </p:nvSpPr>
        <p:spPr>
          <a:xfrm>
            <a:off x="666750" y="5867400"/>
            <a:ext cx="10763250" cy="0"/>
          </a:xfrm>
          <a:prstGeom prst="line">
            <a:avLst/>
          </a:prstGeom>
          <a:noFill/>
          <a:ln w="9525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F4E0FF-4888-490B-9746-D749E9889456}"/>
              </a:ext>
            </a:extLst>
          </p:cNvPr>
          <p:cNvSpPr>
            <a:spLocks noGrp="1"/>
          </p:cNvSpPr>
          <p:nvPr/>
        </p:nvSpPr>
        <p:spPr>
          <a:xfrm>
            <a:off x="723900" y="60579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Prioridad práctica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690632-0591-4DF8-9D4C-E57FE7C80449}"/>
              </a:ext>
            </a:extLst>
          </p:cNvPr>
          <p:cNvSpPr>
            <a:spLocks noGrp="1"/>
          </p:cNvSpPr>
          <p:nvPr/>
        </p:nvSpPr>
        <p:spPr>
          <a:xfrm>
            <a:off x="2667000" y="598170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Primero valida n_estimators, max_features y el tamaño mínimo de hoja.</a:t>
            </a:r>
          </a:p>
        </p:txBody>
      </p:sp>
    </p:spTree>
    <p:extLst>
      <p:ext uri="{BB962C8B-B14F-4D97-AF65-F5344CB8AC3E}">
        <p14:creationId xmlns:p14="http://schemas.microsoft.com/office/powerpoint/2010/main" val="1351041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9D1BC7-6396-4609-90F5-CD4303BD39B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Ventajas y limitaciones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51E995-0CBF-435D-970A-04036CB7B08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6E9F72-B62C-4763-8AED-76A402701FD0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E93861-2247-409B-BBB9-F2F4CED0E2A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FA000-792A-466A-A3B2-B0F4C431FB4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15/18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3BD462-64C7-4432-B61D-19314A53932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286375" cy="4238625"/>
          </a:xfrm>
          <a:prstGeom prst="rect">
            <a:avLst/>
          </a:prstGeom>
          <a:solidFill>
            <a:srgbClr val="EAF6F1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0C6C97-8A0F-491A-B9A0-3F94ED8842ED}"/>
              </a:ext>
            </a:extLst>
          </p:cNvPr>
          <p:cNvSpPr>
            <a:spLocks noGrp="1"/>
          </p:cNvSpPr>
          <p:nvPr/>
        </p:nvSpPr>
        <p:spPr>
          <a:xfrm>
            <a:off x="6238875" y="1524000"/>
            <a:ext cx="5286375" cy="4238625"/>
          </a:xfrm>
          <a:prstGeom prst="rect">
            <a:avLst/>
          </a:prstGeom>
          <a:solidFill>
            <a:srgbClr val="FAEEE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A118FB-CDA1-4574-82B2-D6F9624A686B}"/>
              </a:ext>
            </a:extLst>
          </p:cNvPr>
          <p:cNvSpPr>
            <a:spLocks noGrp="1"/>
          </p:cNvSpPr>
          <p:nvPr/>
        </p:nvSpPr>
        <p:spPr>
          <a:xfrm>
            <a:off x="933450" y="17621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9E75"/>
                </a:solidFill>
                <a:latin typeface="Helvetica Neue"/>
                <a:ea typeface="Helvetica Neue"/>
                <a:cs typeface="Helvetica Neue"/>
              </a:rPr>
              <a:t>Ventajas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514C4-392F-44D2-AC76-693F241181ED}"/>
              </a:ext>
            </a:extLst>
          </p:cNvPr>
          <p:cNvSpPr>
            <a:spLocks noGrp="1"/>
          </p:cNvSpPr>
          <p:nvPr/>
        </p:nvSpPr>
        <p:spPr>
          <a:xfrm>
            <a:off x="6505575" y="17621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rPr>
              <a:t>Limitaciones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4C1CBF-87C7-41A5-BCC2-6754E0FE917E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4762500" cy="3000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Buen desempeño sin suponer una relación lineal</a:t>
            </a:r>
          </a:p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Menor varianza que un árbol individual</a:t>
            </a:r>
          </a:p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Captura interacciones y umbrales de forma automática</a:t>
            </a:r>
          </a:p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Poco sensible al escalamiento de variables</a:t>
            </a:r>
          </a:p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OOB ofrece una estimación interna del error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7F024-7228-42F8-86AD-2E7598EFAC58}"/>
              </a:ext>
            </a:extLst>
          </p:cNvPr>
          <p:cNvSpPr>
            <a:spLocks noGrp="1"/>
          </p:cNvSpPr>
          <p:nvPr/>
        </p:nvSpPr>
        <p:spPr>
          <a:xfrm>
            <a:off x="6448425" y="2333625"/>
            <a:ext cx="4762500" cy="3000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Menor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interpretabilidad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que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un solo árbol</a:t>
            </a:r>
          </a:p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Mayor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costo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de memoria y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predicción</a:t>
            </a:r>
            <a:endParaRPr sz="1500" b="0" dirty="0">
              <a:solidFill>
                <a:srgbClr val="173042"/>
              </a:solidFill>
              <a:latin typeface="Helvetica Neue"/>
              <a:ea typeface="Helvetica Neue"/>
              <a:cs typeface="Helvetica Neue"/>
            </a:endParaRPr>
          </a:p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La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importancia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por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impureza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puede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inducir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a error</a:t>
            </a:r>
          </a:p>
          <a:p>
            <a:pPr marL="228600" indent="-114300" algn="l">
              <a:spcAft>
                <a:spcPts val="1200"/>
              </a:spcAft>
              <a:buChar char="•"/>
              <a:defRPr sz="1500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No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extrapola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bien fuera del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rango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observado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en</a:t>
            </a:r>
            <a:r>
              <a:rPr sz="1500" b="0" dirty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regresión</a:t>
            </a:r>
            <a:endParaRPr sz="1500" b="0" dirty="0">
              <a:solidFill>
                <a:srgbClr val="173042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E24244-848E-4B47-AB51-76C67362D1EB}"/>
              </a:ext>
            </a:extLst>
          </p:cNvPr>
          <p:cNvSpPr>
            <a:spLocks noGrp="1"/>
          </p:cNvSpPr>
          <p:nvPr/>
        </p:nvSpPr>
        <p:spPr>
          <a:xfrm>
            <a:off x="809625" y="5953125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Bagging comparte gran parte de estas propiedades. Random Forest suele ganar cuando la aleatoriedad de variables reduce errores correlacionados.</a:t>
            </a:r>
          </a:p>
        </p:txBody>
      </p:sp>
    </p:spTree>
    <p:extLst>
      <p:ext uri="{BB962C8B-B14F-4D97-AF65-F5344CB8AC3E}">
        <p14:creationId xmlns:p14="http://schemas.microsoft.com/office/powerpoint/2010/main" val="1749053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521821-DF73-4A16-9EB2-3E69D046860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Aplicaciones frecuentes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09A92-BCD9-4657-A6B4-D18247A95B9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68D18-12EF-4444-A002-99D66084839F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D9D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C80BC-780C-41C7-8CE5-D8E2B655D90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67E1D-934D-4C1B-837C-0074FC27E6F0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C7D4"/>
                </a:solidFill>
                <a:latin typeface="Helvetica Neue"/>
                <a:ea typeface="Helvetica Neue"/>
                <a:cs typeface="Helvetica Neue"/>
              </a:rPr>
              <a:t>16/18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16CE18-E1B6-4FD8-A6B7-7B306FA93037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A6FA8-5F55-4159-8951-810A93977071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8E8382-9207-4DDA-A866-AC9C97B44848}"/>
              </a:ext>
            </a:extLst>
          </p:cNvPr>
          <p:cNvSpPr>
            <a:spLocks noGrp="1"/>
          </p:cNvSpPr>
          <p:nvPr/>
        </p:nvSpPr>
        <p:spPr>
          <a:xfrm>
            <a:off x="1666875" y="14763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Riesgo y fraude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D70168-9078-4724-8D51-E905F1E8E129}"/>
              </a:ext>
            </a:extLst>
          </p:cNvPr>
          <p:cNvSpPr>
            <a:spLocks noGrp="1"/>
          </p:cNvSpPr>
          <p:nvPr/>
        </p:nvSpPr>
        <p:spPr>
          <a:xfrm>
            <a:off x="4476750" y="1457325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rPr>
              <a:t>Clasificar transacciones o clientes con señales heterogéneas.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064947-3549-4CCC-BF0E-E2D1657BF9AA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533400" cy="53340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97108C-61F0-4F43-A6D2-003447C02A51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5334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C7F62-726C-4EEE-BC71-5AD97DF93E98}"/>
              </a:ext>
            </a:extLst>
          </p:cNvPr>
          <p:cNvSpPr>
            <a:spLocks noGrp="1"/>
          </p:cNvSpPr>
          <p:nvPr/>
        </p:nvSpPr>
        <p:spPr>
          <a:xfrm>
            <a:off x="1666875" y="25431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Salud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B12DEA-E28B-497C-AC34-5F3239B0ABD3}"/>
              </a:ext>
            </a:extLst>
          </p:cNvPr>
          <p:cNvSpPr>
            <a:spLocks noGrp="1"/>
          </p:cNvSpPr>
          <p:nvPr/>
        </p:nvSpPr>
        <p:spPr>
          <a:xfrm>
            <a:off x="4476750" y="2524125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rPr>
              <a:t>Apoyar predicciones clínicas con variables tabulares.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F5CC63-67E4-4E53-BC1B-1DD1B5D417C9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533400" cy="53340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2E25E0-4234-4C01-AC2E-308B0F58CF9D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5334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35F8F1-1272-4D7C-A61E-E7AD456EE745}"/>
              </a:ext>
            </a:extLst>
          </p:cNvPr>
          <p:cNvSpPr>
            <a:spLocks noGrp="1"/>
          </p:cNvSpPr>
          <p:nvPr/>
        </p:nvSpPr>
        <p:spPr>
          <a:xfrm>
            <a:off x="1666875" y="36099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Operaciones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EBDAD-C05F-4D4A-B60F-E45C293362FE}"/>
              </a:ext>
            </a:extLst>
          </p:cNvPr>
          <p:cNvSpPr>
            <a:spLocks noGrp="1"/>
          </p:cNvSpPr>
          <p:nvPr/>
        </p:nvSpPr>
        <p:spPr>
          <a:xfrm>
            <a:off x="4476750" y="3590925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rPr>
              <a:t>Predecir fallas, demanda o tiempos con relaciones no lineales.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E2CB04-F3C0-43E4-87A8-23794810B574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533400" cy="53340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C0ED96-8FD6-4352-A216-BFA8FFB7B5E4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5334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454D3C-A04C-4357-9B88-5275995E9E2C}"/>
              </a:ext>
            </a:extLst>
          </p:cNvPr>
          <p:cNvSpPr>
            <a:spLocks noGrp="1"/>
          </p:cNvSpPr>
          <p:nvPr/>
        </p:nvSpPr>
        <p:spPr>
          <a:xfrm>
            <a:off x="1666875" y="46767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018E44-5A5D-430B-9476-68231F9B6C00}"/>
              </a:ext>
            </a:extLst>
          </p:cNvPr>
          <p:cNvSpPr>
            <a:spLocks noGrp="1"/>
          </p:cNvSpPr>
          <p:nvPr/>
        </p:nvSpPr>
        <p:spPr>
          <a:xfrm>
            <a:off x="4476750" y="4657725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7DCE5"/>
                </a:solidFill>
                <a:latin typeface="Helvetica Neue"/>
                <a:ea typeface="Helvetica Neue"/>
                <a:cs typeface="Helvetica Neue"/>
              </a:rPr>
              <a:t>Estimar respuesta, abandono o valor de clientes.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8AFC89-C1A4-4B03-AEFD-ADF81AA15A1E}"/>
              </a:ext>
            </a:extLst>
          </p:cNvPr>
          <p:cNvSpPr>
            <a:spLocks noGrp="1"/>
          </p:cNvSpPr>
          <p:nvPr/>
        </p:nvSpPr>
        <p:spPr>
          <a:xfrm>
            <a:off x="838200" y="5943600"/>
            <a:ext cx="1428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64E"/>
                </a:solidFill>
                <a:latin typeface="Helvetica Neue"/>
                <a:ea typeface="Helvetica Neue"/>
                <a:cs typeface="Helvetica Neue"/>
              </a:rPr>
              <a:t>Encaja mejor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F2392A-1D89-45CF-87B3-436DE9000416}"/>
              </a:ext>
            </a:extLst>
          </p:cNvPr>
          <p:cNvSpPr>
            <a:spLocks noGrp="1"/>
          </p:cNvSpPr>
          <p:nvPr/>
        </p:nvSpPr>
        <p:spPr>
          <a:xfrm>
            <a:off x="2400300" y="5857875"/>
            <a:ext cx="8667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Datos tabulares, relaciones complejas y una prioridad alta en desempeño predictivo.</a:t>
            </a:r>
          </a:p>
        </p:txBody>
      </p:sp>
    </p:spTree>
    <p:extLst>
      <p:ext uri="{BB962C8B-B14F-4D97-AF65-F5344CB8AC3E}">
        <p14:creationId xmlns:p14="http://schemas.microsoft.com/office/powerpoint/2010/main" val="419158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92E4197-D665-4E80-A687-F98550EB407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Flujo de trabajo y errores comunes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E5218-3796-4043-A361-813296DFCBF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43649B-90C0-4FEE-96A1-D1526224185E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DFEC53-872D-4D43-B78E-6776C1EA7BF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F8767-6E92-4D4F-A571-7441CDEBCD7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17/18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AEBD0D-D6B4-48D0-AE4D-2478483C47F6}"/>
              </a:ext>
            </a:extLst>
          </p:cNvPr>
          <p:cNvSpPr>
            <a:spLocks noGrp="1"/>
          </p:cNvSpPr>
          <p:nvPr/>
        </p:nvSpPr>
        <p:spPr>
          <a:xfrm>
            <a:off x="1102185" y="17145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19044D-6380-4199-88CA-E3074F9F5B05}"/>
              </a:ext>
            </a:extLst>
          </p:cNvPr>
          <p:cNvSpPr>
            <a:spLocks noGrp="1"/>
          </p:cNvSpPr>
          <p:nvPr/>
        </p:nvSpPr>
        <p:spPr>
          <a:xfrm>
            <a:off x="428625" y="247650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Separar prueba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310B0F-B2B4-4707-95AE-A1CB959AD2C3}"/>
              </a:ext>
            </a:extLst>
          </p:cNvPr>
          <p:cNvSpPr>
            <a:spLocks noGrp="1"/>
          </p:cNvSpPr>
          <p:nvPr/>
        </p:nvSpPr>
        <p:spPr>
          <a:xfrm>
            <a:off x="3883485" y="17145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C61926-EFEC-484B-BF18-918603BFAFEC}"/>
              </a:ext>
            </a:extLst>
          </p:cNvPr>
          <p:cNvSpPr>
            <a:spLocks noGrp="1"/>
          </p:cNvSpPr>
          <p:nvPr/>
        </p:nvSpPr>
        <p:spPr>
          <a:xfrm>
            <a:off x="3209925" y="247650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Definir métrica</a:t>
            </a:r>
          </a:p>
        </p:txBody>
      </p:sp>
      <p:cxnSp>
        <p:nvCxnSpPr>
          <p:cNvPr id="28" name="Straight Arrow Connector 27"/>
          <p:cNvCxnSpPr>
            <a:stCxn id="6" idx="3"/>
            <a:endCxn id="8" idx="1"/>
          </p:cNvCxnSpPr>
          <p:nvPr/>
        </p:nvCxnSpPr>
        <p:spPr>
          <a:xfrm>
            <a:off x="1673685" y="2000250"/>
            <a:ext cx="220980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B32E45-29F9-4BA8-814F-D950D169B7A2}"/>
              </a:ext>
            </a:extLst>
          </p:cNvPr>
          <p:cNvSpPr>
            <a:spLocks noGrp="1"/>
          </p:cNvSpPr>
          <p:nvPr/>
        </p:nvSpPr>
        <p:spPr>
          <a:xfrm>
            <a:off x="6664785" y="17145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7B6B0"/>
          </a:solidFill>
          <a:ln w="19050">
            <a:solidFill>
              <a:srgbClr val="17B6B0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4EC503-235E-40B4-BC40-7D5E918115D6}"/>
              </a:ext>
            </a:extLst>
          </p:cNvPr>
          <p:cNvSpPr>
            <a:spLocks noGrp="1"/>
          </p:cNvSpPr>
          <p:nvPr/>
        </p:nvSpPr>
        <p:spPr>
          <a:xfrm>
            <a:off x="5991225" y="247650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Ajustar con CV u OOB</a:t>
            </a:r>
          </a:p>
        </p:txBody>
      </p:sp>
      <p:cxnSp>
        <p:nvCxnSpPr>
          <p:cNvPr id="31" name="Straight Arrow Connector 30"/>
          <p:cNvCxnSpPr>
            <a:stCxn id="8" idx="3"/>
            <a:endCxn id="11" idx="1"/>
          </p:cNvCxnSpPr>
          <p:nvPr/>
        </p:nvCxnSpPr>
        <p:spPr>
          <a:xfrm>
            <a:off x="4454985" y="2000250"/>
            <a:ext cx="220980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A66E02-3242-4E7B-B7F8-F1C2D5B532C3}"/>
              </a:ext>
            </a:extLst>
          </p:cNvPr>
          <p:cNvSpPr>
            <a:spLocks noGrp="1"/>
          </p:cNvSpPr>
          <p:nvPr/>
        </p:nvSpPr>
        <p:spPr>
          <a:xfrm>
            <a:off x="9446085" y="17145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F4B64E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334CB-29DB-4356-A758-B4F13A9FEB94}"/>
              </a:ext>
            </a:extLst>
          </p:cNvPr>
          <p:cNvSpPr>
            <a:spLocks noGrp="1"/>
          </p:cNvSpPr>
          <p:nvPr/>
        </p:nvSpPr>
        <p:spPr>
          <a:xfrm>
            <a:off x="8772525" y="247650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Evaluar y explicar</a:t>
            </a:r>
          </a:p>
        </p:txBody>
      </p:sp>
      <p:cxnSp>
        <p:nvCxnSpPr>
          <p:cNvPr id="34" name="Straight Arrow Connector 33"/>
          <p:cNvCxnSpPr>
            <a:stCxn id="11" idx="3"/>
            <a:endCxn id="14" idx="1"/>
          </p:cNvCxnSpPr>
          <p:nvPr/>
        </p:nvCxnSpPr>
        <p:spPr>
          <a:xfrm>
            <a:off x="7236285" y="2000250"/>
            <a:ext cx="2209800" cy="0"/>
          </a:xfrm>
          <a:prstGeom prst="straightConnector1">
            <a:avLst/>
          </a:prstGeom>
          <a:ln w="19050">
            <a:solidFill>
              <a:srgbClr val="2D6D8E"/>
            </a:solidFill>
            <a:prstDash val="solid"/>
            <a:tailEnd type="arrow" w="med" len="med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13C927E-A1BD-41BE-9E15-243551ED3A7D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5757"/>
                </a:solidFill>
                <a:latin typeface="Helvetica Neue"/>
                <a:ea typeface="Helvetica Neue"/>
                <a:cs typeface="Helvetica Neue"/>
              </a:rPr>
              <a:t>Evitar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F300EB-C81C-4764-873B-932880BC22EF}"/>
              </a:ext>
            </a:extLst>
          </p:cNvPr>
          <p:cNvSpPr>
            <a:spLocks noGrp="1"/>
          </p:cNvSpPr>
          <p:nvPr/>
        </p:nvSpPr>
        <p:spPr>
          <a:xfrm>
            <a:off x="742950" y="4048125"/>
            <a:ext cx="10287000" cy="1905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28600" indent="-114300" algn="l">
              <a:spcAft>
                <a:spcPts val="11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Filtración de información al preparar datos antes de separar conjuntos</a:t>
            </a:r>
          </a:p>
          <a:p>
            <a:pPr marL="228600" indent="-114300" algn="l">
              <a:spcAft>
                <a:spcPts val="11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Elegir accuracy cuando la clase positiva es muy rara</a:t>
            </a:r>
          </a:p>
          <a:p>
            <a:pPr marL="228600" indent="-114300" algn="l">
              <a:spcAft>
                <a:spcPts val="11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Interpretar importancia por impureza como causalidad</a:t>
            </a:r>
          </a:p>
          <a:p>
            <a:pPr marL="228600" indent="-114300" algn="l">
              <a:spcAft>
                <a:spcPts val="1100"/>
              </a:spcAft>
              <a:buChar char="•"/>
              <a:def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Ajustar hiperparámetros mirando repetidamente el conjunto de prueba</a:t>
            </a:r>
          </a:p>
        </p:txBody>
      </p:sp>
    </p:spTree>
    <p:extLst>
      <p:ext uri="{BB962C8B-B14F-4D97-AF65-F5344CB8AC3E}">
        <p14:creationId xmlns:p14="http://schemas.microsoft.com/office/powerpoint/2010/main" val="2043947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EBE7EEF-9A31-4F26-829C-A0E2900F863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Síntesis y comprobación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FDD22F-4795-4C5C-9711-96EFAE1217BA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57250" cy="57150"/>
          </a:xfrm>
          <a:prstGeom prst="rect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0D8EEA-85F8-471B-B031-95794A09B6A8}"/>
              </a:ext>
            </a:extLst>
          </p:cNvPr>
          <p:cNvSpPr>
            <a:spLocks noGrp="1"/>
          </p:cNvSpPr>
          <p:nvPr/>
        </p:nvSpPr>
        <p:spPr>
          <a:xfrm>
            <a:off x="11287125" y="3619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0C82C-81EA-46BC-9F3C-C3374FCC50E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Random Forest y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8437E-3E28-4742-8863-A09BBE78DCE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57986"/>
                </a:solidFill>
                <a:latin typeface="Helvetica Neue"/>
                <a:ea typeface="Helvetica Neue"/>
                <a:cs typeface="Helvetica Neue"/>
              </a:rPr>
              <a:t>18/18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1EECDB-3CFE-4F26-9641-B81F4CF793F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Tres ideas para llevar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22DCE7-7FD6-44B9-B49F-35C8CFA3BF2D}"/>
              </a:ext>
            </a:extLst>
          </p:cNvPr>
          <p:cNvSpPr>
            <a:spLocks noGrp="1"/>
          </p:cNvSpPr>
          <p:nvPr/>
        </p:nvSpPr>
        <p:spPr>
          <a:xfrm>
            <a:off x="762000" y="2391595"/>
            <a:ext cx="514350" cy="5143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5F1106-D7EA-436B-B7EA-2BC335AAA1E8}"/>
              </a:ext>
            </a:extLst>
          </p:cNvPr>
          <p:cNvSpPr>
            <a:spLocks noGrp="1"/>
          </p:cNvSpPr>
          <p:nvPr/>
        </p:nvSpPr>
        <p:spPr>
          <a:xfrm>
            <a:off x="762000" y="239159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687A63-F979-4885-BB43-5BCEE06C4C4C}"/>
              </a:ext>
            </a:extLst>
          </p:cNvPr>
          <p:cNvSpPr>
            <a:spLocks noGrp="1"/>
          </p:cNvSpPr>
          <p:nvPr/>
        </p:nvSpPr>
        <p:spPr>
          <a:xfrm>
            <a:off x="1524000" y="2296345"/>
            <a:ext cx="43815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Bootstrap crea diversidad al cambiar las filas.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EC2FCC-17C4-4C80-A8AF-3F1EFB0F2979}"/>
              </a:ext>
            </a:extLst>
          </p:cNvPr>
          <p:cNvSpPr>
            <a:spLocks noGrp="1"/>
          </p:cNvSpPr>
          <p:nvPr/>
        </p:nvSpPr>
        <p:spPr>
          <a:xfrm>
            <a:off x="762000" y="3391720"/>
            <a:ext cx="514350" cy="514350"/>
          </a:xfrm>
          <a:prstGeom prst="ellipse">
            <a:avLst/>
          </a:prstGeom>
          <a:solidFill>
            <a:srgbClr val="17B6B0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8E0A8-FE5D-4A4D-85BE-2F151CD85EC6}"/>
              </a:ext>
            </a:extLst>
          </p:cNvPr>
          <p:cNvSpPr>
            <a:spLocks noGrp="1"/>
          </p:cNvSpPr>
          <p:nvPr/>
        </p:nvSpPr>
        <p:spPr>
          <a:xfrm>
            <a:off x="762000" y="339172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0F80E2-CCD2-4D0B-8FD8-3C45F818E63C}"/>
              </a:ext>
            </a:extLst>
          </p:cNvPr>
          <p:cNvSpPr>
            <a:spLocks noGrp="1"/>
          </p:cNvSpPr>
          <p:nvPr/>
        </p:nvSpPr>
        <p:spPr>
          <a:xfrm>
            <a:off x="1524000" y="3296470"/>
            <a:ext cx="43815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Bagging reduce varianza mediante agregación.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1FADFF-1513-4BCA-893B-62692959CEB1}"/>
              </a:ext>
            </a:extLst>
          </p:cNvPr>
          <p:cNvSpPr>
            <a:spLocks noGrp="1"/>
          </p:cNvSpPr>
          <p:nvPr/>
        </p:nvSpPr>
        <p:spPr>
          <a:xfrm>
            <a:off x="762000" y="4391845"/>
            <a:ext cx="514350" cy="514350"/>
          </a:xfrm>
          <a:prstGeom prst="ellipse">
            <a:avLst/>
          </a:prstGeom>
          <a:solidFill>
            <a:srgbClr val="F4B64E"/>
          </a:solidFill>
          <a:ln w="0">
            <a:noFill/>
          </a:ln>
        </p:spPr>
        <p:txBody>
          <a:bodyPr/>
          <a:lstStyle/>
          <a:p>
            <a:endParaRPr lang="en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67B2C-0DE5-41D9-B431-A9C6568CB024}"/>
              </a:ext>
            </a:extLst>
          </p:cNvPr>
          <p:cNvSpPr>
            <a:spLocks noGrp="1"/>
          </p:cNvSpPr>
          <p:nvPr/>
        </p:nvSpPr>
        <p:spPr>
          <a:xfrm>
            <a:off x="762000" y="439184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1CF8B-538D-4CE0-BF43-B662DE597BD8}"/>
              </a:ext>
            </a:extLst>
          </p:cNvPr>
          <p:cNvSpPr>
            <a:spLocks noGrp="1"/>
          </p:cNvSpPr>
          <p:nvPr/>
        </p:nvSpPr>
        <p:spPr>
          <a:xfrm>
            <a:off x="1524000" y="4296595"/>
            <a:ext cx="43815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042"/>
                </a:solidFill>
                <a:latin typeface="Helvetica Neue"/>
                <a:ea typeface="Helvetica Neue"/>
                <a:cs typeface="Helvetica Neue"/>
              </a:rPr>
              <a:t>Random Forest reduce también la correlación entre árboles.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68D130B-270F-402C-A354-1CF5987F07F4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0" cy="4381500"/>
          </a:xfrm>
          <a:prstGeom prst="line">
            <a:avLst/>
          </a:prstGeom>
          <a:noFill/>
          <a:ln w="19050">
            <a:solidFill>
              <a:srgbClr val="D7E4E8"/>
            </a:solidFill>
          </a:ln>
        </p:spPr>
        <p:txBody>
          <a:bodyPr/>
          <a:lstStyle/>
          <a:p>
            <a:endParaRPr lang="en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2574E1-7B34-464E-B617-338F026F349C}"/>
              </a:ext>
            </a:extLst>
          </p:cNvPr>
          <p:cNvSpPr>
            <a:spLocks noGrp="1"/>
          </p:cNvSpPr>
          <p:nvPr/>
        </p:nvSpPr>
        <p:spPr>
          <a:xfrm>
            <a:off x="6715125" y="138112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Preguntas de repaso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B6C28F5-9AB3-48BA-82DA-93DEBC32B1C8}"/>
              </a:ext>
            </a:extLst>
          </p:cNvPr>
          <p:cNvSpPr>
            <a:spLocks noGrp="1"/>
          </p:cNvSpPr>
          <p:nvPr/>
        </p:nvSpPr>
        <p:spPr>
          <a:xfrm>
            <a:off x="6715125" y="2143125"/>
            <a:ext cx="4286250" cy="800100"/>
          </a:xfrm>
          <a:prstGeom prst="roundRect">
            <a:avLst>
              <a:gd name="adj" fmla="val 9524"/>
            </a:avLst>
          </a:prstGeom>
          <a:solidFill>
            <a:srgbClr val="EAF4F6"/>
          </a:solidFill>
          <a:ln w="19050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¿Por qué aparecen filas repetidas en bootstrap?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D8A8EE-1304-477A-A937-E89137800101}"/>
              </a:ext>
            </a:extLst>
          </p:cNvPr>
          <p:cNvSpPr>
            <a:spLocks noGrp="1"/>
          </p:cNvSpPr>
          <p:nvPr/>
        </p:nvSpPr>
        <p:spPr>
          <a:xfrm>
            <a:off x="6715125" y="3333750"/>
            <a:ext cx="4286250" cy="800100"/>
          </a:xfrm>
          <a:prstGeom prst="roundRect">
            <a:avLst>
              <a:gd name="adj" fmla="val 9524"/>
            </a:avLst>
          </a:prstGeom>
          <a:solidFill>
            <a:srgbClr val="FFF1D9"/>
          </a:solidFill>
          <a:ln w="19050">
            <a:solidFill>
              <a:srgbClr val="F4B64E"/>
            </a:solidFill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¿Qué problema busca resolver max_features?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3E7B395-732A-4DD0-B15E-316E73505B9E}"/>
              </a:ext>
            </a:extLst>
          </p:cNvPr>
          <p:cNvSpPr>
            <a:spLocks noGrp="1"/>
          </p:cNvSpPr>
          <p:nvPr/>
        </p:nvSpPr>
        <p:spPr>
          <a:xfrm>
            <a:off x="6715125" y="4524375"/>
            <a:ext cx="4286250" cy="800100"/>
          </a:xfrm>
          <a:prstGeom prst="roundRect">
            <a:avLst>
              <a:gd name="adj" fmla="val 9524"/>
            </a:avLst>
          </a:prstGeom>
          <a:solidFill>
            <a:srgbClr val="EAF4F6"/>
          </a:solidFill>
          <a:ln w="19050">
            <a:solidFill>
              <a:srgbClr val="D7E4E8"/>
            </a:solidFill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2D"/>
                </a:solidFill>
                <a:latin typeface="Helvetica Neue"/>
                <a:ea typeface="Helvetica Neue"/>
                <a:cs typeface="Helvetica Neue"/>
              </a:rPr>
              <a:t>¿Qué aporta OOB y qué no reemplaza siempre?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B385AA-4BF7-4AC4-8D84-79598BFF9B90}"/>
              </a:ext>
            </a:extLst>
          </p:cNvPr>
          <p:cNvSpPr>
            <a:spLocks noGrp="1"/>
          </p:cNvSpPr>
          <p:nvPr/>
        </p:nvSpPr>
        <p:spPr>
          <a:xfrm>
            <a:off x="742950" y="5924550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B6B0"/>
                </a:solidFill>
                <a:latin typeface="Helvetica Neue"/>
                <a:ea typeface="Helvetica Neue"/>
                <a:cs typeface="Helvetica Neue"/>
              </a:rPr>
              <a:t>Siguiente paso sugerido: entrenar ambos modelos sobre el mismo conjunto y comparar error, tiempo e importancia por permutación.</a:t>
            </a:r>
          </a:p>
        </p:txBody>
      </p:sp>
    </p:spTree>
    <p:extLst>
      <p:ext uri="{BB962C8B-B14F-4D97-AF65-F5344CB8AC3E}">
        <p14:creationId xmlns:p14="http://schemas.microsoft.com/office/powerpoint/2010/main" val="16309370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2050</Words>
  <Application>Microsoft Macintosh PowerPoint</Application>
  <DocSecurity>0</DocSecurity>
  <PresentationFormat>Widescreen</PresentationFormat>
  <Paragraphs>383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Cambria Math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Bastian Galasso</cp:lastModifiedBy>
  <cp:revision>2</cp:revision>
  <dcterms:created xsi:type="dcterms:W3CDTF">2026-09-08T15:41:25Z</dcterms:created>
  <dcterms:modified xsi:type="dcterms:W3CDTF">2026-09-08T16:01:05Z</dcterms:modified>
</cp:coreProperties>
</file>