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Calibri"/>
              </a:rPr>
              <a:t>Ejemplo: VIF por variable climática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VIF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Temp. media</c:v>
                  </c:pt>
                  <c:pt idx="1">
                    <c:v>Precipitación</c:v>
                  </c:pt>
                  <c:pt idx="2">
                    <c:v>Humedad</c:v>
                  </c:pt>
                  <c:pt idx="3">
                    <c:v>Temp. máx.</c:v>
                  </c:pt>
                  <c:pt idx="4">
                    <c:v>Radiación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</c:v>
                </c:pt>
                <c:pt idx="1">
                  <c:v>2.4</c:v>
                </c:pt>
                <c:pt idx="2">
                  <c:v>3.1</c:v>
                </c:pt>
                <c:pt idx="3">
                  <c:v>9.6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FE5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0"/>
        <c:axPos val="l"/>
        <c:majorGridlines>
          <c:spPr>
            <a:ln w="12700" cap="flat">
              <a:solidFill>
                <a:srgbClr val="E6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188720"/>
            <a:ext cx="4754880" cy="47548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57200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EN DATA SCIENCE  ·  MACHINE LEARNING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Selección de Variables para Modelos de ML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58368" y="3794760"/>
            <a:ext cx="21945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· Wrapper · Embedded — de la teoría a la práctica con datos reales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 ·  Preparado por Jason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estudiar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84248"/>
            <a:ext cx="658368" cy="658368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6" name="Image 0" descr="icons/database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376" y="2155424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874520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98448" y="2240280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el Feature Engineering y su rol en el pipeline de ML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984248"/>
            <a:ext cx="658368" cy="658368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10" name="Image 1" descr="icons/searchminus_065A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816" y="2155424"/>
            <a:ext cx="316017" cy="3160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04888" y="1874520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seleccionar variables?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104888" y="2240280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 of dimensionality, overfitting y costo computacional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3401568"/>
            <a:ext cx="658368" cy="658368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14" name="Image 2" descr="icons/sitemap_065A8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76" y="3572744"/>
            <a:ext cx="316017" cy="31601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98448" y="3291840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 de métodos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298448" y="3657600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Wrapper y Embedded — lógica, ejemplos y comparación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263640" y="3401568"/>
            <a:ext cx="658368" cy="658368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18" name="Image 3" descr="icons/balance_065A8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816" y="3572744"/>
            <a:ext cx="316017" cy="31601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04888" y="3291840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Multicolinealidad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7104888" y="3657600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Correlación, VIF y su impacto en la selección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57200" y="4818888"/>
            <a:ext cx="658368" cy="658368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22" name="Image 4" descr="icons/tags_065A8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376" y="4990064"/>
            <a:ext cx="316017" cy="31601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98448" y="4709160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 asociado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1298448" y="5074920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de categóricas y escalado de variables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263640" y="4818888"/>
            <a:ext cx="658368" cy="658368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26" name="Image 5" descr="icons/seedling_065A8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4816" y="4990064"/>
            <a:ext cx="316017" cy="316017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04888" y="4709160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aplicado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7104888" y="5074920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variables en el proyecto Kiwi Hayward (CRISP-DM/ML(Q))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Diplomado Data Science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Feature Engineering?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9F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usar conocimiento del dominio y técnicas estadísticas para crear, transformar y seleccionar variables (features) que maximicen el poder predictivo de un modelo de Machine Learning.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77240" y="4069080"/>
            <a:ext cx="4754880" cy="0"/>
          </a:xfrm>
          <a:prstGeom prst="line">
            <a:avLst/>
          </a:prstGeom>
          <a:noFill/>
          <a:ln w="12700">
            <a:solidFill>
              <a:srgbClr val="3E7F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2519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“Los datos y las features que usas importan más que el algoritmo que eliges.”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5166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principio ampliamente citado en la práctica de ML aplicado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783080"/>
            <a:ext cx="5577840" cy="2103120"/>
          </a:xfrm>
          <a:prstGeom prst="roundRect">
            <a:avLst>
              <a:gd name="adj" fmla="val 5217"/>
            </a:avLst>
          </a:prstGeom>
          <a:solidFill>
            <a:srgbClr val="EAF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0" y="2057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0" descr="icons/magic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8661" y="2223821"/>
            <a:ext cx="307238" cy="30723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0" y="2011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Creation &amp; Transformation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0" y="260604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nuevas variables, codificar categóricas, escalar, discretizar (binning), tratar outliers y valores faltantes.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172200" y="4069080"/>
            <a:ext cx="5577840" cy="2148840"/>
          </a:xfrm>
          <a:prstGeom prst="roundRect">
            <a:avLst>
              <a:gd name="adj" fmla="val 5106"/>
            </a:avLst>
          </a:prstGeom>
          <a:solidFill>
            <a:srgbClr val="EAF2F6"/>
          </a:solidFill>
          <a:ln/>
        </p:spPr>
      </p:sp>
      <p:sp>
        <p:nvSpPr>
          <p:cNvPr id="17" name="Shape 14"/>
          <p:cNvSpPr/>
          <p:nvPr/>
        </p:nvSpPr>
        <p:spPr>
          <a:xfrm>
            <a:off x="6492240" y="4343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icons/filter_1C729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61" y="4509821"/>
            <a:ext cx="307238" cy="30723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0" y="4297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7315200" y="47548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subconjunto de variables más relevante, descartando ruido y redundancia. Es el foco de esta sesión.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Diplomado Data Science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Ubicación en el pipeline de Machine Learning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303020" y="3657600"/>
            <a:ext cx="9585655" cy="0"/>
          </a:xfrm>
          <a:prstGeom prst="line">
            <a:avLst/>
          </a:prstGeom>
          <a:noFill/>
          <a:ln w="25400">
            <a:solidFill>
              <a:srgbClr val="C9D8E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57200" y="278892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EAF2F6"/>
          </a:solidFill>
          <a:ln/>
        </p:spPr>
      </p:sp>
      <p:sp>
        <p:nvSpPr>
          <p:cNvPr id="7" name="Shape 5"/>
          <p:cNvSpPr/>
          <p:nvPr/>
        </p:nvSpPr>
        <p:spPr>
          <a:xfrm>
            <a:off x="1010412" y="299008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icons/database_1C72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568" y="3142244"/>
            <a:ext cx="280904" cy="280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" y="3703320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crudos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30352" y="4087368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Recolección e integración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" y="240487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374331" y="278892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EAF2F6"/>
          </a:solidFill>
          <a:ln/>
        </p:spPr>
      </p:sp>
      <p:sp>
        <p:nvSpPr>
          <p:cNvPr id="13" name="Shape 10"/>
          <p:cNvSpPr/>
          <p:nvPr/>
        </p:nvSpPr>
        <p:spPr>
          <a:xfrm>
            <a:off x="2927543" y="299008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icons/cogs_1C729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699" y="3142244"/>
            <a:ext cx="280904" cy="2809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47483" y="3703320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447483" y="4087368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outliers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2374331" y="240487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291462" y="278892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EAF2F6"/>
          </a:solidFill>
          <a:ln/>
        </p:spPr>
      </p:sp>
      <p:sp>
        <p:nvSpPr>
          <p:cNvPr id="19" name="Shape 15"/>
          <p:cNvSpPr/>
          <p:nvPr/>
        </p:nvSpPr>
        <p:spPr>
          <a:xfrm>
            <a:off x="4844674" y="299008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icons/magic_1C729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830" y="3142244"/>
            <a:ext cx="280904" cy="28090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364614" y="3703320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364614" y="4087368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y transformación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4291462" y="240487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208593" y="278892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065A82"/>
          </a:solidFill>
          <a:ln/>
        </p:spPr>
      </p:sp>
      <p:sp>
        <p:nvSpPr>
          <p:cNvPr id="25" name="Shape 20"/>
          <p:cNvSpPr/>
          <p:nvPr/>
        </p:nvSpPr>
        <p:spPr>
          <a:xfrm>
            <a:off x="6761805" y="299008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3" descr="icons/filter_065A8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3961" y="3142244"/>
            <a:ext cx="280904" cy="2809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281745" y="3703320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6281745" y="4087368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/ Wrapper / Embedded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6208593" y="240487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8125724" y="278892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EAF2F6"/>
          </a:solidFill>
          <a:ln/>
        </p:spPr>
      </p:sp>
      <p:sp>
        <p:nvSpPr>
          <p:cNvPr id="31" name="Shape 25"/>
          <p:cNvSpPr/>
          <p:nvPr/>
        </p:nvSpPr>
        <p:spPr>
          <a:xfrm>
            <a:off x="8678936" y="299008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4" descr="icons/brain_1C729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1092" y="3142244"/>
            <a:ext cx="280904" cy="28090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198876" y="3703320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8198876" y="4087368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del algoritmo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8125724" y="240487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10042855" y="278892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EAF2F6"/>
          </a:solidFill>
          <a:ln/>
        </p:spPr>
      </p:sp>
      <p:sp>
        <p:nvSpPr>
          <p:cNvPr id="37" name="Shape 30"/>
          <p:cNvSpPr/>
          <p:nvPr/>
        </p:nvSpPr>
        <p:spPr>
          <a:xfrm>
            <a:off x="10596067" y="299008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5" descr="icons/clipboard_1C729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8223" y="3142244"/>
            <a:ext cx="280904" cy="28090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0116007" y="3703320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0116007" y="4087368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métricas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10042855" y="240487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Text 34"/>
          <p:cNvSpPr/>
          <p:nvPr/>
        </p:nvSpPr>
        <p:spPr>
          <a:xfrm>
            <a:off x="457200" y="4937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selección de variables ocurre después de crear/transformar features y antes de entrenar el modelo final — nunca usando datos de test.</a:t>
            </a:r>
            <a:endParaRPr lang="en-US" sz="1300" dirty="0"/>
          </a:p>
        </p:txBody>
      </p:sp>
      <p:sp>
        <p:nvSpPr>
          <p:cNvPr id="43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Diplomado Data Science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seleccionar variables?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EAF2F6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116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searchminus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201" y="215908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6974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 of dimensionality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3063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mayor número de variables, se requieren exponencialmente más datos para generalizar bien.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70248" y="178308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EAF2F6"/>
          </a:solidFill>
          <a:ln/>
        </p:spPr>
      </p:sp>
      <p:sp>
        <p:nvSpPr>
          <p:cNvPr id="11" name="Shape 8"/>
          <p:cNvSpPr/>
          <p:nvPr/>
        </p:nvSpPr>
        <p:spPr>
          <a:xfrm>
            <a:off x="4498848" y="20116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icons/warning_065A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249" y="215908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98848" y="26974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98848" y="3063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irrelevantes o ruidosas hacen que el modelo memorice en vez de aprender patrones reales.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83296" y="178308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EAF2F6"/>
          </a:solidFill>
          <a:ln/>
        </p:spPr>
      </p:sp>
      <p:sp>
        <p:nvSpPr>
          <p:cNvPr id="16" name="Shape 12"/>
          <p:cNvSpPr/>
          <p:nvPr/>
        </p:nvSpPr>
        <p:spPr>
          <a:xfrm>
            <a:off x="8311896" y="20116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icons/balance_065A8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297" y="2159081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11896" y="26974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Multicolinealidad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311896" y="3063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redundantes distorsionan coeficientes e interpretabilidad, especialmente en modelos lineales.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384048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EAF2F6"/>
          </a:solidFill>
          <a:ln/>
        </p:spPr>
      </p:sp>
      <p:sp>
        <p:nvSpPr>
          <p:cNvPr id="21" name="Shape 16"/>
          <p:cNvSpPr/>
          <p:nvPr/>
        </p:nvSpPr>
        <p:spPr>
          <a:xfrm>
            <a:off x="685800" y="40690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icons/cogs_065A8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01" y="4216481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5800" y="47548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computacional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85800" y="51206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variables → entrenamiento e inferencia más rápidos y económicos en producción.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70248" y="384048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EAF2F6"/>
          </a:solidFill>
          <a:ln/>
        </p:spPr>
      </p:sp>
      <p:sp>
        <p:nvSpPr>
          <p:cNvPr id="26" name="Shape 20"/>
          <p:cNvSpPr/>
          <p:nvPr/>
        </p:nvSpPr>
        <p:spPr>
          <a:xfrm>
            <a:off x="4498848" y="40690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icons/bulb_065A8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6249" y="4216481"/>
            <a:ext cx="272125" cy="27212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498848" y="47548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Interpretabilidad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498848" y="51206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con menos variables es más fácil de explicar a stakeholders del negocio.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083296" y="384048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EAF2F6"/>
          </a:solidFill>
          <a:ln/>
        </p:spPr>
      </p:sp>
      <p:sp>
        <p:nvSpPr>
          <p:cNvPr id="31" name="Shape 24"/>
          <p:cNvSpPr/>
          <p:nvPr/>
        </p:nvSpPr>
        <p:spPr>
          <a:xfrm>
            <a:off x="8311896" y="40690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5" descr="icons/chart_065A8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9297" y="4216481"/>
            <a:ext cx="272125" cy="27212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11896" y="47548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desempeño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311896" y="51206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ruido puede mejorar métricas de validación, no solo simplificar el modelo.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Diplomado Data Science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Taxonomía de métodos de selección de variables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611880" cy="4206240"/>
          </a:xfrm>
          <a:prstGeom prst="roundRect">
            <a:avLst>
              <a:gd name="adj" fmla="val 3544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1760220" y="22402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filter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1738" y="2501798"/>
            <a:ext cx="482803" cy="482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4747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406908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Evalúan cada variable de forma independiente del modelo, usando medidas estadísticas.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05840" y="5577840"/>
            <a:ext cx="251460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6692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· escalable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88536" y="1874520"/>
            <a:ext cx="3611880" cy="4206240"/>
          </a:xfrm>
          <a:prstGeom prst="roundRect">
            <a:avLst>
              <a:gd name="adj" fmla="val 3544"/>
            </a:avLst>
          </a:prstGeom>
          <a:solidFill>
            <a:srgbClr val="1C7293"/>
          </a:solidFill>
          <a:ln/>
        </p:spPr>
      </p:sp>
      <p:sp>
        <p:nvSpPr>
          <p:cNvPr id="13" name="Shape 10"/>
          <p:cNvSpPr/>
          <p:nvPr/>
        </p:nvSpPr>
        <p:spPr>
          <a:xfrm>
            <a:off x="5591556" y="22402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icons/random_1C729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074" y="2501798"/>
            <a:ext cx="482803" cy="482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71416" y="34747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Wrapper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654296" y="406908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Evalúan subconjuntos de variables entrenando el modelo real y midiendo su desempeño.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837176" y="5577840"/>
            <a:ext cx="251460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471416" y="56692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Preciso · costoso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119872" y="1874520"/>
            <a:ext cx="3611880" cy="4206240"/>
          </a:xfrm>
          <a:prstGeom prst="roundRect">
            <a:avLst>
              <a:gd name="adj" fmla="val 3544"/>
            </a:avLst>
          </a:prstGeom>
          <a:solidFill>
            <a:srgbClr val="21295C"/>
          </a:solidFill>
          <a:ln/>
        </p:spPr>
      </p:sp>
      <p:sp>
        <p:nvSpPr>
          <p:cNvPr id="20" name="Shape 16"/>
          <p:cNvSpPr/>
          <p:nvPr/>
        </p:nvSpPr>
        <p:spPr>
          <a:xfrm>
            <a:off x="9422892" y="22402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icons/tree_21295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4410" y="2501798"/>
            <a:ext cx="482803" cy="48280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02752" y="34747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8485632" y="406908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selección ocurre dentro del propio algoritmo de entrenamiento (regularización, importancia).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668512" y="5577840"/>
            <a:ext cx="251460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302752" y="56692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costo/precisión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Diplomado Data Science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Filter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02920" cy="50292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6" name="Image 0" descr="icons/check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9138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7647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Threshold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434840" y="17647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variables con varianza casi nula (aportan poca información discriminante).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404872"/>
            <a:ext cx="10378440" cy="0"/>
          </a:xfrm>
          <a:prstGeom prst="line">
            <a:avLst/>
          </a:prstGeom>
          <a:noFill/>
          <a:ln w="12700">
            <a:solidFill>
              <a:srgbClr val="E3EB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560320"/>
            <a:ext cx="502920" cy="50292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11" name="Image 1" descr="icons/check_065A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" y="269107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25420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de Pearson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34840" y="25420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relación lineal entre variable numérica y target; útil para descartar redundancia.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182112"/>
            <a:ext cx="10378440" cy="0"/>
          </a:xfrm>
          <a:prstGeom prst="line">
            <a:avLst/>
          </a:prstGeom>
          <a:noFill/>
          <a:ln w="12700">
            <a:solidFill>
              <a:srgbClr val="E3EB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" y="3337560"/>
            <a:ext cx="502920" cy="50292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16" name="Image 2" descr="icons/check_065A8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346831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33192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Chi-cuadrado (χ²)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434840" y="331927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independencia entre variables categóricas y el target categórico.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3959352"/>
            <a:ext cx="10378440" cy="0"/>
          </a:xfrm>
          <a:prstGeom prst="line">
            <a:avLst/>
          </a:prstGeom>
          <a:noFill/>
          <a:ln w="12700">
            <a:solidFill>
              <a:srgbClr val="E3EB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7200" y="4114800"/>
            <a:ext cx="502920" cy="50292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21" name="Image 3" descr="icons/check_065A8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" y="424555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43000" y="40965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F-test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434840" y="409651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medias del target continuo entre categorías de una variable predictora.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4736592"/>
            <a:ext cx="10378440" cy="0"/>
          </a:xfrm>
          <a:prstGeom prst="line">
            <a:avLst/>
          </a:prstGeom>
          <a:noFill/>
          <a:ln w="12700">
            <a:solidFill>
              <a:srgbClr val="E3EB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200" y="4892040"/>
            <a:ext cx="502920" cy="50292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26" name="Image 4" descr="icons/check_065A8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" y="502279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43000" y="48737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Mutua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434840" y="487375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relaciones no lineales entre variable y target, a diferencia de Pearson.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57200" y="5715000"/>
            <a:ext cx="10378440" cy="566928"/>
          </a:xfrm>
          <a:prstGeom prst="roundRect">
            <a:avLst>
              <a:gd name="adj" fmla="val 12903"/>
            </a:avLst>
          </a:prstGeom>
          <a:solidFill>
            <a:srgbClr val="EAF2F6"/>
          </a:solidFill>
          <a:ln/>
        </p:spPr>
      </p:sp>
      <p:sp>
        <p:nvSpPr>
          <p:cNvPr id="30" name="Text 23"/>
          <p:cNvSpPr/>
          <p:nvPr/>
        </p:nvSpPr>
        <p:spPr>
          <a:xfrm>
            <a:off x="685800" y="571500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muy rápidos y agnósticos al modelo.   Limitación: ignoran interacciones entre variables.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Diplomado Data Science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Wrapper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48640" cy="54864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6" name="Image 0" descr="icons/random_1C72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75564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 (Recursive Feature Elimination)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0" y="1755648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 el modelo, elimina la variable menos importante, y repite iterativamente.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496312"/>
            <a:ext cx="10378440" cy="0"/>
          </a:xfrm>
          <a:prstGeom prst="line">
            <a:avLst/>
          </a:prstGeom>
          <a:noFill/>
          <a:ln w="12700">
            <a:solidFill>
              <a:srgbClr val="E3EB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651760"/>
            <a:ext cx="548640" cy="54864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11" name="Image 1" descr="icons/random_1C729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" y="27944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62432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Selection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486400" y="2624328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cero variables y agrega, en cada paso, la que más mejora el desempeño.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364992"/>
            <a:ext cx="10378440" cy="0"/>
          </a:xfrm>
          <a:prstGeom prst="line">
            <a:avLst/>
          </a:prstGeom>
          <a:noFill/>
          <a:ln w="12700">
            <a:solidFill>
              <a:srgbClr val="E3EB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" y="3520440"/>
            <a:ext cx="548640" cy="54864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16" name="Image 2" descr="icons/random_1C729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36630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349300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Elimination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486400" y="3493008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del set completo y elimina, en cada paso, la variable menos útil.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233672"/>
            <a:ext cx="10378440" cy="0"/>
          </a:xfrm>
          <a:prstGeom prst="line">
            <a:avLst/>
          </a:prstGeom>
          <a:noFill/>
          <a:ln w="12700">
            <a:solidFill>
              <a:srgbClr val="E3EB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7200" y="4389120"/>
            <a:ext cx="548640" cy="54864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21" name="Image 3" descr="icons/random_1C729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" y="453176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436168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Search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486400" y="4361688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todas las combinaciones posibles de variables — óptimo pero muy costoso.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5349240"/>
            <a:ext cx="10378440" cy="566928"/>
          </a:xfrm>
          <a:prstGeom prst="roundRect">
            <a:avLst>
              <a:gd name="adj" fmla="val 12903"/>
            </a:avLst>
          </a:prstGeom>
          <a:solidFill>
            <a:srgbClr val="EAF2F6"/>
          </a:solidFill>
          <a:ln/>
        </p:spPr>
      </p:sp>
      <p:sp>
        <p:nvSpPr>
          <p:cNvPr id="25" name="Text 19"/>
          <p:cNvSpPr/>
          <p:nvPr/>
        </p:nvSpPr>
        <p:spPr>
          <a:xfrm>
            <a:off x="685800" y="534924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considera interacciones y desempeño real del modelo.   Limitación: computacionalmente costoso en datasets grandes.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Diplomado Data Science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Embedded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48640" cy="54864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6" name="Image 0" descr="icons/tree_2129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75564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(Regularización L1)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0" y="1755648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 cero los coeficientes de variables irrelevantes durante el propio ajuste.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496312"/>
            <a:ext cx="10378440" cy="0"/>
          </a:xfrm>
          <a:prstGeom prst="line">
            <a:avLst/>
          </a:prstGeom>
          <a:noFill/>
          <a:ln w="12700">
            <a:solidFill>
              <a:srgbClr val="E3EB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651760"/>
            <a:ext cx="548640" cy="54864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11" name="Image 1" descr="icons/tree_21295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" y="27944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62432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/ Elastic Net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486400" y="2624328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 coeficientes grandes; Elastic Net combina L1 y L2 para grupos correlacionados.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364992"/>
            <a:ext cx="10378440" cy="0"/>
          </a:xfrm>
          <a:prstGeom prst="line">
            <a:avLst/>
          </a:prstGeom>
          <a:noFill/>
          <a:ln w="12700">
            <a:solidFill>
              <a:srgbClr val="E3EB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" y="3520440"/>
            <a:ext cx="548640" cy="54864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16" name="Image 2" descr="icons/tree_21295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36630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349300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(árboles)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486400" y="3493008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/ Gradient Boosting rankean variables por reducción de impureza.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233672"/>
            <a:ext cx="10378440" cy="0"/>
          </a:xfrm>
          <a:prstGeom prst="line">
            <a:avLst/>
          </a:prstGeom>
          <a:noFill/>
          <a:ln w="12700">
            <a:solidFill>
              <a:srgbClr val="E3EB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7200" y="4389120"/>
            <a:ext cx="548640" cy="54864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21" name="Image 3" descr="icons/tree_21295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" y="453176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436168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486400" y="4361688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Cuantifican la contribución marginal de cada variable a las predicciones del modelo.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5349240"/>
            <a:ext cx="10378440" cy="566928"/>
          </a:xfrm>
          <a:prstGeom prst="roundRect">
            <a:avLst>
              <a:gd name="adj" fmla="val 12903"/>
            </a:avLst>
          </a:prstGeom>
          <a:solidFill>
            <a:srgbClr val="EAF2F6"/>
          </a:solidFill>
          <a:ln/>
        </p:spPr>
      </p:sp>
      <p:sp>
        <p:nvSpPr>
          <p:cNvPr id="25" name="Text 19"/>
          <p:cNvSpPr/>
          <p:nvPr/>
        </p:nvSpPr>
        <p:spPr>
          <a:xfrm>
            <a:off x="685800" y="534924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buen balance costo/precisión, integrado al entrenamiento.   Limitación: depende del algoritmo elegido.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Diplomado Data Science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vs. Wrapper vs. Embedded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92840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3703320" cy="54864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60520" y="1828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8288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0" y="1828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11292840" cy="621792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77440"/>
            <a:ext cx="3703320" cy="62179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computacional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60520" y="237744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46520" y="237744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9680" y="2377440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2999232"/>
            <a:ext cx="3703320" cy="62179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interacciones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60520" y="299923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46520" y="2999232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69680" y="2999232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621024"/>
            <a:ext cx="11292840" cy="621792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621024"/>
            <a:ext cx="3703320" cy="62179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del modelo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60520" y="362102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46520" y="3621024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869680" y="3621024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242816"/>
            <a:ext cx="3703320" cy="62179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overfitting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160520" y="424281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46520" y="4242816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Medio-Alto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69680" y="4242816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Bajo-Medio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4864608"/>
            <a:ext cx="11292840" cy="621792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64608"/>
            <a:ext cx="3703320" cy="62179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(muchas variables)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160520" y="486460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46520" y="486460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869680" y="4864608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Media-Alta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5486400"/>
            <a:ext cx="3703320" cy="62179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160520" y="548640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Correlación, χ², ANOVA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46520" y="548640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RFE, Forward/Backward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869680" y="5486400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Lasso, Random Forest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Diplomado Data Science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Multicolinealidad y el Factor de Inflación de Varianza (VIF)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VIF mide cuánto se infla la varianza de un coeficiente por su correlación con otras variables predictoras: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EAF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VIFᵢ = 1 / (1 − R²ᵢ)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icons/check_1C72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354787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34015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= 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423160" y="34015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correlación con otras variables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57200" y="40873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icons/check_1C729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420624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405993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1–5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423160" y="405993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moderada, generalmente aceptable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457200" y="474573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icons/warning_C9622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864608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471830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&gt; 5–10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2423160" y="471830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Multicolinealidad alta — evaluar exclusión</a:t>
            </a:r>
            <a:endParaRPr lang="en-US" sz="108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897880" y="1783080"/>
          <a:ext cx="58521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Text 15"/>
          <p:cNvSpPr/>
          <p:nvPr/>
        </p:nvSpPr>
        <p:spPr>
          <a:xfrm>
            <a:off x="6172200" y="5806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referencia ≈ 5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Diplomado Data Science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Codificación de variables categóricas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EAF2F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3911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tags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2181758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842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2651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una columna binaria por categoría. Ideal para categorías nominales sin orden y baja cardinalidad.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78308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EAF2F6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203911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icons/tags_065A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166" y="2181758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9842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46520" y="2651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enteros respetando un orden natural (ej. bajo/medio/alto).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388620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EAF2F6"/>
          </a:solidFill>
          <a:ln/>
        </p:spPr>
      </p:sp>
      <p:sp>
        <p:nvSpPr>
          <p:cNvPr id="16" name="Shape 12"/>
          <p:cNvSpPr/>
          <p:nvPr/>
        </p:nvSpPr>
        <p:spPr>
          <a:xfrm>
            <a:off x="731520" y="41422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icons/tags_065A8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4284878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4087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/ Mean Encoding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731520" y="4754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cada categoría por el promedio del target — útil en alta cardinalidad, con riesgo de leakage.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72200" y="388620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EAF2F6"/>
          </a:solidFill>
          <a:ln/>
        </p:spPr>
      </p:sp>
      <p:sp>
        <p:nvSpPr>
          <p:cNvPr id="21" name="Shape 16"/>
          <p:cNvSpPr/>
          <p:nvPr/>
        </p:nvSpPr>
        <p:spPr>
          <a:xfrm>
            <a:off x="6446520" y="41422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icons/tags_065A8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166" y="4284878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4087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Encoding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446520" y="4754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Sustituye la categoría por su frecuencia relativa en el dataset.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Diplomado Data Science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Escalado de variables numéricas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0140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7373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069080" y="17373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/ Idea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01000" y="1737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1201400" cy="1051560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24028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(Z-score)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69080" y="22402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 − μ) / σ  →  media 0, desv.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63840" y="22402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que asumen distribución normal: regresión, SVM, PCA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329184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Normalization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069080" y="32918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 − min) / (max − min)  →  rango [0,1]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63840" y="329184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neuronales, algoritmos basados en distancia (KNN)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343400"/>
            <a:ext cx="11201400" cy="1051560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3434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Scaler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43434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 − mediana) / IQR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0" y="43434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con outliers significativos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5532120"/>
            <a:ext cx="11201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el escalado no selecciona variables, pero suele aplicarse antes de métodos Wrapper/Embedded sensibles a la escala (Lasso, SVM, KNN).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Diplomado Data Science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Reducción de dimensionalidad: ¿selección o transformación?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EAF2F6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031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filter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225765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variables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83464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 variables originales (interpretables)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Wrapper, Embedded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número de columnas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035040" y="182880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21295C"/>
          </a:solidFill>
          <a:ln/>
        </p:spPr>
      </p:sp>
      <p:sp>
        <p:nvSpPr>
          <p:cNvPr id="11" name="Shape 8"/>
          <p:cNvSpPr/>
          <p:nvPr/>
        </p:nvSpPr>
        <p:spPr>
          <a:xfrm>
            <a:off x="6355080" y="21031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icons/compress_21295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614" y="225765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dimensionalidad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355080" y="283464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nuevas combinaciones (componentes)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(lineal), t-SNE / UMAP (visualización)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 interpretabilidad directa de las variables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Diplomado Data Science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Librerías para implementar selección de variables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EAF2F6"/>
          </a:solidFill>
          <a:ln/>
        </p:spPr>
      </p:sp>
      <p:sp>
        <p:nvSpPr>
          <p:cNvPr id="6" name="Shape 4"/>
          <p:cNvSpPr/>
          <p:nvPr/>
        </p:nvSpPr>
        <p:spPr>
          <a:xfrm>
            <a:off x="1952244" y="210312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code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3910" y="2264786"/>
            <a:ext cx="298460" cy="298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834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31729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SelectKBest, RFE, RFECV, SelectFromModel, VarianceThreshold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70248" y="187452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EAF2F6"/>
          </a:solidFill>
          <a:ln/>
        </p:spPr>
      </p:sp>
      <p:sp>
        <p:nvSpPr>
          <p:cNvPr id="11" name="Shape 8"/>
          <p:cNvSpPr/>
          <p:nvPr/>
        </p:nvSpPr>
        <p:spPr>
          <a:xfrm>
            <a:off x="5765292" y="210312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icons/layers_065A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958" y="2264786"/>
            <a:ext cx="298460" cy="298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53128" y="2834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feature-engine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498848" y="31729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Transformadores compatibles con sklearn Pipeline para FE completo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83296" y="187452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EAF2F6"/>
          </a:solidFill>
          <a:ln/>
        </p:spPr>
      </p:sp>
      <p:sp>
        <p:nvSpPr>
          <p:cNvPr id="16" name="Shape 12"/>
          <p:cNvSpPr/>
          <p:nvPr/>
        </p:nvSpPr>
        <p:spPr>
          <a:xfrm>
            <a:off x="9578340" y="210312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icons/tree_065A8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006" y="2264786"/>
            <a:ext cx="298460" cy="298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66176" y="2834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Boruta / BorutaPy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11896" y="31729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basado en Random Forest con prueba de significancia estadística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384048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EAF2F6"/>
          </a:solidFill>
          <a:ln/>
        </p:spPr>
      </p:sp>
      <p:sp>
        <p:nvSpPr>
          <p:cNvPr id="21" name="Shape 16"/>
          <p:cNvSpPr/>
          <p:nvPr/>
        </p:nvSpPr>
        <p:spPr>
          <a:xfrm>
            <a:off x="1952244" y="406908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icons/brain_065A8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3910" y="4230746"/>
            <a:ext cx="298460" cy="298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0080" y="4800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85800" y="513892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Interpretabilidad y ranking de importancia post-entrenamiento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270248" y="384048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EAF2F6"/>
          </a:solidFill>
          <a:ln/>
        </p:spPr>
      </p:sp>
      <p:sp>
        <p:nvSpPr>
          <p:cNvPr id="26" name="Shape 20"/>
          <p:cNvSpPr/>
          <p:nvPr/>
        </p:nvSpPr>
        <p:spPr>
          <a:xfrm>
            <a:off x="5765292" y="406908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icons/sliders_065A8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6958" y="4230746"/>
            <a:ext cx="298460" cy="298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453128" y="4800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mlxtend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498848" y="513892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Feature Selector (forward/backward) flexible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083296" y="384048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EAF2F6"/>
          </a:solidFill>
          <a:ln/>
        </p:spPr>
      </p:sp>
      <p:sp>
        <p:nvSpPr>
          <p:cNvPr id="31" name="Shape 24"/>
          <p:cNvSpPr/>
          <p:nvPr/>
        </p:nvSpPr>
        <p:spPr>
          <a:xfrm>
            <a:off x="9578340" y="406908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5" descr="icons/chart_065A8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0006" y="4230746"/>
            <a:ext cx="298460" cy="2984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266176" y="4800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11896" y="513892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VIF, ANOVA, pruebas estadísticas clásicas para el análisis exploratorio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Diplomado Data Science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APLICADO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 variables en el proyecto Kiwi Hayward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rendimiento (yield) con datos reales de huerto, bajo metodología CRISP-DM / CRISP-ML(Q)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640080" cy="640080"/>
          </a:xfrm>
          <a:prstGeom prst="ellipse">
            <a:avLst/>
          </a:prstGeom>
          <a:solidFill>
            <a:srgbClr val="2E4A7C"/>
          </a:solidFill>
          <a:ln/>
        </p:spPr>
      </p:sp>
      <p:pic>
        <p:nvPicPr>
          <p:cNvPr id="7" name="Image 0" descr="icons/database_9FD2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231526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1031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candidatas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434840" y="2103120"/>
            <a:ext cx="7269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Agronómicas (poda, riego, suelo) y climáticas (temperatura, precipitación, radiación, humedad).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640080" cy="640080"/>
          </a:xfrm>
          <a:prstGeom prst="ellipse">
            <a:avLst/>
          </a:prstGeom>
          <a:solidFill>
            <a:srgbClr val="2E4A7C"/>
          </a:solidFill>
          <a:ln/>
        </p:spPr>
      </p:sp>
      <p:pic>
        <p:nvPicPr>
          <p:cNvPr id="11" name="Image 1" descr="icons/filter_9FD2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33668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1546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inicial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34840" y="3154680"/>
            <a:ext cx="7269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Threshold + correlación de Pearson para descartar variables sin relación con el yield.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251960"/>
            <a:ext cx="640080" cy="640080"/>
          </a:xfrm>
          <a:prstGeom prst="ellipse">
            <a:avLst/>
          </a:prstGeom>
          <a:solidFill>
            <a:srgbClr val="2E4A7C"/>
          </a:solidFill>
          <a:ln/>
        </p:spPr>
      </p:sp>
      <p:pic>
        <p:nvPicPr>
          <p:cNvPr id="15" name="Image 2" descr="icons/balance_9FD2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441838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42062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VIF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434840" y="4206240"/>
            <a:ext cx="7269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multicolinealidad entre variables climáticas altamente correlacionadas.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5303520"/>
            <a:ext cx="640080" cy="640080"/>
          </a:xfrm>
          <a:prstGeom prst="ellipse">
            <a:avLst/>
          </a:prstGeom>
          <a:solidFill>
            <a:srgbClr val="2E4A7C"/>
          </a:solidFill>
          <a:ln/>
        </p:spPr>
      </p:sp>
      <p:pic>
        <p:nvPicPr>
          <p:cNvPr id="19" name="Image 3" descr="icons/random_9FD2E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" y="5469941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52578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/ Wrapper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4434840" y="5257800"/>
            <a:ext cx="7269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y feature importance de Random Forest para el ranking final; RFECV para validar el subconjunto óptimo.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Diplomado Data Science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Buenas prácticas y errores comunes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EAF6E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check_1C72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24576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1214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8803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✔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train/test split ANTES de seleccionar variables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36576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✔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 cross-validation, no con una sola partición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7240" y="443484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✔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métodos (ej. filter + embedded) para robustez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" y="521208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✔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el criterio y umbral usado en cada método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26480" y="1828800"/>
            <a:ext cx="5623560" cy="4160520"/>
          </a:xfrm>
          <a:prstGeom prst="roundRect">
            <a:avLst>
              <a:gd name="adj" fmla="val 2637"/>
            </a:avLst>
          </a:prstGeom>
          <a:solidFill>
            <a:srgbClr val="FBEAE6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6520" y="21031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icons/warning_C9622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166" y="2245766"/>
            <a:ext cx="263347" cy="26334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2320" y="21214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4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46520" y="28803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✖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variables usando el set de test (data leakage)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446520" y="36576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✖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Target Encoding sin fold-based validation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446520" y="44348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✖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el conocimiento del dominio por depender solo de estadística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446520" y="5212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✖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variables correlacionadas sin evaluar su valor predictivo real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Diplomado Data Science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Puntos clave para recordar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2E4A7C"/>
          </a:solidFill>
          <a:ln/>
        </p:spPr>
      </p:sp>
      <p:pic>
        <p:nvPicPr>
          <p:cNvPr id="6" name="Image 0" descr="icons/filter_9FD2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97620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10512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reduce dimensionalidad, overfitting y costo, y mejora interpretabilidad.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2E4A7C"/>
          </a:solidFill>
          <a:ln/>
        </p:spPr>
      </p:sp>
      <p:pic>
        <p:nvPicPr>
          <p:cNvPr id="9" name="Image 1" descr="icons/sitemap_9FD2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872313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706624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familias de métodos: Filter (rápido), Wrapper (preciso), Embedded (balance).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48640" y="3621024"/>
            <a:ext cx="566928" cy="566928"/>
          </a:xfrm>
          <a:prstGeom prst="ellipse">
            <a:avLst/>
          </a:prstGeom>
          <a:solidFill>
            <a:srgbClr val="2E4A7C"/>
          </a:solidFill>
          <a:ln/>
        </p:spPr>
      </p:sp>
      <p:pic>
        <p:nvPicPr>
          <p:cNvPr id="12" name="Image 2" descr="icons/balance_9FD2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768425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602736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VIF y la correlación son claves para detectar multicolinealidad antes de modelar.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48640" y="4517136"/>
            <a:ext cx="566928" cy="566928"/>
          </a:xfrm>
          <a:prstGeom prst="ellipse">
            <a:avLst/>
          </a:prstGeom>
          <a:solidFill>
            <a:srgbClr val="2E4A7C"/>
          </a:solidFill>
          <a:ln/>
        </p:spPr>
      </p:sp>
      <p:pic>
        <p:nvPicPr>
          <p:cNvPr id="15" name="Image 3" descr="icons/clipboard_9FD2E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4664537"/>
            <a:ext cx="272125" cy="2721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449884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SIEMPRE dentro de la validación cruzada, nunca con el set de test.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548640" y="5413248"/>
            <a:ext cx="566928" cy="566928"/>
          </a:xfrm>
          <a:prstGeom prst="ellipse">
            <a:avLst/>
          </a:prstGeom>
          <a:solidFill>
            <a:srgbClr val="2E4A7C"/>
          </a:solidFill>
          <a:ln/>
        </p:spPr>
      </p:sp>
      <p:pic>
        <p:nvPicPr>
          <p:cNvPr id="18" name="Image 4" descr="icons/seedling_9FD2E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1" y="5560649"/>
            <a:ext cx="272125" cy="2721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5394960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proyectos reales (ej. Kiwi Hayward), combinar métodos da resultados más robustos.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Diplomado Data Science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para profundizar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48640" cy="54864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6" name="Image 0" descr="icons/book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20628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89280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Guyon &amp; Elisseeff (2003)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03520" y="1892808"/>
            <a:ext cx="5989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Introduction to Variable and Feature Selection" — Journal of Machine Learning Research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2743200"/>
            <a:ext cx="10835640" cy="0"/>
          </a:xfrm>
          <a:prstGeom prst="line">
            <a:avLst/>
          </a:prstGeom>
          <a:noFill/>
          <a:ln w="12700">
            <a:solidFill>
              <a:srgbClr val="E3EB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971800"/>
            <a:ext cx="548640" cy="54864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11" name="Image 1" descr="icons/book_065A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" y="31144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94436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Kuhn &amp; Johnson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03520" y="2944368"/>
            <a:ext cx="5989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"Feature Engineering and Selection: A Practical Approach for Predictive Models"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794760"/>
            <a:ext cx="10835640" cy="0"/>
          </a:xfrm>
          <a:prstGeom prst="line">
            <a:avLst/>
          </a:prstGeom>
          <a:noFill/>
          <a:ln w="12700">
            <a:solidFill>
              <a:srgbClr val="E3EB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" y="4023360"/>
            <a:ext cx="548640" cy="54864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16" name="Image 2" descr="icons/code_065A8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416600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99592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scikit-learn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303520" y="3995928"/>
            <a:ext cx="5989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sklearn.feature_selection — guía oficial y ejemplos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4846320"/>
            <a:ext cx="10835640" cy="0"/>
          </a:xfrm>
          <a:prstGeom prst="line">
            <a:avLst/>
          </a:prstGeom>
          <a:noFill/>
          <a:ln w="12700">
            <a:solidFill>
              <a:srgbClr val="E3EB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7200" y="5074920"/>
            <a:ext cx="548640" cy="54864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21" name="Image 3" descr="icons/brain_065A8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" y="521756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504748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Lundberg &amp; Lee (2017)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303520" y="5047488"/>
            <a:ext cx="5989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Unified Approach to Interpreting Model Predictions" (paper de SHAP)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Diplomado Data Science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2026-09-09T01:42:16Z</dcterms:created>
  <dcterms:modified xsi:type="dcterms:W3CDTF">2026-09-09T01:42:16Z</dcterms:modified>
</cp:coreProperties>
</file>