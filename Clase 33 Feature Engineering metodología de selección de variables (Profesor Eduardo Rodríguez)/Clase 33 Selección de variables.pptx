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8FA6C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6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07FE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07FE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EDB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12 originales</c:v>
                  </c:pt>
                  <c:pt idx="1">
                    <c:v>50 candidatas</c:v>
                  </c:pt>
                  <c:pt idx="2">
                    <c:v>Lasso (25 vars)</c:v>
                  </c:pt>
                  <c:pt idx="3">
                    <c:v>Top-6 univariado</c:v>
                  </c:pt>
                  <c:pt idx="4">
                    <c:v>6 elegidas a mano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0.9199</c:v>
                </c:pt>
                <c:pt idx="1">
                  <c:v>0.9406</c:v>
                </c:pt>
                <c:pt idx="2">
                  <c:v>0.9377</c:v>
                </c:pt>
                <c:pt idx="3">
                  <c:v>0.8105</c:v>
                </c:pt>
                <c:pt idx="4">
                  <c:v>0.9041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1270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validación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EDB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F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Selección FUERA del CV</c:v>
                  </c:pt>
                  <c:pt idx="1">
                    <c:v>Selección DENTRO del pipeline</c:v>
                  </c:pt>
                  <c:pt idx="2">
                    <c:v>La verdad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0.882</c:v>
                </c:pt>
                <c:pt idx="1">
                  <c:v>0.514</c:v>
                </c:pt>
                <c:pt idx="2">
                  <c:v>0.5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5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D6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2A548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7D6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3B72"/>
        </a:solidFill>
        <a:ln>
          <a:noFill/>
        </a:ln>
        <a:effectLst/>
      </c:spPr>
    </c:plotArea>
    <c:plotVisOnly val="1"/>
    <c:dispBlanksAs val="span"/>
  </c:chart>
  <c:spPr>
    <a:solidFill>
      <a:srgbClr val="0F3B7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Continuidad: mismo dataset de churn de las sesiones 30 a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Ejecutar en vivo si da el tiempo. El contraste entre 0,526 sola y su aporte al conjunto es el momento que fija el concepto.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clímax de la sesión 33. Dejar que la clase mire el top-6 y descubra sola que segundos y log_segundos son la misma variable antes de revelar el 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200400" cy="107533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Data Science  ·  Sesión 33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974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021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selección de variables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4224528"/>
            <a:ext cx="2560320" cy="54864"/>
          </a:xfrm>
          <a:prstGeom prst="rect">
            <a:avLst/>
          </a:prstGeom>
          <a:solidFill>
            <a:srgbClr val="FEDB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4453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fuga de clientes en una telco · 3 horas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Rodríguez Faúndez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67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en Estadística UC · Máster en Big Data &amp; Data Science, MBIT · Matemático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 en el diplomado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sesión responde una pregunta distinta sobre los mismos datos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59105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9105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59105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datos confiables?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08792" y="159105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0428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30428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0428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aprende un modelo?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08792" y="23042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01752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0175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y reducción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1752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forma se los entrego?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08792" y="30175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0F3B7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73075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ED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7307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selección de variables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307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me quedo?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443984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44398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4439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decisión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4439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explico?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157216"/>
            <a:ext cx="10908792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15721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51572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/ Taller con datos reales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15721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Hacerlo de punta a punta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Sesión 32 dejó dos caminos abiertos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Vimos uno a fondo. Hoy tomamos el otro.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25796" cy="2743200"/>
          </a:xfrm>
          <a:prstGeom prst="roundRect">
            <a:avLst>
              <a:gd name="adj" fmla="val 1333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Extracción / creación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58568"/>
            <a:ext cx="4585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Combinamos variables en nuevas representaciones que resumen la información original.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72968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y t-SNE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8444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3076" y="1481328"/>
            <a:ext cx="5225796" cy="2743200"/>
          </a:xfrm>
          <a:prstGeom prst="roundRect">
            <a:avLst>
              <a:gd name="adj" fmla="val 1333"/>
            </a:avLst>
          </a:prstGeom>
          <a:solidFill>
            <a:srgbClr val="0F3B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43116" y="173736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variables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643116" y="2258568"/>
            <a:ext cx="45857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columnas redundantes o poco informativas y conservamos variables originales.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43116" y="3172968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Filter, wrapper, embedded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43116" y="358444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33 y 34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98848"/>
            <a:ext cx="10908792" cy="1143000"/>
          </a:xfrm>
          <a:prstGeom prst="roundRect">
            <a:avLst>
              <a:gd name="adj" fmla="val 3200"/>
            </a:avLst>
          </a:prstGeom>
          <a:solidFill>
            <a:srgbClr val="FFF6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49884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actividad de repaso de la Sesión 32 terminaba con esta pregunta: «Si tuviera que quedarse con la mitad de sus variables, ¿las eliminaría o las resumiría con PCA?». Hoy respondemos la primera mitad — y en la 34 vamos a ver que eliminar bien es más difícil de lo que parece.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sesión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· 7 bloques · 2 descansos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5727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con la Sesión 32 y encuadre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177272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148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Higiene: limpiar antes de seleccionar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21488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72491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12 a 50 variables: fabricar el problema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177272" y="27249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30098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Irrelevante, redundante y relevante en conjunto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0177272" y="33009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87705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y métodos de filtro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38770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453128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453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y embedded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44531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402336" cy="402336"/>
          </a:xfrm>
          <a:prstGeom prst="ellipse">
            <a:avLst/>
          </a:prstGeom>
          <a:solidFill>
            <a:srgbClr val="FEDB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50292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trampa: dónde vive la selección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5029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650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6 es el que deja la marca y no se recorta. Si vamos atrasados, se acorta el 5.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 esta sesión vas a poder…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1887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18872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irrelevante de una redundante y de una relevante solo en conjunto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2024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derivadas a partir de las columnas crudas, y reconocer la redundancia que eso genera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51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65176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técnica dentro de la taxonomía filter / wrapper / embedded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3832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38328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univariados, RFE y Lasso en Python y en 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1148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11480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ranking univariado puede elegir un conjunto malo de variables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908792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8463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846320"/>
            <a:ext cx="8622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donde la selección se recalcula dentro de cada fold de validación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Higiene: limpiar antes de seleccionar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técnica de selección arregla un dato imposible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 de la Sesión 32, revisado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churn · 3.150 clientes · 13 columnas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824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3.150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481328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6824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481328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6824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15,7 %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fuga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481328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FFF6C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06840" y="16824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imposibles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72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que dejó la Sesión 30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38728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1554480"/>
                <a:gridCol w="27706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extremo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segundos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negativos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−14.645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frec_llamadas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negativos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antiguedad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negativos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 y mayores de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 años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frec_sms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negativo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Nulos dispersos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1,3 % en segundos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una fila con edad 233 no es selección de variables: es calidad de datos, y va antes. Confundir las dos cosas hace que se descarten variables buenas por estar sucias.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Higiene del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negocio, no reglas estadísticas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pd.read_excel("churn.xlsx")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negativo acá es imposible por definición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["segundos","frec_llamadas","frec_sms",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"antiguedad","n_contactos"]: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df.loc[df[c] &lt; 0, c] = np.nan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Rango admisible por negocio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df.loc[(df.edad &lt; 15) | (df.edad &gt; 100),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"edad"] = np.nan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Imputación simple por mediana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df.columns: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df[c].isna().any():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df[c] = df[c].fillna(df[c].median())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print(df.shape, round(df.fuga.mean(), 3))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(3150, 13)  0.157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library(data.table)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&lt;- as.data.table(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readxl::read_excel("churn.xlsx"))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negativo acá es imposible por definición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 &lt;- c("segundos","frec_llamadas","frec_sms",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"antiguedad","n_contactos")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 in neg)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dt[get(c) &lt; 0, (c) := NA]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Rango admisible por negocio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dt[edad &lt; 15 | edad &gt; 100, edad := NA]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Imputación simple por mediana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 in names(dt))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dt[is.na(get(c)),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(c) := median(dt[[c]], na.rm = TRUE)]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dim(dt); round(mean(dt$fuga), 3)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de edad entre 15 y 100 no sale de los datos: sale de saber que una telco no contrata a un cliente de 233 años.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12 a 50 variables: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fabricar el problema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32 aprendieron a crear variables. Ahora en serio.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12 columnas no hay nada que seleccionar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hay que generar candidatas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1143000"/>
          </a:xfrm>
          <a:prstGeom prst="roundRect">
            <a:avLst>
              <a:gd name="adj" fmla="val 4000"/>
            </a:avLst>
          </a:prstGeom>
          <a:solidFill>
            <a:srgbClr val="0F3B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481328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Seleccionar entre 12 variables es un ejercicio de juguete. El problema real aparece cuando hay 50, 200 o 2.000 candidatas y hay que justificar cada descarte.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07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que construyeron en la Sesión 32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45536"/>
          <a:ext cx="54864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duracion_prom_llamada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 ÷ frec_llamadas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sms_por_antiguedad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frec_sms ÷ antiguedad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intensidad_contacto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n_contactos ÷ frec_llamadas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92240" y="2807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aplicamos la misma lógica de forma sistemática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145536"/>
          <a:ext cx="50566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084832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Originales que se conservan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reclamos, segundos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Ratios de 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clv_por_antiguedad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reclamo_x_antig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Transformaciones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log_segundos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binarios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tiene_reclamo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Discretización en cuartiles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edad_q1 … edad_q4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de categóricas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plan_2, estado_2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candidatas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818888"/>
            <a:ext cx="5486400" cy="1371600"/>
          </a:xfrm>
          <a:prstGeom prst="roundRect">
            <a:avLst>
              <a:gd name="adj" fmla="val 2667"/>
            </a:avLst>
          </a:prstGeom>
          <a:solidFill>
            <a:srgbClr val="FFF6C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1440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columnas originales  →  50 candidatas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53949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ahora tenemos un problema de selección de verdad: hay que justificar 38 descartes, no 6.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variables · 1 de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e interacciones: 16 de las 38 que vamos a crear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1e-6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df.copy()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Ratios: normalizan una magnitud por su exposición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 = [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("duracion_prom_llamada","segundos","frec_llamadas"),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("sms_por_llamada",      "frec_sms","frec_llamadas"),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("intensidad_contacto",  "n_contactos","frec_llamadas"),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("segundos_por_contacto","segundos","n_contactos"),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("monto_por_llamada",    "monto","frec_llamadas"),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("clv_por_llamada",      "clv","frec_llamadas"),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("clv_por_segundo",      "clv","segundos"),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("sms_por_antiguedad",   "frec_sms","antiguedad"),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("clv_por_antiguedad",   "clv","antiguedad"),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("llamadas_por_mes",     "frec_llamadas","antiguedad"),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("contactos_por_mes",    "n_contactos","antiguedad"),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("fallas_por_antiguedad","numero_fallas","antiguedad"),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("antiguedad_rel_edad",  "antiguedad","edad"),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nom, a, b in pares: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d[nom] = d[a] / (d[b] + e)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Interacciones: efectos que solo existen combinados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d["reclamo_x_fallas"]   = d.reclamos * d.numero_fallas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d["reclamo_x_antig"]    = d.reclamos * d.antiguedad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d["fallas_x_contactos"] = d.numero_fallas * d.n_contactos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&lt;- 1e-6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Ratios: normalizan una magnitud por su exposición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 &lt;- list(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c("duracion_prom_llamada","segundos","frec_llamadas"),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c("sms_por_llamada",      "frec_sms","frec_llamadas"),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c("intensidad_contacto",  "n_contactos","frec_llamadas"),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c("segundos_por_contacto","segundos","n_contactos"),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c("monto_por_llamada",    "monto","frec_llamadas"),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c("clv_por_llamada",      "clv","frec_llamadas"),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c("clv_por_segundo",      "clv","segundos"),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c("sms_por_antiguedad",   "frec_sms","antiguedad"),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c("clv_por_antiguedad",   "clv","antiguedad"),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c("llamadas_por_mes",     "frec_llamadas","antiguedad"),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c("contactos_por_mes",    "n_contactos","antiguedad"),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c("fallas_por_antiguedad","numero_fallas","antiguedad"),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c("antiguedad_rel_edad",  "antiguedad","edad")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 in pares)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dt[, (p[1]) := get(p[2]) / (get(p[3]) + e)]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Interacciones: efectos que solo existen combinados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reclamo_x_fallas   := reclamos * numero_fallas]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reclamo_x_antig    := reclamos * antiguedad]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fallas_x_contactos := numero_fallas * n_contactos]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épsilon en los denominadores evita dividir por cero. Un solo infinito rompe todo el pipeline de selección que viene después.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variables · 2 de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Logaritmos, indicadores y discretización: las 22 restantes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Log: comprime colas largas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["segundos","clv","frec_sms",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"frec_llamadas","n_contactos"]: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d[f"log_{c}"] = np.log1p(d[c].clip(lower=0))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Indicadores binarios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= d.segundos.median()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p75 = d.clv.quantile(0.75)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d["tiene_reclamo"] = (d.reclamos &gt; 0).astype(int)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d["sin_sms"]       = (d.frec_sms == 0).astype(int)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d["uso_alto"]      = (d.segundos &gt; med).astype(int)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d["clv_alto"]      = (d.clv &gt; p75).astype(int)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d["cliente_nuevo"] = (d.antiguedad &lt; 12).astype(int)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Discretización en cuartiles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["edad", "antiguedad", "clv"]: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pd.qcut(d[col], 4, labels=False,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duplicates="drop")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sorted(q.dropna().unique()):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d[f"{col}_q{int(k)+1}"] = (q == k).astype(int)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One-hot: las originales categóricas se van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d["plan_2"]   = (d.tipo_plan == 2).astype(int)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d["estado_2"] = (d.estado == 2).astype(int)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d.drop(columns=["tipo_plan", "estado"])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d.drop(columns="fuga"); y = d["fuga"]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print(X.shape)      # (3150, 50)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Log: comprime colas largas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 in c("segundos","clv","frec_sms",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"frec_llamadas","n_contactos"))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dt[, paste0("log_", c) := log1p(pmax(get(c), 0))]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Indicadores binarios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&lt;- median(dt$segundos)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p75 &lt;- quantile(dt$clv, 0.75)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tiene_reclamo := as.integer(reclamos &gt; 0)]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sin_sms       := as.integer(frec_sms == 0)]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uso_alto      := as.integer(segundos &gt; med)]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clv_alto      := as.integer(clv &gt; p75)]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cliente_nuevo := as.integer(antiguedad &lt; 12)]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Discretización en cuartiles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(col in c("edad","antiguedad","clv")) {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&lt;- cut(dt[[col]], quantile(dt[[col]], 0:4/4),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labels = FALSE, include.lowest = TRUE)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(k in sort(unique(q)))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dt[, paste0(col,"_q",k) := as.integer(q == k)]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One-hot: las originales categóricas se van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plan_2   := as.integer(tipo_plan == 2)]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estado_2 := as.integer(estado == 2)]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dt[, c("tipo_plan","estado") := NULL]</a:t>
            </a: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endParaRPr lang="en-US" sz="950" dirty="0"/>
          </a:p>
          <a:p>
            <a:pPr indent="0" marL="0">
              <a:lnSpc>
                <a:spcPts val="1102"/>
              </a:lnSpc>
              <a:buNone/>
            </a:pPr>
            <a:r>
              <a:rPr lang="en-US" sz="9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dim(dt)             # 3150 x 51  (50 + fuga)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Fijate que tipo_plan y estado desaparecen al reemplazarlas por sus indicadores: por eso quedan 50 y no 52.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Irrelevante, redundante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relevante solo en conjunto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razones por las que una variable puede sobrar — o parecer que sobra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motivos distintos, tres decisiones distintas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566160" cy="2606040"/>
          </a:xfrm>
          <a:prstGeom prst="roundRect">
            <a:avLst>
              <a:gd name="adj" fmla="val 1404"/>
            </a:avLst>
          </a:prstGeom>
          <a:solidFill>
            <a:srgbClr val="F7F9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7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Irrelevante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aporta información sobre el target, ni sola ni acompañada.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dataset:  numero_fallas, edad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3566160" cy="2606040"/>
          </a:xfrm>
          <a:prstGeom prst="roundRect">
            <a:avLst>
              <a:gd name="adj" fmla="val 1404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07F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057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Aporta, pero su información ya está contenida en otra variable.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una de las dos.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dataset:  frec_sms ↔ clv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566160" cy="2606040"/>
          </a:xfrm>
          <a:prstGeom prst="roundRect">
            <a:avLst>
              <a:gd name="adj" fmla="val 1404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Relevante en conjunto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0574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parece ruido. Combinada con otra, aporta señal real.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filtros univariados la matan.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dataset:  el caso XOR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10908792" cy="1234440"/>
          </a:xfrm>
          <a:prstGeom prst="roundRect">
            <a:avLst>
              <a:gd name="adj" fmla="val 2963"/>
            </a:avLst>
          </a:prstGeom>
          <a:solidFill>
            <a:srgbClr val="FFF6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importa porque la decisión es distinta. A la irrelevante la borrás sin culpa. Con la redundante elegís cuál se queda, y es una decisión de negocio, no estadística. Y a la relevante-en-conjunto la vas a perder si te quedás solo con un ranking univariado — que es exactamente lo que casi todos hacen.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irrelevantes de nuestro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con fuga e información mutua, calculadas sobre las 3.150 filas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463040"/>
                <a:gridCol w="1554480"/>
                <a:gridCol w="1280160"/>
                <a:gridCol w="27706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Corr. con fuga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Info. mutua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de ANOVA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numero_fallas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señal individual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señal individual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antiguedad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marginal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reclamos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1.115,08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fuerte, para comparar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087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miramos las dos métricas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480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Pearson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791456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captura relación lineal. Una U perfecta da correlación cero.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4480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mutua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4791456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cualquier dependencia, también no lineal. Si ambas dan cero, la evidencia es más sólida.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6418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aun así, en un minuto vamos a ver que numero_fallas no era descartable.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numero_fallas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Inútil sola. Útil acompañada. Y está en nuestros datos, no en un ejemplo de libro.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804672"/>
          </a:xfrm>
          <a:prstGeom prst="roundRect">
            <a:avLst>
              <a:gd name="adj" fmla="val 4545"/>
            </a:avLst>
          </a:prstGeom>
          <a:solidFill>
            <a:srgbClr val="1B4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numero_fallas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830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0,526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78308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azar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6949440" cy="804672"/>
          </a:xfrm>
          <a:prstGeom prst="roundRect">
            <a:avLst>
              <a:gd name="adj" fmla="val 4545"/>
            </a:avLst>
          </a:prstGeom>
          <a:solidFill>
            <a:srgbClr val="1B4B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71576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5 variables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71576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0,9069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71576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numero_fallas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6949440" cy="804672"/>
          </a:xfrm>
          <a:prstGeom prst="roundRect">
            <a:avLst>
              <a:gd name="adj" fmla="val 4545"/>
            </a:avLst>
          </a:prstGeom>
          <a:solidFill>
            <a:srgbClr val="1B4B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64845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numero_fallas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648456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ED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0,9102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6949440" cy="804672"/>
          </a:xfrm>
          <a:prstGeom prst="roundRect">
            <a:avLst>
              <a:gd name="adj" fmla="val 4545"/>
            </a:avLst>
          </a:prstGeom>
          <a:solidFill>
            <a:srgbClr val="1B4B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58114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numero_fallas + monto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581144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ED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0,9171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458114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más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783080"/>
            <a:ext cx="3593592" cy="3611880"/>
          </a:xfrm>
          <a:prstGeom prst="roundRect">
            <a:avLst>
              <a:gd name="adj" fmla="val 1272"/>
            </a:avLst>
          </a:prstGeom>
          <a:solidFill>
            <a:srgbClr val="1B4B8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7532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aprendemos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3774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p-valor de 0,60 no significa «esta variable no sirve». Significa «esta variable no sirve sola».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6576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argumento central a favor de los métodos multivariados, y la razón por la que un ranking univariado nunca debería ser la última palabra.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77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medido con validación cruzada de 5 folds sobre las 3.150 observaciones.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redundancia que ya estaba y la que creamos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pares con correlación sobre 0,90 entre las 50 candidatas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original del dataset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47088"/>
          <a:ext cx="53949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|corr|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frec_sms ↔ clv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segundos ↔ frec_llamadas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frec_llamadas ↔ n_contactos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que fabricamos nosotros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47088"/>
          <a:ext cx="5056632" cy="914400"/>
        </p:xfrm>
        <a:graphic>
          <a:graphicData uri="http://schemas.openxmlformats.org/drawingml/2006/table">
            <a:tbl>
              <a:tblPr/>
              <a:tblGrid>
                <a:gridCol w="3685032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|corr|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reclamos ↔ tiene_reclamo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clv_alto ↔ clv_q4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sms_por_llamada ↔ clv_por_llamada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3584448"/>
            <a:ext cx="10908792" cy="1188720"/>
          </a:xfrm>
          <a:prstGeom prst="roundRect">
            <a:avLst>
              <a:gd name="adj" fmla="val 3077"/>
            </a:avLst>
          </a:prstGeom>
          <a:solidFill>
            <a:srgbClr val="FFF6C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60120" y="35844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feature engineering genera redundancia por construcción. tiene_reclamo correlaciona 1,000 con reclamos porque es la misma información con otra forma. Crear variables sin después seleccionar no mejora el modelo: lo infla.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4956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desempata un par redundante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32180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la de mayor información mutua con el target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igualdad de señal, se queda la más simple de explicar y de mantener en producción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queda «la primera de la lista»: ese criterio es el orden alfabético disfrazado de método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Taxonomía: filter, wrapper, embedded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decidir, con tres costos distintos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familias de métodos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822960"/>
                <a:gridCol w="1828800"/>
                <a:gridCol w="35935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decide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¿Ve interacciones?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una métrica estadística, sin entrenar el 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si es univariado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Varianza, correlación, información mutua, ANOVA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Entrena el modelo con distintos subconjuntos y compara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RFE, forward y backward selection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selección ocurre dentro del entrenamiento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Lasso, importancia de árboles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251960"/>
            <a:ext cx="5486400" cy="1691640"/>
          </a:xfrm>
          <a:prstGeom prst="roundRect">
            <a:avLst>
              <a:gd name="adj" fmla="val 2162"/>
            </a:avLst>
          </a:prstGeom>
          <a:solidFill>
            <a:srgbClr val="EEF3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4434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conocen un método embedded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80060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31 explicó que «Lasso (L1) puede llevar coeficientes a cero y, en la práctica, apagar variables poco útiles». Eso es exactamente un método embedded: la selección ocurre mientras el modelo se entrena.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92240" y="4251960"/>
            <a:ext cx="5056632" cy="1691640"/>
          </a:xfrm>
          <a:prstGeom prst="roundRect">
            <a:avLst>
              <a:gd name="adj" fmla="val 2162"/>
            </a:avLst>
          </a:prstGeom>
          <a:solidFill>
            <a:srgbClr val="0F3B7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12280" y="4434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 de secuencia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4800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alternativas entre sí: son etapas del mismo embudo. Filtro para bajar de 5.000 a 200, embedded para bajar de 200 a 30, wrapper solo si sobra cómputo.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filtro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Rápidos, escalables y con un punto ciego importante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univariados sobre las 50 candidatas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294376" cy="4352544"/>
          </a:xfrm>
          <a:prstGeom prst="roundRect">
            <a:avLst>
              <a:gd name="adj" fmla="val 630"/>
            </a:avLst>
          </a:prstGeom>
          <a:solidFill>
            <a:srgbClr val="0C25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627632"/>
            <a:ext cx="489204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import 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mutual_info_classif, f_classif, VarianceThreshold)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Varianza casi nula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 = VarianceThreshold(threshold=0.01).fit(X)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constantes = X.columns[~vt.get_support()]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Información mutua (captura no linealidad)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= pd.Series(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mutual_info_classif(X, y, random_state=0),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index=X.columns)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ANOVA F (solo relación lineal)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F, p = f_classif(X, y)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= pd.DataFrame({"MI": mi, "F": F, "p": p})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print(rank.sort_values("MI", ascending=False).head(12))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Redundancia entre candidatas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X.corr().abs()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 = corr.where(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np.triu(np.ones(corr.shape), 1).astype(bool))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 = sup.stack().sort_values(ascending=False)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print(pares[pares &gt; 0.90])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54496" y="1188720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4496" y="1517904"/>
            <a:ext cx="5294376" cy="4352544"/>
          </a:xfrm>
          <a:prstGeom prst="roundRect">
            <a:avLst>
              <a:gd name="adj" fmla="val 630"/>
            </a:avLst>
          </a:prstGeom>
          <a:solidFill>
            <a:srgbClr val="0C25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55664" y="1627632"/>
            <a:ext cx="4892040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library(caret); library(FSelectorRcpp)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Varianza casi nula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constantes &lt;- nearZeroVar(X, names = TRUE)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Ganancia de información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 &lt;- information_gain(fuga ~ ., data = dt)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 &lt;- ig[order(-ig$importance), ]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head(ig, 12)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ANOVA F por variable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f_val &lt;- sapply(X, function(v)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summary(aov(v ~ factor(y)))[[1]][["F value"]][1])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sort(f_val, decreasing = TRUE)[1:12]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Redundancia entre candidatas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&lt;- cor(X)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&lt;- findCorrelation(M, cutoff = 0.90,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names = TRUE)</a:t>
            </a:r>
            <a:endParaRPr lang="en-US" sz="1100" dirty="0"/>
          </a:p>
          <a:p>
            <a:pPr indent="0" marL="0">
              <a:lnSpc>
                <a:spcPts val="1276"/>
              </a:lnSpc>
              <a:buNone/>
            </a:pPr>
            <a:r>
              <a:rPr lang="en-US" sz="11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print(red)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mutua y ANOVA F no dan el mismo orden. Cuando difieren mucho, la relación no es lineal — y eso ya es información útil.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ranking que sale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de 50, ordenado por información mutua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EEF3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813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4813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0,1315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4813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297,18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956816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EEF3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95681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5681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log_segundos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9568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0,1285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568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419,05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432304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EEF3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4323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323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contactos_por_mes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0,1065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176,80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907792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EEF3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29077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9077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log_clv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29077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0,1052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29077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496,02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383280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EEF3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383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3832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clv_por_antiguedad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0,1048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150,01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3858768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EEF3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8587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38587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llamadas_por_mes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38587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0,1023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983480" y="38587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187,95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1481328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0" y="148132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14813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tiene_reclamo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9646920" y="14813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0,1023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607040" y="14813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1.115,08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1956816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0" y="195681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195681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clv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646920" y="19568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0,1018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607040" y="19568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287,20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63640" y="2432304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0" y="24323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12280" y="24323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reclamo_x_antig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9646920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0,0962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607040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872,38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63640" y="2907792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0" y="29077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812280" y="29077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intensidad_contacto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646920" y="29077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0,0946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10607040" y="29077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5,88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263640" y="3383280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00800" y="3383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812280" y="33832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frec_llamadas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964692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0,0911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10607040" y="33832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301,31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263640" y="3858768"/>
            <a:ext cx="5394960" cy="420624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400800" y="38587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812280" y="38587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log_frec_llamadas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9646920" y="38587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07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0,0897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10607040" y="38587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445,52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640080" y="4453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Columnas: posición · variable · información mutua · F de ANOVA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4818888"/>
            <a:ext cx="10908792" cy="1188720"/>
          </a:xfrm>
          <a:prstGeom prst="roundRect">
            <a:avLst>
              <a:gd name="adj" fmla="val 3077"/>
            </a:avLst>
          </a:prstGeom>
          <a:solidFill>
            <a:srgbClr val="FFF6C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60120" y="481888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Miren el top 6 y hagan la pregunta incómoda: segundos y log_segundos son la misma variable. log_clv y clv_por_antiguedad comparten casi toda su información. ¿Qué pasa si nos quedamos con estas seis?</a:t>
            </a:r>
            <a:endParaRPr lang="en-US" sz="1350" dirty="0"/>
          </a:p>
        </p:txBody>
      </p:sp>
      <p:sp>
        <p:nvSpPr>
          <p:cNvPr id="67" name="Text 65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variables contra seis variables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modelo, el mismo dataset, la misma cantidad de variables. Solo cambia el criterio de elección.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657600"/>
          </a:xfrm>
          <a:prstGeom prst="roundRect">
            <a:avLst>
              <a:gd name="adj" fmla="val 1250"/>
            </a:avLst>
          </a:prstGeom>
          <a:solidFill>
            <a:srgbClr val="1B4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del ranking univariado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0,8105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media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las seis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611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segundos  ·  log_segundos  ·  contactos_por_mes  ·  log_clv  ·  clv_por_antiguedad  ·  llamadas_por_mes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49240" cy="3657600"/>
          </a:xfrm>
          <a:prstGeom prst="roundRect">
            <a:avLst>
              <a:gd name="adj" fmla="val 1250"/>
            </a:avLst>
          </a:prstGeom>
          <a:solidFill>
            <a:srgbClr val="1B4B8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elegidas evitando redundancia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0,9041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4871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media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las seis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611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reclamos  ·  segundos  ·  frec_llamadas  ·  estado_2  ·  numero_fallas  ·  monto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puntos de AUC de diferencia, con la misma cantidad de variables. El ranking univariado eligió seis formas distintas de medir lo mismo.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Wrapper y embedded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que sí ven el conjunto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RFE y Lasso sobre las 50 candidatas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y embedded, uno al lado del otro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import RFECV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WRAPPER: elimina de a una y mide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rfe = RFECV(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estimator = LogisticRegression(max_iter=3000),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 = 1, cv = 5, scoring = "roc_auc",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min_features_to_select = 4,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).fit(StandardScaler().fit_transform(X), y)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print(rfe.n_features_, X.columns[rfe.support_])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EMBEDDED: Lasso apaga coeficientes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lasso = Pipeline([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("sc", StandardScaler()),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("clf", LogisticRegression(penalty="l1",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solver="liblinear", C=0.05, max_iter=3000)),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]).fit(X, y)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 = pd.Series(lasso[-1].coef_[0], index=X.columns)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print(f"{(coef != 0).sum()} de {len(coef)} sobreviven")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 de 50 sobreviven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library(caret); library(glmnet)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WRAPPER: rfe con validación cruzada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&lt;- rfeControl(functions = lrFuncs,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method = "cv", number = 5)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&lt;- rfe(X, factor(y),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sizes = c(4, 6, 10, 15, 25),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rfeControl = ctrl)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predictors(res)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plot(res, type = c("g", "o"))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EMBEDDED: Lasso apaga coeficientes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 &lt;- scale(as.matrix(X))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cvf &lt;- cv.glmnet(Xm, y, family = "binomial",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alpha = 1, type.measure = "auc",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nfolds = 5)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 &lt;- coef(cvf, s = "lambda.1se")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sum(co[, 1] != 0)</a:t>
            </a:r>
            <a:endParaRPr lang="en-US" sz="1050" dirty="0"/>
          </a:p>
          <a:p>
            <a:pPr indent="0" marL="0">
              <a:lnSpc>
                <a:spcPts val="1218"/>
              </a:lnSpc>
              <a:buNone/>
            </a:pPr>
            <a:r>
              <a:rPr lang="en-US" sz="105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rownames(co)[co[, 1] != 0]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dejó 25 de 50. En la Sesión 34 vamos a preguntarnos si esas 25 son siempre las mismas — y la respuesta va a incomodar.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logramos con cada estrategia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con validación cruzada de 5 folds sobre las 3.150 observaciones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481328"/>
            <a:ext cx="3685032" cy="4023360"/>
          </a:xfrm>
          <a:prstGeom prst="roundRect">
            <a:avLst>
              <a:gd name="adj" fmla="val 993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17099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lecturas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121408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variables sirvió: de 0,920 a 0,941.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conserva casi todo el desempeño con la mitad de las variables: 0,938 con 25.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seis variables bien elegidas rinden más que 6 mal elegidas, aunque el ranking dijera lo contrario.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451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trampa: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vive la selección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hicimos hoy tiene un problema. Vamos a medirlo.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32 dejó escrita esta regla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08792" cy="1417320"/>
          </a:xfrm>
          <a:prstGeom prst="roundRect">
            <a:avLst>
              <a:gd name="adj" fmla="val 3226"/>
            </a:avLst>
          </a:prstGeom>
          <a:solidFill>
            <a:srgbClr val="1B4B8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18872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«El escalador se ajusta (fit) únicamente con entrenamiento y luego se aplica (transform) a test. Ajustarlo con todos los datos produciría Data Leakage.»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ED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eso vale para el escalador…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ED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no valdría para la selección de variables?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esta clase seleccionamos variables mirando las 3.150 filas: el filtro por información mutua, la elección del par redundante, el RFE y el Lasso. Después medimos el desempeño sobre esas mismas 3.150 filas.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AUC que vimos hoy están inflados. La pregunta es cuánto.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experimento del ruido puro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en vivo, sin anticipar el resultado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1143000"/>
          </a:xfrm>
          <a:prstGeom prst="roundRect">
            <a:avLst>
              <a:gd name="adj" fmla="val 4000"/>
            </a:avLst>
          </a:prstGeom>
          <a:solidFill>
            <a:srgbClr val="0F3B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observaciones  ·  1.000 variables generadas al azar  ·  target lanzado a cara o sello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75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ninguna señal en estos datos. Por construcción, cualquier medición honesta tiene que dar AUC ≈ 0,50.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5225796" cy="2880360"/>
          </a:xfrm>
          <a:prstGeom prst="roundRect">
            <a:avLst>
              <a:gd name="adj" fmla="val 1270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08152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que casi todos escriben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20440"/>
            <a:ext cx="4402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estadístico F de las 1.000 variables contra el target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con las 20 mejores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validación cruzada de 5 folds sobre esas 20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27448"/>
            <a:ext cx="4585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20 elegidas ya vieron el target de los 100 casos. En cada fold, el modelo evalúa variables que fueron seleccionadas usando los datos de ese mismo fold.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3076" y="2898648"/>
            <a:ext cx="5225796" cy="2880360"/>
          </a:xfrm>
          <a:prstGeom prst="roundRect">
            <a:avLst>
              <a:gd name="adj" fmla="val 1270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43116" y="308152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procedimiento correcto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34556" y="3520440"/>
            <a:ext cx="44028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un Pipeline que encadene selección y modelo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el pipeline completo a cross_val_score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se recalcula desde cero en cada fold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43116" y="4727448"/>
            <a:ext cx="45857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iteración las 20 variables se eligen usando solo los 80 casos de entrenamiento. Los 20 de validación no participaron de la elección.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experimento, en código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dato, mismo modelo, misma validación. Solo cambia dónde vive la selección.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361688"/>
          </a:xfrm>
          <a:prstGeom prst="roundRect">
            <a:avLst>
              <a:gd name="adj" fmla="val 629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import SelectKBest, f_classif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np.random.default_rng(42)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 = rng.normal(size=(100, 1000))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yr = rng.integers(0, 2, size=100)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MAL: seleccionar con TODOS los datos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SelectKBest(f_classif, k=20).fit_transform(Xr, yr)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print(cross_val_score(LogisticRegression(max_iter=2000),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Xs, yr, cv=5, scoring="roc_auc").mean())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0.882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BIEN: la selección vive dentro del pipeline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("sel", SelectKBest(f_classif, k=20)),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("clf", LogisticRegression(max_iter=2000)),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print(cross_val_score(pipe, Xr, yr, cv=5,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scoring="roc_auc").mean())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0.514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361688"/>
          </a:xfrm>
          <a:prstGeom prst="roundRect">
            <a:avLst>
              <a:gd name="adj" fmla="val 629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library(caret)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set.seed(42)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 &lt;- matrix(rnorm(100 * 1000), nrow = 100)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colnames(Xr) &lt;- paste0("v", 1:1000)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yr &lt;- factor(sample(c("bueno","malo"), 100,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replace = TRUE))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&lt;- trainControl(method = "cv", number = 5,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classProbs = TRUE,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summaryFunction = twoClassSummary)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MAL: seleccionar con TODOS los datos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&lt;- apply(Xr, 2, function(v) t.test(v ~ yr)$p.value)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&lt;- order(p)[1:20]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train(Xr[, top], yr, method = "glm",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family = "binomial",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trControl = ctrl, metric = "ROC")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 0.88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BIEN: sbf() re-selecciona en cada fold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sbf(Xr, yr, sbfControl = sbfControl(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functions = caretSBF,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 = "cv", number = 5))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~ 0.51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resultado, sobre datos sin ninguna señal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463040"/>
            <a:ext cx="4142232" cy="4023360"/>
          </a:xfrm>
          <a:prstGeom prst="roundRect">
            <a:avLst>
              <a:gd name="adj" fmla="val 1136"/>
            </a:avLst>
          </a:prstGeom>
          <a:solidFill>
            <a:srgbClr val="1B4B8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057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decisión que mire el target debe ocurrir dentro de cada fold de validación.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3566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el escalado. También el filtro por información mutua, la elección del par redundante, el RFE y el Lasso: todo lo que hicimos hoy mirando el dataset completo.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puntos de AUC inventados a partir de datos que no contienen absolutamente nada.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 dentro de cada fold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si la decisión mira el target, va adentro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81328"/>
          <a:ext cx="1090879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136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del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¿Mira el target?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¿Dónde va?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7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Eliminar filas con edad 233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ir 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ratios y logaritmos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ir 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de categóricas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ir antes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Escalar (StandardScaler)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pero usa la media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Imputar por mediana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pero usa la mediana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por información mutua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Elegir el par redundante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RFE y Lasso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del 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50468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escalado y la imputación no miran el target, pero sí usan información del conjunto completo: la media, la mediana. Por eso van adentro igual — es exactamente lo que decía la Sesión 32.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Rehacer la clase entera, esta vez bien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pipeline de churn, validado de forma honesta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import (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SelectKBest, mutual_info_classif)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(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cross_val_score, StratifiedKFold)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("imp", SimpleImputer(strategy="median")),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("sc",  StandardScaler()),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("sel", SelectKBest(mutual_info_classif, k=12)),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("clf", LogisticRegression(max_iter=3000)),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StratifiedKFold(5, shuffle=True, random_state=1)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cross_val_score(pipe, X, y, cv=cv,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scoring="roc_auc")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print(auc.round(4), auc.mean().round(4))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481328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810512"/>
            <a:ext cx="5294376" cy="4059936"/>
          </a:xfrm>
          <a:prstGeom prst="roundRect">
            <a:avLst>
              <a:gd name="adj" fmla="val 676"/>
            </a:avLst>
          </a:prstGeom>
          <a:solidFill>
            <a:srgbClr val="0C25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library(caret)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sbf() = selection by filter.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Re-ejecuta el filtro dentro de cada fold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&lt;- sbfControl(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functions = caretSBF,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    = "cv",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    = 5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set.seed(1)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&lt;- sbf(X, factor(y), sbfControl = ctrl)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res$optVariables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wrapper dentro del fold: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ctrl2 &lt;- rfeControl(functions = lrFuncs,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method = "cv", number = 5)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rfe(X, factor(y), sizes = c(6, 12, 20),</a:t>
            </a:r>
            <a:endParaRPr lang="en-US" sz="1000" dirty="0"/>
          </a:p>
          <a:p>
            <a:pPr indent="0" marL="0">
              <a:lnSpc>
                <a:spcPts val="1160"/>
              </a:lnSpc>
              <a:buNone/>
            </a:pPr>
            <a:r>
              <a:rPr lang="en-US" sz="1000" dirty="0">
                <a:solidFill>
                  <a:srgbClr val="E4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rfeControl = ctrl2)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436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importa: imputar, escalar, seleccionar, modelar. Y todo dentro del mismo objeto, para que la validación cruzada lo repita entero en cada fold.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metodológico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entregable conceptual de la sesión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53896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con criterio de negocio, no estadístico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31136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03704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test antes de tocar cualquier otra cosa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53512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variables candidatas de forma sistemática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0332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base: varianza casi nula, cardinalidad, señal mínima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45312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redundancia y desempatar con criterio de negocio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1481328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3076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71716" y="1453896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descartar por p-valor sin probar la variable en conjunto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23076" y="2231136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1716" y="2203704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multivariado: RFE o Lasso sobre lo que quedó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23076" y="2980944"/>
            <a:ext cx="402336" cy="402336"/>
          </a:xfrm>
          <a:prstGeom prst="ellipse">
            <a:avLst/>
          </a:prstGeom>
          <a:solidFill>
            <a:srgbClr val="FEDB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3076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71716" y="2953512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DENTRO de un pipeline validado por CV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23076" y="3730752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23076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71716" y="3703320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estabilidad ante cambios de partición y de semilla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23076" y="4480560"/>
            <a:ext cx="402336" cy="402336"/>
          </a:xfrm>
          <a:prstGeom prst="ellipse">
            <a:avLst/>
          </a:prstGeom>
          <a:solidFill>
            <a:srgbClr val="307FE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23076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71716" y="4453128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por qué quedó cada variable y qué cuesta mantenerla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5046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07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1, 2 y 10 no son estadísticos. Son los que más modelos salvan.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llevamos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es un paso previo, no parte de la selección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construidas no hay problema de selección real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Irrelevante, redundante y relevante-en-conjunto piden decisiones distintas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p-valor alto no basta para descartar: numero_fallas lo demostró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wrapper y embedded son etapas de un embudo, no alternativas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todo eso vale nada si la selección vive fuera de la validación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766560" y="731520"/>
            <a:ext cx="4782312" cy="4526280"/>
          </a:xfrm>
          <a:prstGeom prst="roundRect">
            <a:avLst>
              <a:gd name="adj" fmla="val 1010"/>
            </a:avLst>
          </a:prstGeom>
          <a:solidFill>
            <a:srgbClr val="1B4B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866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Árboles de decisión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1488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hace su propia selección de variables mientras se entrena, elige los cortes con el mismo criterio de ganancia de información que usamos hoy como filtro, y además se puede dibujar.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4023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D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ver por qué reclamos siempre queda arriba de todo.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 antes de la Sesión 34:  si tuvieras que explicarle a un gerente comercial por qué se fuga un cliente, ¿le mostrarías 12 coeficientes o preferirías otra cosa?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33 · Feature Engineering: metodología de selección de variables · Diplomado en Data Science UC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023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Pontificia Universidad Católica de Chile · Facultad de Matemáticas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33: Feature Engineering — metodología de selección de variables</dc:title>
  <dc:subject>PptxGenJS Presentation</dc:subject>
  <dc:creator>Eduardo Rodríguez Faúndez</dc:creator>
  <cp:lastModifiedBy>Eduardo Rodríguez Faúndez</cp:lastModifiedBy>
  <cp:revision>1</cp:revision>
  <dcterms:created xsi:type="dcterms:W3CDTF">2026-09-01T01:55:31Z</dcterms:created>
  <dcterms:modified xsi:type="dcterms:W3CDTF">2026-09-01T01:55:31Z</dcterms:modified>
</cp:coreProperties>
</file>