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B6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4"/>
    <p:restoredTop sz="84205"/>
  </p:normalViewPr>
  <p:slideViewPr>
    <p:cSldViewPr snapToGrid="0">
      <p:cViewPr varScale="1">
        <p:scale>
          <a:sx n="129" d="100"/>
          <a:sy n="129" d="100"/>
        </p:scale>
        <p:origin x="176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7DACFF-5BF9-49A4-A69A-DDC1D37D7A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00875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889FAE-2B38-40A7-AEAB-5005D23D7D2C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715000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MODELOS DE</a:t>
            </a:r>
          </a:p>
          <a:p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BOOSTING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0DB5AF-E595-49CA-ACC9-B304CA05805A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3804557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dirty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De </a:t>
            </a:r>
            <a:r>
              <a:rPr sz="1800" b="0" dirty="0" err="1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aprendices</a:t>
            </a:r>
            <a:r>
              <a:rPr sz="1800" b="0" dirty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débiles</a:t>
            </a:r>
            <a:r>
              <a:rPr sz="1800" b="0" dirty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 a </a:t>
            </a:r>
            <a:r>
              <a:rPr sz="1800" b="0" dirty="0" err="1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predicciones</a:t>
            </a:r>
            <a:r>
              <a:rPr sz="1800" b="0" dirty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potentes</a:t>
            </a:r>
            <a:endParaRPr sz="1800" b="0" dirty="0">
              <a:solidFill>
                <a:srgbClr val="CBE3EA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13EA7E-50C1-494A-8053-1608EC1EBD50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1047750" cy="66675"/>
          </a:xfrm>
          <a:prstGeom prst="rect">
            <a:avLst/>
          </a:prstGeom>
          <a:solidFill>
            <a:srgbClr val="F4B64E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73B33D-B157-42F7-8081-4E7D11689BBB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5334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s-419" sz="1200" b="1" dirty="0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Bastian Galasso Díaz</a:t>
            </a:r>
            <a:endParaRPr sz="1200" b="1" dirty="0">
              <a:solidFill>
                <a:srgbClr val="55D9D2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81412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FF8B472-F5AA-4F40-BA87-1AAE6881065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Objetivos y ruta de la clase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99B7E0-49ED-4410-B7FE-9D5D36700E50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3B91FF-1ABA-4D64-875E-9FC12931F328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1662F-F870-47F5-A6EC-B2212283BAA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A9EC57-7848-4657-9367-8E4C968C6628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2/20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2835E8-3E65-4E55-B78D-C8E14396EC65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Al terminar, podrás explicar cómo aprende cada familia y elegir una alternativa razonable.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FABEBA-CEDC-4C59-9A40-3BF33FFC59DB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666750" cy="66675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AD1A2C-98C7-4AD8-ABB2-F7A794D1439D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6528BA9-A4FB-4649-9DA4-6BE220727E3B}"/>
              </a:ext>
            </a:extLst>
          </p:cNvPr>
          <p:cNvSpPr>
            <a:spLocks noGrp="1"/>
          </p:cNvSpPr>
          <p:nvPr/>
        </p:nvSpPr>
        <p:spPr>
          <a:xfrm>
            <a:off x="1562100" y="2543175"/>
            <a:ext cx="1809750" cy="0"/>
          </a:xfrm>
          <a:prstGeom prst="line">
            <a:avLst/>
          </a:prstGeom>
          <a:noFill/>
          <a:ln w="2857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39FCA6-DF4A-4D46-B18E-5BE6BFB93872}"/>
              </a:ext>
            </a:extLst>
          </p:cNvPr>
          <p:cNvSpPr>
            <a:spLocks noGrp="1"/>
          </p:cNvSpPr>
          <p:nvPr/>
        </p:nvSpPr>
        <p:spPr>
          <a:xfrm>
            <a:off x="342900" y="31432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Intuición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A84F45-D2CF-472A-A367-CE98CA7255A2}"/>
              </a:ext>
            </a:extLst>
          </p:cNvPr>
          <p:cNvSpPr>
            <a:spLocks noGrp="1"/>
          </p:cNvSpPr>
          <p:nvPr/>
        </p:nvSpPr>
        <p:spPr>
          <a:xfrm>
            <a:off x="228600" y="3562350"/>
            <a:ext cx="204787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Aprender de errores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801F9B-9733-4D08-B410-B5519DFED045}"/>
              </a:ext>
            </a:extLst>
          </p:cNvPr>
          <p:cNvSpPr>
            <a:spLocks noGrp="1"/>
          </p:cNvSpPr>
          <p:nvPr/>
        </p:nvSpPr>
        <p:spPr>
          <a:xfrm>
            <a:off x="3638550" y="2209800"/>
            <a:ext cx="666750" cy="66675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C51D78-0946-4771-BB67-5655201B452F}"/>
              </a:ext>
            </a:extLst>
          </p:cNvPr>
          <p:cNvSpPr>
            <a:spLocks noGrp="1"/>
          </p:cNvSpPr>
          <p:nvPr/>
        </p:nvSpPr>
        <p:spPr>
          <a:xfrm>
            <a:off x="3638550" y="220980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422875C-972B-43CE-8508-D12993167FFF}"/>
              </a:ext>
            </a:extLst>
          </p:cNvPr>
          <p:cNvSpPr>
            <a:spLocks noGrp="1"/>
          </p:cNvSpPr>
          <p:nvPr/>
        </p:nvSpPr>
        <p:spPr>
          <a:xfrm>
            <a:off x="4305300" y="2543175"/>
            <a:ext cx="1809750" cy="0"/>
          </a:xfrm>
          <a:prstGeom prst="line">
            <a:avLst/>
          </a:prstGeom>
          <a:noFill/>
          <a:ln w="2857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F1873-CE30-4676-B3E5-0A3F57AD8AA4}"/>
              </a:ext>
            </a:extLst>
          </p:cNvPr>
          <p:cNvSpPr>
            <a:spLocks noGrp="1"/>
          </p:cNvSpPr>
          <p:nvPr/>
        </p:nvSpPr>
        <p:spPr>
          <a:xfrm>
            <a:off x="3086100" y="31432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Fundamentos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CCAFA-A3A4-4BFB-BEAB-14AF7BD13310}"/>
              </a:ext>
            </a:extLst>
          </p:cNvPr>
          <p:cNvSpPr>
            <a:spLocks noGrp="1"/>
          </p:cNvSpPr>
          <p:nvPr/>
        </p:nvSpPr>
        <p:spPr>
          <a:xfrm>
            <a:off x="2971800" y="3562350"/>
            <a:ext cx="204787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AdaBoost y gradientes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2D94313-FF6E-4BF9-AA84-408F7F3DD9D1}"/>
              </a:ext>
            </a:extLst>
          </p:cNvPr>
          <p:cNvSpPr>
            <a:spLocks noGrp="1"/>
          </p:cNvSpPr>
          <p:nvPr/>
        </p:nvSpPr>
        <p:spPr>
          <a:xfrm>
            <a:off x="6381750" y="2209800"/>
            <a:ext cx="666750" cy="66675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F319CF-828F-47D1-BB99-5A989CB98D9C}"/>
              </a:ext>
            </a:extLst>
          </p:cNvPr>
          <p:cNvSpPr>
            <a:spLocks noGrp="1"/>
          </p:cNvSpPr>
          <p:nvPr/>
        </p:nvSpPr>
        <p:spPr>
          <a:xfrm>
            <a:off x="6381750" y="220980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7CC6201-86EC-4740-AA32-FBE822BE7C43}"/>
              </a:ext>
            </a:extLst>
          </p:cNvPr>
          <p:cNvSpPr>
            <a:spLocks noGrp="1"/>
          </p:cNvSpPr>
          <p:nvPr/>
        </p:nvSpPr>
        <p:spPr>
          <a:xfrm>
            <a:off x="7048500" y="2543175"/>
            <a:ext cx="1809750" cy="0"/>
          </a:xfrm>
          <a:prstGeom prst="line">
            <a:avLst/>
          </a:prstGeom>
          <a:noFill/>
          <a:ln w="2857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BB27A5-F834-4A9E-91F0-B6ECCB8A5254}"/>
              </a:ext>
            </a:extLst>
          </p:cNvPr>
          <p:cNvSpPr>
            <a:spLocks noGrp="1"/>
          </p:cNvSpPr>
          <p:nvPr/>
        </p:nvSpPr>
        <p:spPr>
          <a:xfrm>
            <a:off x="5829300" y="31432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Implementaciones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7C9939-6F5F-4AD4-9CE0-3BD8170B51E0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204787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XGBoost, LightGBM, CatBoost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041917E-64AE-4B74-8072-00CEEFD8FADF}"/>
              </a:ext>
            </a:extLst>
          </p:cNvPr>
          <p:cNvSpPr>
            <a:spLocks noGrp="1"/>
          </p:cNvSpPr>
          <p:nvPr/>
        </p:nvSpPr>
        <p:spPr>
          <a:xfrm>
            <a:off x="9124950" y="2209800"/>
            <a:ext cx="666750" cy="666750"/>
          </a:xfrm>
          <a:prstGeom prst="ellipse">
            <a:avLst/>
          </a:prstGeom>
          <a:solidFill>
            <a:srgbClr val="F4B64E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2315AE-BFEC-437E-BC6A-DF4497FF2E0D}"/>
              </a:ext>
            </a:extLst>
          </p:cNvPr>
          <p:cNvSpPr>
            <a:spLocks noGrp="1"/>
          </p:cNvSpPr>
          <p:nvPr/>
        </p:nvSpPr>
        <p:spPr>
          <a:xfrm>
            <a:off x="9124950" y="220980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624A3B-250C-4654-8141-2743C831F648}"/>
              </a:ext>
            </a:extLst>
          </p:cNvPr>
          <p:cNvSpPr>
            <a:spLocks noGrp="1"/>
          </p:cNvSpPr>
          <p:nvPr/>
        </p:nvSpPr>
        <p:spPr>
          <a:xfrm>
            <a:off x="8572500" y="31432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Decisión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05EA72-6CB4-44AC-A658-AA87A199D66D}"/>
              </a:ext>
            </a:extLst>
          </p:cNvPr>
          <p:cNvSpPr>
            <a:spLocks noGrp="1"/>
          </p:cNvSpPr>
          <p:nvPr/>
        </p:nvSpPr>
        <p:spPr>
          <a:xfrm>
            <a:off x="8458200" y="3562350"/>
            <a:ext cx="204787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Comparar y ajustar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815C05-1BA6-4F4C-951A-46C264D0E54E}"/>
              </a:ext>
            </a:extLst>
          </p:cNvPr>
          <p:cNvSpPr>
            <a:spLocks noGrp="1"/>
          </p:cNvSpPr>
          <p:nvPr/>
        </p:nvSpPr>
        <p:spPr>
          <a:xfrm>
            <a:off x="781050" y="49053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Pregunta guía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6B1C34-5000-4BC9-A7E6-712A727544BD}"/>
              </a:ext>
            </a:extLst>
          </p:cNvPr>
          <p:cNvSpPr>
            <a:spLocks noGrp="1"/>
          </p:cNvSpPr>
          <p:nvPr/>
        </p:nvSpPr>
        <p:spPr>
          <a:xfrm>
            <a:off x="781050" y="5286375"/>
            <a:ext cx="10287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¿Cómo equilibramos capacidad predictiva, velocidad, datos categóricos e interpretabilidad?</a:t>
            </a:r>
          </a:p>
        </p:txBody>
      </p:sp>
    </p:spTree>
    <p:extLst>
      <p:ext uri="{BB962C8B-B14F-4D97-AF65-F5344CB8AC3E}">
        <p14:creationId xmlns:p14="http://schemas.microsoft.com/office/powerpoint/2010/main" val="83815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C56530C-E661-4FFC-BAF5-792A9331A0B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La intuición de boosting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013559-EF22-4B37-B989-F8676FB20358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07C205-6F46-4551-B0B6-31E03406B4EF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12B39F-4846-4469-BF99-91994C39253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3EF81B-8F3A-4560-A259-A03AD882639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3/20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381FE9-28C0-491A-A0C3-89902D3373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Muchos modelos simples se entrenan en secuencia y se suman para formar un predictor fuerte.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27DF23F-C831-40A8-A18A-DB0714432DEB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1143000" cy="666750"/>
          </a:xfrm>
          <a:prstGeom prst="roundRect">
            <a:avLst>
              <a:gd name="adj" fmla="val 11429"/>
            </a:avLst>
          </a:prstGeom>
          <a:solidFill>
            <a:srgbClr val="071B2D"/>
          </a:solidFill>
          <a:ln w="19050">
            <a:solidFill>
              <a:srgbClr val="071B2D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Datos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FB890A8-9775-4CA2-9A50-E46A94B015D0}"/>
              </a:ext>
            </a:extLst>
          </p:cNvPr>
          <p:cNvSpPr>
            <a:spLocks noGrp="1"/>
          </p:cNvSpPr>
          <p:nvPr/>
        </p:nvSpPr>
        <p:spPr>
          <a:xfrm>
            <a:off x="2857500" y="2000250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Árbol 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A5CF494-A1A6-4C61-A3D6-271C8C9C0526}"/>
              </a:ext>
            </a:extLst>
          </p:cNvPr>
          <p:cNvSpPr>
            <a:spLocks noGrp="1"/>
          </p:cNvSpPr>
          <p:nvPr/>
        </p:nvSpPr>
        <p:spPr>
          <a:xfrm>
            <a:off x="4953000" y="2000250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FFF1D9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Errores 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DFD75A-F8F1-499A-B54C-25AF6C987384}"/>
              </a:ext>
            </a:extLst>
          </p:cNvPr>
          <p:cNvSpPr>
            <a:spLocks noGrp="1"/>
          </p:cNvSpPr>
          <p:nvPr/>
        </p:nvSpPr>
        <p:spPr>
          <a:xfrm>
            <a:off x="7048500" y="2857500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Árbol 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AB98C79-C6DB-44F3-8208-B43CD6283EB7}"/>
              </a:ext>
            </a:extLst>
          </p:cNvPr>
          <p:cNvSpPr>
            <a:spLocks noGrp="1"/>
          </p:cNvSpPr>
          <p:nvPr/>
        </p:nvSpPr>
        <p:spPr>
          <a:xfrm>
            <a:off x="9144000" y="2857500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FFF1D9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Errores 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2A81C59-A5BA-4F4E-8D29-B52F7BC1BC19}"/>
              </a:ext>
            </a:extLst>
          </p:cNvPr>
          <p:cNvSpPr>
            <a:spLocks noGrp="1"/>
          </p:cNvSpPr>
          <p:nvPr/>
        </p:nvSpPr>
        <p:spPr>
          <a:xfrm>
            <a:off x="9144000" y="423862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Árbol M</a:t>
            </a:r>
          </a:p>
        </p:txBody>
      </p:sp>
      <p:cxnSp>
        <p:nvCxnSpPr>
          <p:cNvPr id="32" name="Elbow Connector 31"/>
          <p:cNvCxnSpPr>
            <a:stCxn id="7" idx="3"/>
            <a:endCxn id="8" idx="1"/>
          </p:cNvCxnSpPr>
          <p:nvPr/>
        </p:nvCxnSpPr>
        <p:spPr>
          <a:xfrm flipV="1">
            <a:off x="1809750" y="2286000"/>
            <a:ext cx="1047750" cy="771525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33" name="Straight Arrow Connector 32"/>
          <p:cNvCxnSpPr>
            <a:stCxn id="8" idx="3"/>
            <a:endCxn id="9" idx="1"/>
          </p:cNvCxnSpPr>
          <p:nvPr/>
        </p:nvCxnSpPr>
        <p:spPr>
          <a:xfrm>
            <a:off x="4286250" y="2286000"/>
            <a:ext cx="666750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34" name="Elbow Connector 33"/>
          <p:cNvCxnSpPr>
            <a:stCxn id="9" idx="3"/>
            <a:endCxn id="10" idx="1"/>
          </p:cNvCxnSpPr>
          <p:nvPr/>
        </p:nvCxnSpPr>
        <p:spPr>
          <a:xfrm>
            <a:off x="6381750" y="2286000"/>
            <a:ext cx="666750" cy="857250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35" name="Straight Arrow Connector 34"/>
          <p:cNvCxnSpPr>
            <a:stCxn id="10" idx="3"/>
            <a:endCxn id="11" idx="1"/>
          </p:cNvCxnSpPr>
          <p:nvPr/>
        </p:nvCxnSpPr>
        <p:spPr>
          <a:xfrm>
            <a:off x="8477250" y="3143250"/>
            <a:ext cx="666750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36" name="Straight Arrow Connector 35"/>
          <p:cNvCxnSpPr>
            <a:stCxn id="11" idx="2"/>
            <a:endCxn id="12" idx="0"/>
          </p:cNvCxnSpPr>
          <p:nvPr/>
        </p:nvCxnSpPr>
        <p:spPr>
          <a:xfrm>
            <a:off x="9858375" y="3429000"/>
            <a:ext cx="0" cy="809625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6B477CC-41FD-445D-A9DA-0FB3430D9B47}"/>
              </a:ext>
            </a:extLst>
          </p:cNvPr>
          <p:cNvSpPr>
            <a:spLocks noGrp="1"/>
          </p:cNvSpPr>
          <p:nvPr/>
        </p:nvSpPr>
        <p:spPr>
          <a:xfrm>
            <a:off x="2286000" y="5095875"/>
            <a:ext cx="7620000" cy="552450"/>
          </a:xfrm>
          <a:prstGeom prst="roundRect">
            <a:avLst>
              <a:gd name="adj" fmla="val 13793"/>
            </a:avLst>
          </a:prstGeom>
          <a:solidFill>
            <a:srgbClr val="071B2D"/>
          </a:solidFill>
          <a:ln w="9525">
            <a:solidFill>
              <a:srgbClr val="071B2D"/>
            </a:solidFill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F(x) = f₁(x) + ηf₂(x) + ··· + ηfₘ(x)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867D68-878F-44F9-8919-94CBF9F23BA4}"/>
              </a:ext>
            </a:extLst>
          </p:cNvPr>
          <p:cNvSpPr>
            <a:spLocks noGrp="1"/>
          </p:cNvSpPr>
          <p:nvPr/>
        </p:nvSpPr>
        <p:spPr>
          <a:xfrm>
            <a:off x="3429000" y="5810250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η controla cuánto aporta cada nuevo modelo.</a:t>
            </a:r>
          </a:p>
        </p:txBody>
      </p:sp>
    </p:spTree>
    <p:extLst>
      <p:ext uri="{BB962C8B-B14F-4D97-AF65-F5344CB8AC3E}">
        <p14:creationId xmlns:p14="http://schemas.microsoft.com/office/powerpoint/2010/main" val="196931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D68277E-2D87-4C8B-AC0B-F21188BBBE2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Bagging y boosting resuelven problemas distintos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80AEEB-71E1-437C-914B-4E2539DB831B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31D8AB-A9C8-414E-8EB8-D3A508A23CB0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ED56F9-86F9-439D-8AE6-B752C9E8469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B33EC0-6DB0-4EC1-A24C-B70B710E05A0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4/20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10C353F-7DF2-4DD5-B699-236564A10E9B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5238750" cy="4095750"/>
          </a:xfrm>
          <a:prstGeom prst="roundRect">
            <a:avLst>
              <a:gd name="adj" fmla="val 1860"/>
            </a:avLst>
          </a:prstGeom>
          <a:solidFill>
            <a:srgbClr val="F5F8F9"/>
          </a:solidFill>
          <a:ln w="28575">
            <a:solidFill>
              <a:srgbClr val="2D6D8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EC013A-9E4A-4A0B-9847-5D29C2512513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2D6D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D6D8E"/>
                </a:solidFill>
                <a:latin typeface="Helvetica Neue"/>
                <a:ea typeface="Helvetica Neue"/>
                <a:cs typeface="Helvetica Neue"/>
              </a:rPr>
              <a:t>BAGGING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31D4F2-EBBA-48EE-921C-BAC8A862DB68}"/>
              </a:ext>
            </a:extLst>
          </p:cNvPr>
          <p:cNvSpPr>
            <a:spLocks noGrp="1"/>
          </p:cNvSpPr>
          <p:nvPr/>
        </p:nvSpPr>
        <p:spPr>
          <a:xfrm>
            <a:off x="1047750" y="2238375"/>
            <a:ext cx="4476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Modelos en paralelo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65A1B5-6A96-4F9C-9520-53348E90FF38}"/>
              </a:ext>
            </a:extLst>
          </p:cNvPr>
          <p:cNvSpPr>
            <a:spLocks noGrp="1"/>
          </p:cNvSpPr>
          <p:nvPr/>
        </p:nvSpPr>
        <p:spPr>
          <a:xfrm>
            <a:off x="1190625" y="2905125"/>
            <a:ext cx="4191000" cy="1666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Cada modelo ve una muestra distinta</a:t>
            </a:r>
          </a:p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Las predicciones se promedian o votan</a:t>
            </a:r>
          </a:p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Objetivo típico: reducir varianza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3A95AC6-AE54-45CE-BBF5-FC26270F8318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5238750" cy="4095750"/>
          </a:xfrm>
          <a:prstGeom prst="roundRect">
            <a:avLst>
              <a:gd name="adj" fmla="val 1860"/>
            </a:avLst>
          </a:prstGeom>
          <a:solidFill>
            <a:srgbClr val="F5F8F9"/>
          </a:solidFill>
          <a:ln w="28575">
            <a:solidFill>
              <a:srgbClr val="F4B64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77044C-7FB4-4307-A377-3D2F4F254976}"/>
              </a:ext>
            </a:extLst>
          </p:cNvPr>
          <p:cNvSpPr>
            <a:spLocks noGrp="1"/>
          </p:cNvSpPr>
          <p:nvPr/>
        </p:nvSpPr>
        <p:spPr>
          <a:xfrm>
            <a:off x="6572250" y="1666875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BOOSTING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67B344-A303-4079-893D-4FC9A1451560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4476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Modelos en secuencia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1B4DC1-729C-46E7-8B96-449FA5E28F33}"/>
              </a:ext>
            </a:extLst>
          </p:cNvPr>
          <p:cNvSpPr>
            <a:spLocks noGrp="1"/>
          </p:cNvSpPr>
          <p:nvPr/>
        </p:nvSpPr>
        <p:spPr>
          <a:xfrm>
            <a:off x="6810375" y="2905125"/>
            <a:ext cx="4191000" cy="1666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Cada etapa usa el error acumulado</a:t>
            </a:r>
          </a:p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Las contribuciones se suman</a:t>
            </a:r>
          </a:p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Objetivo típico: reducir sesgo y error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6A5E76-300B-4647-83D2-90A95E74FFB7}"/>
              </a:ext>
            </a:extLst>
          </p:cNvPr>
          <p:cNvSpPr>
            <a:spLocks noGrp="1"/>
          </p:cNvSpPr>
          <p:nvPr/>
        </p:nvSpPr>
        <p:spPr>
          <a:xfrm>
            <a:off x="1238250" y="5857875"/>
            <a:ext cx="971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La secuencia hace a boosting más sensible a hiperparámetros, ruido y filtración de información.</a:t>
            </a:r>
          </a:p>
        </p:txBody>
      </p:sp>
    </p:spTree>
    <p:extLst>
      <p:ext uri="{BB962C8B-B14F-4D97-AF65-F5344CB8AC3E}">
        <p14:creationId xmlns:p14="http://schemas.microsoft.com/office/powerpoint/2010/main" val="883250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2883F29-2739-47ED-8839-000A655589A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El ciclo general de boosting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489624-DE71-4CDD-A3BC-36F8C06837D9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21D57-587B-4B39-8E01-D3D0A52D2116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AB78BC-7DA5-45ED-BC27-43A729F8DC6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7E738-8FC1-4184-B664-EB6BA5B176E7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5/20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12A806-BD34-43EC-A9E8-BBB42452F577}"/>
              </a:ext>
            </a:extLst>
          </p:cNvPr>
          <p:cNvSpPr>
            <a:spLocks noGrp="1"/>
          </p:cNvSpPr>
          <p:nvPr/>
        </p:nvSpPr>
        <p:spPr>
          <a:xfrm>
            <a:off x="523875" y="2286000"/>
            <a:ext cx="1666875" cy="857250"/>
          </a:xfrm>
          <a:prstGeom prst="roundRect">
            <a:avLst>
              <a:gd name="adj" fmla="val 8889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Inicializar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4A4770-1E94-4EC2-9872-EAF9AD7BA704}"/>
              </a:ext>
            </a:extLst>
          </p:cNvPr>
          <p:cNvSpPr>
            <a:spLocks noGrp="1"/>
          </p:cNvSpPr>
          <p:nvPr/>
        </p:nvSpPr>
        <p:spPr>
          <a:xfrm>
            <a:off x="466725" y="3333750"/>
            <a:ext cx="17811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Una predicción base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AF0286A-96DA-4F5A-9ED1-D6FC7849D409}"/>
              </a:ext>
            </a:extLst>
          </p:cNvPr>
          <p:cNvSpPr>
            <a:spLocks noGrp="1"/>
          </p:cNvSpPr>
          <p:nvPr/>
        </p:nvSpPr>
        <p:spPr>
          <a:xfrm>
            <a:off x="2838450" y="2286000"/>
            <a:ext cx="1666875" cy="857250"/>
          </a:xfrm>
          <a:prstGeom prst="roundRect">
            <a:avLst>
              <a:gd name="adj" fmla="val 8889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Medir error</a:t>
            </a:r>
          </a:p>
        </p:txBody>
      </p:sp>
      <p:cxnSp>
        <p:nvCxnSpPr>
          <p:cNvPr id="30" name="Straight Arrow Connector 29"/>
          <p:cNvCxnSpPr>
            <a:stCxn id="6" idx="3"/>
            <a:endCxn id="8" idx="1"/>
          </p:cNvCxnSpPr>
          <p:nvPr/>
        </p:nvCxnSpPr>
        <p:spPr>
          <a:xfrm>
            <a:off x="2190750" y="2714625"/>
            <a:ext cx="647700" cy="0"/>
          </a:xfrm>
          <a:prstGeom prst="straightConnector1">
            <a:avLst/>
          </a:prstGeom>
          <a:ln w="19050">
            <a:solidFill>
              <a:srgbClr val="55D9D2"/>
            </a:solidFill>
            <a:prstDash val="solid"/>
            <a:tailEnd type="arrow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27A9A57-3356-4822-BE3B-30C4AF1FA779}"/>
              </a:ext>
            </a:extLst>
          </p:cNvPr>
          <p:cNvSpPr>
            <a:spLocks noGrp="1"/>
          </p:cNvSpPr>
          <p:nvPr/>
        </p:nvSpPr>
        <p:spPr>
          <a:xfrm>
            <a:off x="2781300" y="3333750"/>
            <a:ext cx="17811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Pérdida o casos difíciles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0430CF9-9B52-4E3B-9561-685614312820}"/>
              </a:ext>
            </a:extLst>
          </p:cNvPr>
          <p:cNvSpPr>
            <a:spLocks noGrp="1"/>
          </p:cNvSpPr>
          <p:nvPr/>
        </p:nvSpPr>
        <p:spPr>
          <a:xfrm>
            <a:off x="5153025" y="2286000"/>
            <a:ext cx="1666875" cy="857250"/>
          </a:xfrm>
          <a:prstGeom prst="roundRect">
            <a:avLst>
              <a:gd name="adj" fmla="val 8889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Ajustar</a:t>
            </a:r>
          </a:p>
        </p:txBody>
      </p:sp>
      <p:cxnSp>
        <p:nvCxnSpPr>
          <p:cNvPr id="33" name="Straight Arrow Connector 32"/>
          <p:cNvCxnSpPr>
            <a:stCxn id="8" idx="3"/>
            <a:endCxn id="11" idx="1"/>
          </p:cNvCxnSpPr>
          <p:nvPr/>
        </p:nvCxnSpPr>
        <p:spPr>
          <a:xfrm>
            <a:off x="4505325" y="2714625"/>
            <a:ext cx="647700" cy="0"/>
          </a:xfrm>
          <a:prstGeom prst="straightConnector1">
            <a:avLst/>
          </a:prstGeom>
          <a:ln w="19050">
            <a:solidFill>
              <a:srgbClr val="55D9D2"/>
            </a:solidFill>
            <a:prstDash val="solid"/>
            <a:tailEnd type="arrow" w="med" len="me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1E7DF57-830C-42DE-ACEF-F9CAB2DE887B}"/>
              </a:ext>
            </a:extLst>
          </p:cNvPr>
          <p:cNvSpPr>
            <a:spLocks noGrp="1"/>
          </p:cNvSpPr>
          <p:nvPr/>
        </p:nvSpPr>
        <p:spPr>
          <a:xfrm>
            <a:off x="5095875" y="3333750"/>
            <a:ext cx="17811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Un nuevo aprendiz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A5DA913-841D-4A5F-A2B4-F316CC8886C8}"/>
              </a:ext>
            </a:extLst>
          </p:cNvPr>
          <p:cNvSpPr>
            <a:spLocks noGrp="1"/>
          </p:cNvSpPr>
          <p:nvPr/>
        </p:nvSpPr>
        <p:spPr>
          <a:xfrm>
            <a:off x="7467600" y="2286000"/>
            <a:ext cx="1666875" cy="857250"/>
          </a:xfrm>
          <a:prstGeom prst="roundRect">
            <a:avLst>
              <a:gd name="adj" fmla="val 8889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Actualizar</a:t>
            </a:r>
          </a:p>
        </p:txBody>
      </p:sp>
      <p:cxnSp>
        <p:nvCxnSpPr>
          <p:cNvPr id="36" name="Straight Arrow Connector 35"/>
          <p:cNvCxnSpPr>
            <a:stCxn id="11" idx="3"/>
            <a:endCxn id="14" idx="1"/>
          </p:cNvCxnSpPr>
          <p:nvPr/>
        </p:nvCxnSpPr>
        <p:spPr>
          <a:xfrm>
            <a:off x="6819900" y="2714625"/>
            <a:ext cx="647700" cy="0"/>
          </a:xfrm>
          <a:prstGeom prst="straightConnector1">
            <a:avLst/>
          </a:prstGeom>
          <a:ln w="19050">
            <a:solidFill>
              <a:srgbClr val="55D9D2"/>
            </a:solidFill>
            <a:prstDash val="solid"/>
            <a:tailEnd type="arrow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50F9EF8-CF09-4AC7-9BB4-DFEA6EC2F658}"/>
              </a:ext>
            </a:extLst>
          </p:cNvPr>
          <p:cNvSpPr>
            <a:spLocks noGrp="1"/>
          </p:cNvSpPr>
          <p:nvPr/>
        </p:nvSpPr>
        <p:spPr>
          <a:xfrm>
            <a:off x="7410450" y="3333750"/>
            <a:ext cx="17811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Sumar su contribución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C93DE3-BBAA-4BDD-85A2-C4DCC256CCB0}"/>
              </a:ext>
            </a:extLst>
          </p:cNvPr>
          <p:cNvSpPr>
            <a:spLocks noGrp="1"/>
          </p:cNvSpPr>
          <p:nvPr/>
        </p:nvSpPr>
        <p:spPr>
          <a:xfrm>
            <a:off x="9782175" y="2286000"/>
            <a:ext cx="1666875" cy="857250"/>
          </a:xfrm>
          <a:prstGeom prst="roundRect">
            <a:avLst>
              <a:gd name="adj" fmla="val 8889"/>
            </a:avLst>
          </a:prstGeom>
          <a:solidFill>
            <a:srgbClr val="F4B64E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Detener</a:t>
            </a:r>
          </a:p>
        </p:txBody>
      </p:sp>
      <p:cxnSp>
        <p:nvCxnSpPr>
          <p:cNvPr id="39" name="Straight Arrow Connector 38"/>
          <p:cNvCxnSpPr>
            <a:stCxn id="14" idx="3"/>
            <a:endCxn id="17" idx="1"/>
          </p:cNvCxnSpPr>
          <p:nvPr/>
        </p:nvCxnSpPr>
        <p:spPr>
          <a:xfrm>
            <a:off x="9134475" y="2714625"/>
            <a:ext cx="647700" cy="0"/>
          </a:xfrm>
          <a:prstGeom prst="straightConnector1">
            <a:avLst/>
          </a:prstGeom>
          <a:ln w="19050">
            <a:solidFill>
              <a:srgbClr val="55D9D2"/>
            </a:solidFill>
            <a:prstDash val="solid"/>
            <a:tailEnd type="arrow" w="med" len="me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C839442-EC69-453D-8CE2-0CE9CFE72454}"/>
              </a:ext>
            </a:extLst>
          </p:cNvPr>
          <p:cNvSpPr>
            <a:spLocks noGrp="1"/>
          </p:cNvSpPr>
          <p:nvPr/>
        </p:nvSpPr>
        <p:spPr>
          <a:xfrm>
            <a:off x="9725025" y="3333750"/>
            <a:ext cx="17811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M etapas o validación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ED71CB2-FF21-4350-884D-AF06B142DAC1}"/>
              </a:ext>
            </a:extLst>
          </p:cNvPr>
          <p:cNvSpPr>
            <a:spLocks noGrp="1"/>
          </p:cNvSpPr>
          <p:nvPr/>
        </p:nvSpPr>
        <p:spPr>
          <a:xfrm>
            <a:off x="2667000" y="4667250"/>
            <a:ext cx="6858000" cy="647700"/>
          </a:xfrm>
          <a:prstGeom prst="roundRect">
            <a:avLst>
              <a:gd name="adj" fmla="val 11765"/>
            </a:avLst>
          </a:prstGeom>
          <a:solidFill>
            <a:srgbClr val="0C2940"/>
          </a:solidFill>
          <a:ln w="19050">
            <a:solidFill>
              <a:srgbClr val="55D9D2"/>
            </a:solidFill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Repetir mientras la validación mejora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372D87-ABBA-4F91-93A1-C2EC6F6CC138}"/>
              </a:ext>
            </a:extLst>
          </p:cNvPr>
          <p:cNvSpPr>
            <a:spLocks noGrp="1"/>
          </p:cNvSpPr>
          <p:nvPr/>
        </p:nvSpPr>
        <p:spPr>
          <a:xfrm>
            <a:off x="2000250" y="5715000"/>
            <a:ext cx="819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La definición exacta de “error” separa AdaBoost de Gradient Boosting.</a:t>
            </a:r>
          </a:p>
        </p:txBody>
      </p:sp>
    </p:spTree>
    <p:extLst>
      <p:ext uri="{BB962C8B-B14F-4D97-AF65-F5344CB8AC3E}">
        <p14:creationId xmlns:p14="http://schemas.microsoft.com/office/powerpoint/2010/main" val="219373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DC0521F-DA6D-74F8-CAB6-80C5BA082AAB}"/>
              </a:ext>
            </a:extLst>
          </p:cNvPr>
          <p:cNvSpPr>
            <a:spLocks noGrp="1"/>
          </p:cNvSpPr>
          <p:nvPr/>
        </p:nvSpPr>
        <p:spPr>
          <a:xfrm>
            <a:off x="6679451" y="4933083"/>
            <a:ext cx="3635013" cy="876300"/>
          </a:xfrm>
          <a:prstGeom prst="roundRect">
            <a:avLst>
              <a:gd name="adj" fmla="val 8696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endParaRPr sz="1350" b="1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9F825F-EDDD-3A64-83B7-C793D88CF245}"/>
              </a:ext>
            </a:extLst>
          </p:cNvPr>
          <p:cNvSpPr>
            <a:spLocks noGrp="1"/>
          </p:cNvSpPr>
          <p:nvPr/>
        </p:nvSpPr>
        <p:spPr>
          <a:xfrm>
            <a:off x="6679451" y="3665761"/>
            <a:ext cx="3635013" cy="876300"/>
          </a:xfrm>
          <a:prstGeom prst="roundRect">
            <a:avLst>
              <a:gd name="adj" fmla="val 8696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6F65A8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endParaRPr sz="1350" b="1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724545-25AF-A628-3441-E88FF38D3FC0}"/>
                  </a:ext>
                </a:extLst>
              </p:cNvPr>
              <p:cNvSpPr txBox="1"/>
              <p:nvPr/>
            </p:nvSpPr>
            <p:spPr>
              <a:xfrm>
                <a:off x="6919730" y="3810397"/>
                <a:ext cx="3154453" cy="601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𝑒𝑟𝑟𝑜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𝕀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CL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724545-25AF-A628-3441-E88FF38D3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730" y="3810397"/>
                <a:ext cx="3154453" cy="601255"/>
              </a:xfrm>
              <a:prstGeom prst="rect">
                <a:avLst/>
              </a:prstGeom>
              <a:blipFill>
                <a:blip r:embed="rId3"/>
                <a:stretch>
                  <a:fillRect l="-400" t="-79167" r="-2000" b="-110417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8E949AB2-A176-4DB9-98D2-2F456D31E3E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AdaBoost: enfocar los casos difíciles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C613AF-E831-436F-A9C3-31E5BAF540FE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1E146A-E788-45CF-92C6-A7C85AE3CA94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2AEB63-0B8D-41A3-8880-BAB470890A1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6C4891-9347-48F5-B5C1-CABD270ED901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6/20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94EBAE-CFFD-4360-89F7-466B6BACC28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6203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AdaBoost aumenta el peso de observaciones mal clasificadas y combina aprendices según su desempeño.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A11B0E-42F7-4CCB-B720-95EED60489E4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1762125" cy="876300"/>
          </a:xfrm>
          <a:prstGeom prst="roundRect">
            <a:avLst>
              <a:gd name="adj" fmla="val 8696"/>
            </a:avLst>
          </a:prstGeom>
          <a:solidFill>
            <a:srgbClr val="2D6D8E"/>
          </a:solidFill>
          <a:ln w="19050">
            <a:solidFill>
              <a:srgbClr val="2D6D8E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Inicio</a:t>
            </a:r>
          </a:p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Pesos iguales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B6FFADB-BF5E-4D22-A076-DCE2238D0558}"/>
              </a:ext>
            </a:extLst>
          </p:cNvPr>
          <p:cNvSpPr>
            <a:spLocks noGrp="1"/>
          </p:cNvSpPr>
          <p:nvPr/>
        </p:nvSpPr>
        <p:spPr>
          <a:xfrm>
            <a:off x="2838450" y="2381250"/>
            <a:ext cx="1762125" cy="876300"/>
          </a:xfrm>
          <a:prstGeom prst="roundRect">
            <a:avLst>
              <a:gd name="adj" fmla="val 8696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Árbol 1</a:t>
            </a:r>
          </a:p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Falla en 3 casos</a:t>
            </a:r>
          </a:p>
        </p:txBody>
      </p:sp>
      <p:cxnSp>
        <p:nvCxnSpPr>
          <p:cNvPr id="27" name="Straight Arrow Connector 26"/>
          <p:cNvCxnSpPr>
            <a:stCxn id="7" idx="3"/>
            <a:endCxn id="8" idx="1"/>
          </p:cNvCxnSpPr>
          <p:nvPr/>
        </p:nvCxnSpPr>
        <p:spPr>
          <a:xfrm>
            <a:off x="2257425" y="2819400"/>
            <a:ext cx="581025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166B94-AABF-444C-B2D7-6640189FBF97}"/>
              </a:ext>
            </a:extLst>
          </p:cNvPr>
          <p:cNvSpPr>
            <a:spLocks noGrp="1"/>
          </p:cNvSpPr>
          <p:nvPr/>
        </p:nvSpPr>
        <p:spPr>
          <a:xfrm>
            <a:off x="5181600" y="2381250"/>
            <a:ext cx="1762125" cy="876300"/>
          </a:xfrm>
          <a:prstGeom prst="roundRect">
            <a:avLst>
              <a:gd name="adj" fmla="val 8696"/>
            </a:avLst>
          </a:prstGeom>
          <a:solidFill>
            <a:srgbClr val="F4B64E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Reponderar</a:t>
            </a:r>
          </a:p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Esos casos pesan más</a:t>
            </a:r>
          </a:p>
        </p:txBody>
      </p:sp>
      <p:cxnSp>
        <p:nvCxnSpPr>
          <p:cNvPr id="29" name="Straight Arrow Connector 28"/>
          <p:cNvCxnSpPr>
            <a:stCxn id="8" idx="3"/>
            <a:endCxn id="10" idx="1"/>
          </p:cNvCxnSpPr>
          <p:nvPr/>
        </p:nvCxnSpPr>
        <p:spPr>
          <a:xfrm>
            <a:off x="4600575" y="2819400"/>
            <a:ext cx="581025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6C7BB7C-9C45-46B6-AFF7-EDFF2FA220EA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1762125" cy="876300"/>
          </a:xfrm>
          <a:prstGeom prst="roundRect">
            <a:avLst>
              <a:gd name="adj" fmla="val 8696"/>
            </a:avLst>
          </a:prstGeom>
          <a:solidFill>
            <a:srgbClr val="6F65A8"/>
          </a:solidFill>
          <a:ln w="19050">
            <a:solidFill>
              <a:srgbClr val="6F65A8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Árbol 2</a:t>
            </a:r>
          </a:p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 concentra en ellos</a:t>
            </a:r>
          </a:p>
        </p:txBody>
      </p:sp>
      <p:cxnSp>
        <p:nvCxnSpPr>
          <p:cNvPr id="31" name="Straight Arrow Connector 30"/>
          <p:cNvCxnSpPr>
            <a:stCxn id="10" idx="3"/>
            <a:endCxn id="12" idx="1"/>
          </p:cNvCxnSpPr>
          <p:nvPr/>
        </p:nvCxnSpPr>
        <p:spPr>
          <a:xfrm>
            <a:off x="6943725" y="2819400"/>
            <a:ext cx="581025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37FF96A-E03D-47C6-96C7-2EAF66CC5588}"/>
              </a:ext>
            </a:extLst>
          </p:cNvPr>
          <p:cNvSpPr>
            <a:spLocks noGrp="1"/>
          </p:cNvSpPr>
          <p:nvPr/>
        </p:nvSpPr>
        <p:spPr>
          <a:xfrm>
            <a:off x="9867900" y="2381250"/>
            <a:ext cx="1762125" cy="876300"/>
          </a:xfrm>
          <a:prstGeom prst="roundRect">
            <a:avLst>
              <a:gd name="adj" fmla="val 8696"/>
            </a:avLst>
          </a:prstGeom>
          <a:solidFill>
            <a:srgbClr val="2F9E75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Voto final</a:t>
            </a:r>
          </a:p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Peso según calidad</a:t>
            </a:r>
          </a:p>
        </p:txBody>
      </p:sp>
      <p:cxnSp>
        <p:nvCxnSpPr>
          <p:cNvPr id="33" name="Straight Arrow Connector 32"/>
          <p:cNvCxnSpPr>
            <a:stCxn id="12" idx="3"/>
            <a:endCxn id="14" idx="1"/>
          </p:cNvCxnSpPr>
          <p:nvPr/>
        </p:nvCxnSpPr>
        <p:spPr>
          <a:xfrm>
            <a:off x="9286875" y="2819400"/>
            <a:ext cx="581025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FFC28E0-8327-414D-8BE5-65E4567D7F96}"/>
              </a:ext>
            </a:extLst>
          </p:cNvPr>
          <p:cNvSpPr>
            <a:spLocks noGrp="1"/>
          </p:cNvSpPr>
          <p:nvPr/>
        </p:nvSpPr>
        <p:spPr>
          <a:xfrm>
            <a:off x="2779667" y="3677487"/>
            <a:ext cx="2904717" cy="876291"/>
          </a:xfrm>
          <a:prstGeom prst="roundRect">
            <a:avLst>
              <a:gd name="adj" fmla="val 11429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endParaRPr sz="1725" b="1" dirty="0">
              <a:solidFill>
                <a:srgbClr val="071B2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54A8B50-3CB0-4EE3-A91B-6973F7391AB6}"/>
              </a:ext>
            </a:extLst>
          </p:cNvPr>
          <p:cNvSpPr>
            <a:spLocks noGrp="1"/>
          </p:cNvSpPr>
          <p:nvPr/>
        </p:nvSpPr>
        <p:spPr>
          <a:xfrm>
            <a:off x="2358253" y="5025120"/>
            <a:ext cx="3905250" cy="666750"/>
          </a:xfrm>
          <a:prstGeom prst="roundRect">
            <a:avLst>
              <a:gd name="adj" fmla="val 11429"/>
            </a:avLst>
          </a:prstGeom>
          <a:solidFill>
            <a:srgbClr val="FFF1D9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endParaRPr sz="1725" b="1" dirty="0">
              <a:solidFill>
                <a:srgbClr val="071B2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D06836-83A3-4ACE-AA80-C8781DD99471}"/>
              </a:ext>
            </a:extLst>
          </p:cNvPr>
          <p:cNvSpPr>
            <a:spLocks noGrp="1"/>
          </p:cNvSpPr>
          <p:nvPr/>
        </p:nvSpPr>
        <p:spPr>
          <a:xfrm>
            <a:off x="698716" y="5829300"/>
            <a:ext cx="11275163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Mayor error del árbol →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menor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influencia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. Caso mal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clasificado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→ mayor peso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siguiente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F5B778-42D4-0357-0876-27D9EAD4AF15}"/>
                  </a:ext>
                </a:extLst>
              </p:cNvPr>
              <p:cNvSpPr txBox="1"/>
              <p:nvPr/>
            </p:nvSpPr>
            <p:spPr>
              <a:xfrm>
                <a:off x="3068341" y="3832028"/>
                <a:ext cx="2327367" cy="567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419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𝑒𝑟𝑟𝑜</m:t>
                                  </m:r>
                                  <m:sSub>
                                    <m:sSubPr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𝑒𝑟𝑟𝑜</m:t>
                                  </m:r>
                                  <m:sSub>
                                    <m:sSubPr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CL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F5B778-42D4-0357-0876-27D9EAD4A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341" y="3832028"/>
                <a:ext cx="2327367" cy="567207"/>
              </a:xfrm>
              <a:prstGeom prst="rect">
                <a:avLst/>
              </a:prstGeom>
              <a:blipFill>
                <a:blip r:embed="rId4"/>
                <a:stretch>
                  <a:fillRect l="-543" t="-4348" b="-4348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55095D-80B2-BE05-B4D3-B9C4111A643F}"/>
                  </a:ext>
                </a:extLst>
              </p:cNvPr>
              <p:cNvSpPr txBox="1"/>
              <p:nvPr/>
            </p:nvSpPr>
            <p:spPr>
              <a:xfrm>
                <a:off x="2909506" y="5219995"/>
                <a:ext cx="3111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m:rPr>
                          <m:sty m:val="p"/>
                        </m:rPr>
                        <a:rPr lang="es-419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⁡(−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L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55095D-80B2-BE05-B4D3-B9C4111A6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506" y="5219995"/>
                <a:ext cx="3111621" cy="276999"/>
              </a:xfrm>
              <a:prstGeom prst="rect">
                <a:avLst/>
              </a:prstGeom>
              <a:blipFill>
                <a:blip r:embed="rId5"/>
                <a:stretch>
                  <a:fillRect t="-4348" r="-405" b="-39130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BF2466-D859-E06C-C221-525615393FFB}"/>
                  </a:ext>
                </a:extLst>
              </p:cNvPr>
              <p:cNvSpPr txBox="1"/>
              <p:nvPr/>
            </p:nvSpPr>
            <p:spPr>
              <a:xfrm>
                <a:off x="7078612" y="4981798"/>
                <a:ext cx="2966774" cy="778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CL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BF2466-D859-E06C-C221-525615393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612" y="4981798"/>
                <a:ext cx="2966774" cy="778868"/>
              </a:xfrm>
              <a:prstGeom prst="rect">
                <a:avLst/>
              </a:prstGeom>
              <a:blipFill>
                <a:blip r:embed="rId6"/>
                <a:stretch>
                  <a:fillRect l="-1277" t="-111290" b="-174194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07E064C-7E7A-F0FC-78EB-3ADA6DF68799}"/>
              </a:ext>
            </a:extLst>
          </p:cNvPr>
          <p:cNvSpPr txBox="1"/>
          <p:nvPr/>
        </p:nvSpPr>
        <p:spPr>
          <a:xfrm>
            <a:off x="2779667" y="3415496"/>
            <a:ext cx="1739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solidFill>
                  <a:srgbClr val="17B6B1"/>
                </a:solidFill>
              </a:rPr>
              <a:t>Peso del modelo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A79BAC-381A-A543-B083-B7E4B450511D}"/>
              </a:ext>
            </a:extLst>
          </p:cNvPr>
          <p:cNvSpPr txBox="1"/>
          <p:nvPr/>
        </p:nvSpPr>
        <p:spPr>
          <a:xfrm>
            <a:off x="6757184" y="3390608"/>
            <a:ext cx="1769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solidFill>
                  <a:srgbClr val="7030A0"/>
                </a:solidFill>
              </a:rPr>
              <a:t>Error del modelo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658984-C108-5381-B42F-3905391E8F1A}"/>
              </a:ext>
            </a:extLst>
          </p:cNvPr>
          <p:cNvSpPr txBox="1"/>
          <p:nvPr/>
        </p:nvSpPr>
        <p:spPr>
          <a:xfrm>
            <a:off x="2492252" y="4760176"/>
            <a:ext cx="2304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solidFill>
                  <a:srgbClr val="FFC000"/>
                </a:solidFill>
              </a:rPr>
              <a:t>Actualización de pesos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C762BD-C4C0-796B-6635-E8C724756939}"/>
              </a:ext>
            </a:extLst>
          </p:cNvPr>
          <p:cNvSpPr txBox="1"/>
          <p:nvPr/>
        </p:nvSpPr>
        <p:spPr>
          <a:xfrm>
            <a:off x="6757184" y="4655788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solidFill>
                  <a:srgbClr val="00B050"/>
                </a:solidFill>
              </a:rPr>
              <a:t>Modelo final</a:t>
            </a:r>
          </a:p>
        </p:txBody>
      </p:sp>
    </p:spTree>
    <p:extLst>
      <p:ext uri="{BB962C8B-B14F-4D97-AF65-F5344CB8AC3E}">
        <p14:creationId xmlns:p14="http://schemas.microsoft.com/office/powerpoint/2010/main" val="177020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74C40571-C1D5-73A6-BA52-4ADF2DF5B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0AD919D-1060-4D98-854D-4169B9F7297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AdaBoost: ventajas y limitaciones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D26FF7-3FAA-4FDA-9EF1-D200ABB31B61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194F3-AF6F-4EEA-AA97-609192EA8CC7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208085-6351-48AA-A11C-1491E161F92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CB241-1D4B-48AA-BF8B-70B389DD9B03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8/20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B6F6057-D5AF-4F17-90EF-6846F323B7B3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5095875" cy="4095750"/>
          </a:xfrm>
          <a:prstGeom prst="roundRect">
            <a:avLst>
              <a:gd name="adj" fmla="val 1860"/>
            </a:avLst>
          </a:prstGeom>
          <a:solidFill>
            <a:srgbClr val="E7F5EF"/>
          </a:solidFill>
          <a:ln w="19050">
            <a:solidFill>
              <a:srgbClr val="2F9E75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CE7A048-33EB-40F8-B2C8-02F61D09FBC8}"/>
              </a:ext>
            </a:extLst>
          </p:cNvPr>
          <p:cNvSpPr>
            <a:spLocks noGrp="1"/>
          </p:cNvSpPr>
          <p:nvPr/>
        </p:nvSpPr>
        <p:spPr>
          <a:xfrm>
            <a:off x="6429375" y="1476375"/>
            <a:ext cx="5095875" cy="4095750"/>
          </a:xfrm>
          <a:prstGeom prst="roundRect">
            <a:avLst>
              <a:gd name="adj" fmla="val 1860"/>
            </a:avLst>
          </a:prstGeom>
          <a:solidFill>
            <a:srgbClr val="FBECEC"/>
          </a:solidFill>
          <a:ln w="19050">
            <a:solidFill>
              <a:srgbClr val="C95757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F0EE2C-DD63-4007-AEB0-BD2E987CBD75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4524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2F9E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F9E75"/>
                </a:solidFill>
                <a:latin typeface="Helvetica Neue"/>
                <a:ea typeface="Helvetica Neue"/>
                <a:cs typeface="Helvetica Neue"/>
              </a:rPr>
              <a:t>VENTAJAS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29A68C-6FE7-4179-B632-EA9E2ADC6AA3}"/>
              </a:ext>
            </a:extLst>
          </p:cNvPr>
          <p:cNvSpPr>
            <a:spLocks noGrp="1"/>
          </p:cNvSpPr>
          <p:nvPr/>
        </p:nvSpPr>
        <p:spPr>
          <a:xfrm>
            <a:off x="1047750" y="2428875"/>
            <a:ext cx="4143375" cy="2333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Intuición clara y pocos hiperparámetros</a:t>
            </a:r>
          </a:p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Buen desempeño con aprendices muy simples</a:t>
            </a:r>
          </a:p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No exige escalar variables para árboles</a:t>
            </a:r>
          </a:p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Clasificación y regresión disponibles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9026AA-1FA0-4C2C-A794-AED6181AE216}"/>
              </a:ext>
            </a:extLst>
          </p:cNvPr>
          <p:cNvSpPr>
            <a:spLocks noGrp="1"/>
          </p:cNvSpPr>
          <p:nvPr/>
        </p:nvSpPr>
        <p:spPr>
          <a:xfrm>
            <a:off x="6715125" y="1762125"/>
            <a:ext cx="4524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rPr>
              <a:t>LIMITACIONES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7384A1-FFE4-4A9D-94EC-6AC440D98CBE}"/>
              </a:ext>
            </a:extLst>
          </p:cNvPr>
          <p:cNvSpPr>
            <a:spLocks noGrp="1"/>
          </p:cNvSpPr>
          <p:nvPr/>
        </p:nvSpPr>
        <p:spPr>
          <a:xfrm>
            <a:off x="6810375" y="2428875"/>
            <a:ext cx="4143375" cy="2333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Sensible a </a:t>
            </a:r>
            <a:r>
              <a:rPr sz="1575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ruido</a:t>
            </a:r>
            <a:r>
              <a:rPr sz="1575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y </a:t>
            </a:r>
            <a:r>
              <a:rPr sz="1575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etiquetas</a:t>
            </a:r>
            <a:r>
              <a:rPr sz="1575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75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incorrectas</a:t>
            </a:r>
            <a:endParaRPr sz="1575" b="0" dirty="0">
              <a:solidFill>
                <a:srgbClr val="173042"/>
              </a:solidFill>
              <a:latin typeface="Helvetica Neue"/>
              <a:ea typeface="Helvetica Neue"/>
              <a:cs typeface="Helvetica Neue"/>
            </a:endParaRPr>
          </a:p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Entrenamiento</a:t>
            </a:r>
            <a:r>
              <a:rPr sz="1575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75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secuencial</a:t>
            </a:r>
            <a:endParaRPr sz="1575" b="0" dirty="0">
              <a:solidFill>
                <a:srgbClr val="173042"/>
              </a:solidFill>
              <a:latin typeface="Helvetica Neue"/>
              <a:ea typeface="Helvetica Neue"/>
              <a:cs typeface="Helvetica Neue"/>
            </a:endParaRPr>
          </a:p>
          <a:p>
            <a:pPr marL="228600" indent="-114300" algn="l">
              <a:spcAft>
                <a:spcPts val="9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Menor </a:t>
            </a:r>
            <a:r>
              <a:rPr sz="1575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flexibilidad</a:t>
            </a:r>
            <a:r>
              <a:rPr sz="1575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75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que</a:t>
            </a:r>
            <a:r>
              <a:rPr sz="1575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75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variantes</a:t>
            </a:r>
            <a:r>
              <a:rPr sz="1575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75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modernas</a:t>
            </a:r>
            <a:endParaRPr sz="1575" b="0" dirty="0">
              <a:solidFill>
                <a:srgbClr val="173042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C10B3C-56EB-405D-8440-A288C156CFE0}"/>
              </a:ext>
            </a:extLst>
          </p:cNvPr>
          <p:cNvSpPr>
            <a:spLocks noGrp="1"/>
          </p:cNvSpPr>
          <p:nvPr/>
        </p:nvSpPr>
        <p:spPr>
          <a:xfrm>
            <a:off x="1666875" y="5857875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Úsalo como línea base fuerte cuando los datos están relativamente limpios.</a:t>
            </a:r>
          </a:p>
        </p:txBody>
      </p:sp>
    </p:spTree>
    <p:extLst>
      <p:ext uri="{BB962C8B-B14F-4D97-AF65-F5344CB8AC3E}">
        <p14:creationId xmlns:p14="http://schemas.microsoft.com/office/powerpoint/2010/main" val="2036553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6980103-5B62-45C1-BEF5-FBF29779957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Gradient Boosting: optimizar una pérdida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928CBD-AE60-4A46-9EE9-E7F171499719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53FC4B-7C9C-4144-9798-560D611106AF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3B5C7-C4AC-42A6-8298-72ED6193321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B04FA4-E47F-428A-908C-0988EE196132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9/20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FD0131-E208-42CC-B958-181DE62D2CDF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Cada árbol aproxima la dirección que más reduce la función de pérdida actual.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D8716A-F290-448B-BBA0-F8873403669C}"/>
              </a:ext>
            </a:extLst>
          </p:cNvPr>
          <p:cNvSpPr>
            <a:spLocks noGrp="1"/>
          </p:cNvSpPr>
          <p:nvPr/>
        </p:nvSpPr>
        <p:spPr>
          <a:xfrm>
            <a:off x="1619250" y="1952625"/>
            <a:ext cx="8953500" cy="762000"/>
          </a:xfrm>
          <a:prstGeom prst="roundRect">
            <a:avLst>
              <a:gd name="adj" fmla="val 10000"/>
            </a:avLst>
          </a:prstGeom>
          <a:solidFill>
            <a:srgbClr val="0C2940"/>
          </a:solidFill>
          <a:ln w="19050">
            <a:solidFill>
              <a:srgbClr val="55D9D2"/>
            </a:solidFill>
          </a:ln>
        </p:spPr>
        <p:txBody>
          <a:bodyPr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Fₘ(x) = Fₘ₋₁(x) + η · hₘ(x)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B308536-8AAB-4BA5-B715-9B98922169D6}"/>
              </a:ext>
            </a:extLst>
          </p:cNvPr>
          <p:cNvSpPr>
            <a:spLocks noGrp="1"/>
          </p:cNvSpPr>
          <p:nvPr/>
        </p:nvSpPr>
        <p:spPr>
          <a:xfrm>
            <a:off x="952500" y="3667125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F4B64E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Pérdida</a:t>
            </a:r>
          </a:p>
          <a:p>
            <a:pPr algn="ctr">
              <a:def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L(y, F)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530054F-F85A-4E47-96BA-C7D557A50DB3}"/>
              </a:ext>
            </a:extLst>
          </p:cNvPr>
          <p:cNvSpPr>
            <a:spLocks noGrp="1"/>
          </p:cNvSpPr>
          <p:nvPr/>
        </p:nvSpPr>
        <p:spPr>
          <a:xfrm>
            <a:off x="4095750" y="3667125"/>
            <a:ext cx="2000250" cy="762000"/>
          </a:xfrm>
          <a:prstGeom prst="roundRect">
            <a:avLst>
              <a:gd name="adj" fmla="val 10000"/>
            </a:avLst>
          </a:prstGeom>
          <a:solidFill>
            <a:srgbClr val="6F65A8"/>
          </a:solidFill>
          <a:ln w="19050">
            <a:solidFill>
              <a:srgbClr val="6F65A8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Gradiente negativo</a:t>
            </a:r>
          </a:p>
          <a:p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−∂L/∂F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4153B07-C370-4082-B475-1F20403AD20E}"/>
              </a:ext>
            </a:extLst>
          </p:cNvPr>
          <p:cNvSpPr>
            <a:spLocks noGrp="1"/>
          </p:cNvSpPr>
          <p:nvPr/>
        </p:nvSpPr>
        <p:spPr>
          <a:xfrm>
            <a:off x="7524750" y="3667125"/>
            <a:ext cx="1809750" cy="762000"/>
          </a:xfrm>
          <a:prstGeom prst="roundRect">
            <a:avLst>
              <a:gd name="adj" fmla="val 10000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Nuevo árbol</a:t>
            </a:r>
          </a:p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hₘ(x)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08EF8CB-8A24-41DB-AFC1-A3DD97F131B7}"/>
              </a:ext>
            </a:extLst>
          </p:cNvPr>
          <p:cNvSpPr>
            <a:spLocks noGrp="1"/>
          </p:cNvSpPr>
          <p:nvPr/>
        </p:nvSpPr>
        <p:spPr>
          <a:xfrm>
            <a:off x="10191750" y="3667125"/>
            <a:ext cx="1428750" cy="762000"/>
          </a:xfrm>
          <a:prstGeom prst="roundRect">
            <a:avLst>
              <a:gd name="adj" fmla="val 10000"/>
            </a:avLst>
          </a:prstGeom>
          <a:solidFill>
            <a:srgbClr val="2F9E75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Modelo</a:t>
            </a:r>
          </a:p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actualizado</a:t>
            </a:r>
          </a:p>
        </p:txBody>
      </p:sp>
      <p:cxnSp>
        <p:nvCxnSpPr>
          <p:cNvPr id="27" name="Straight Arrow Connector 26"/>
          <p:cNvCxnSpPr>
            <a:stCxn id="8" idx="3"/>
            <a:endCxn id="9" idx="1"/>
          </p:cNvCxnSpPr>
          <p:nvPr/>
        </p:nvCxnSpPr>
        <p:spPr>
          <a:xfrm>
            <a:off x="2667000" y="4048125"/>
            <a:ext cx="1428750" cy="0"/>
          </a:xfrm>
          <a:prstGeom prst="straightConnector1">
            <a:avLst/>
          </a:prstGeom>
          <a:ln w="19050">
            <a:solidFill>
              <a:srgbClr val="55D9D2"/>
            </a:solidFill>
            <a:prstDash val="solid"/>
            <a:tailEnd type="arrow" w="med" len="med"/>
          </a:ln>
        </p:spPr>
      </p:cxnSp>
      <p:cxnSp>
        <p:nvCxnSpPr>
          <p:cNvPr id="28" name="Straight Arrow Connector 27"/>
          <p:cNvCxnSpPr>
            <a:stCxn id="9" idx="3"/>
            <a:endCxn id="10" idx="1"/>
          </p:cNvCxnSpPr>
          <p:nvPr/>
        </p:nvCxnSpPr>
        <p:spPr>
          <a:xfrm>
            <a:off x="6096000" y="4048125"/>
            <a:ext cx="1428750" cy="0"/>
          </a:xfrm>
          <a:prstGeom prst="straightConnector1">
            <a:avLst/>
          </a:prstGeom>
          <a:ln w="19050">
            <a:solidFill>
              <a:srgbClr val="55D9D2"/>
            </a:solidFill>
            <a:prstDash val="solid"/>
            <a:tailEnd type="arrow" w="med" len="med"/>
          </a:ln>
        </p:spPr>
      </p:cxnSp>
      <p:cxnSp>
        <p:nvCxnSpPr>
          <p:cNvPr id="29" name="Straight Arrow Connector 28"/>
          <p:cNvCxnSpPr>
            <a:stCxn id="10" idx="3"/>
            <a:endCxn id="11" idx="1"/>
          </p:cNvCxnSpPr>
          <p:nvPr/>
        </p:nvCxnSpPr>
        <p:spPr>
          <a:xfrm>
            <a:off x="9334500" y="4048125"/>
            <a:ext cx="857250" cy="0"/>
          </a:xfrm>
          <a:prstGeom prst="straightConnector1">
            <a:avLst/>
          </a:prstGeom>
          <a:ln w="19050">
            <a:solidFill>
              <a:srgbClr val="55D9D2"/>
            </a:solidFill>
            <a:prstDash val="solid"/>
            <a:tailEnd type="arrow" w="med" len="me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7198D35-0DDD-4990-88DC-6E428833C005}"/>
              </a:ext>
            </a:extLst>
          </p:cNvPr>
          <p:cNvSpPr>
            <a:spLocks noGrp="1"/>
          </p:cNvSpPr>
          <p:nvPr/>
        </p:nvSpPr>
        <p:spPr>
          <a:xfrm>
            <a:off x="2381250" y="5429250"/>
            <a:ext cx="7429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Con error cuadrático, el gradiente negativo coincide con los residuos.</a:t>
            </a:r>
          </a:p>
        </p:txBody>
      </p:sp>
    </p:spTree>
    <p:extLst>
      <p:ext uri="{BB962C8B-B14F-4D97-AF65-F5344CB8AC3E}">
        <p14:creationId xmlns:p14="http://schemas.microsoft.com/office/powerpoint/2010/main" val="1171128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A8F63462-FF3F-417D-817D-B32D0C71F97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Ejemplo: corregir residuos en regresión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78134E-8E11-4A26-8B9E-AB8EAD4FFB0C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5BC6CE-982D-4721-8EBB-8E11C246CEF7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EA98F4-25AD-4A5D-B19C-82DA087FF33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C3D638-0276-4967-B018-D467DA8DAF15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10/20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EE6C2F-D982-4132-9768-8BB4313D65F2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Caso didáctico con pérdida cuadrática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A8EEE6-2696-4A15-8BEA-8A0F7C9E5A3F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1047750" cy="590550"/>
          </a:xfrm>
          <a:prstGeom prst="rect">
            <a:avLst/>
          </a:prstGeom>
          <a:solidFill>
            <a:srgbClr val="071B2D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18A4FD-CDF5-4678-B165-FF4872795990}"/>
              </a:ext>
            </a:extLst>
          </p:cNvPr>
          <p:cNvSpPr>
            <a:spLocks noGrp="1"/>
          </p:cNvSpPr>
          <p:nvPr/>
        </p:nvSpPr>
        <p:spPr>
          <a:xfrm>
            <a:off x="742950" y="1857375"/>
            <a:ext cx="8953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88C90E-80DD-45CC-99FE-6849EDDBB7C9}"/>
              </a:ext>
            </a:extLst>
          </p:cNvPr>
          <p:cNvSpPr>
            <a:spLocks noGrp="1"/>
          </p:cNvSpPr>
          <p:nvPr/>
        </p:nvSpPr>
        <p:spPr>
          <a:xfrm>
            <a:off x="1714500" y="1857375"/>
            <a:ext cx="952500" cy="590550"/>
          </a:xfrm>
          <a:prstGeom prst="rect">
            <a:avLst/>
          </a:prstGeom>
          <a:solidFill>
            <a:srgbClr val="071B2D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A42C91-C508-4A1F-BCDF-3FD9C6DAB9F1}"/>
              </a:ext>
            </a:extLst>
          </p:cNvPr>
          <p:cNvSpPr>
            <a:spLocks noGrp="1"/>
          </p:cNvSpPr>
          <p:nvPr/>
        </p:nvSpPr>
        <p:spPr>
          <a:xfrm>
            <a:off x="1790700" y="1857375"/>
            <a:ext cx="800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84F491-346C-4579-BA86-634EA268B253}"/>
              </a:ext>
            </a:extLst>
          </p:cNvPr>
          <p:cNvSpPr>
            <a:spLocks noGrp="1"/>
          </p:cNvSpPr>
          <p:nvPr/>
        </p:nvSpPr>
        <p:spPr>
          <a:xfrm>
            <a:off x="2667000" y="1857375"/>
            <a:ext cx="952500" cy="590550"/>
          </a:xfrm>
          <a:prstGeom prst="rect">
            <a:avLst/>
          </a:prstGeom>
          <a:solidFill>
            <a:srgbClr val="071B2D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743B9F-7934-4340-B9F0-5CF75E13EE95}"/>
              </a:ext>
            </a:extLst>
          </p:cNvPr>
          <p:cNvSpPr>
            <a:spLocks noGrp="1"/>
          </p:cNvSpPr>
          <p:nvPr/>
        </p:nvSpPr>
        <p:spPr>
          <a:xfrm>
            <a:off x="2743200" y="1857375"/>
            <a:ext cx="800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F₀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20EFF7-8242-460E-8399-9EAED233246E}"/>
              </a:ext>
            </a:extLst>
          </p:cNvPr>
          <p:cNvSpPr>
            <a:spLocks noGrp="1"/>
          </p:cNvSpPr>
          <p:nvPr/>
        </p:nvSpPr>
        <p:spPr>
          <a:xfrm>
            <a:off x="3619500" y="1857375"/>
            <a:ext cx="1809750" cy="590550"/>
          </a:xfrm>
          <a:prstGeom prst="rect">
            <a:avLst/>
          </a:prstGeom>
          <a:solidFill>
            <a:srgbClr val="071B2D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3BF768-5E62-4252-851E-1AA82AB44BEF}"/>
              </a:ext>
            </a:extLst>
          </p:cNvPr>
          <p:cNvSpPr>
            <a:spLocks noGrp="1"/>
          </p:cNvSpPr>
          <p:nvPr/>
        </p:nvSpPr>
        <p:spPr>
          <a:xfrm>
            <a:off x="3695700" y="1857375"/>
            <a:ext cx="16573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r₁ = y − F₀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1F0C71-C8CF-444A-BB0B-4449FC18885C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1047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CBB54B-C5CF-407E-9AD6-BFF9B53237BE}"/>
              </a:ext>
            </a:extLst>
          </p:cNvPr>
          <p:cNvSpPr>
            <a:spLocks noGrp="1"/>
          </p:cNvSpPr>
          <p:nvPr/>
        </p:nvSpPr>
        <p:spPr>
          <a:xfrm>
            <a:off x="742950" y="2447925"/>
            <a:ext cx="8953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5499F3-50A0-4858-AD23-B89D3A75083F}"/>
              </a:ext>
            </a:extLst>
          </p:cNvPr>
          <p:cNvSpPr>
            <a:spLocks noGrp="1"/>
          </p:cNvSpPr>
          <p:nvPr/>
        </p:nvSpPr>
        <p:spPr>
          <a:xfrm>
            <a:off x="1714500" y="2447925"/>
            <a:ext cx="952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E30564-A304-452F-BE06-41C3DB2239AE}"/>
              </a:ext>
            </a:extLst>
          </p:cNvPr>
          <p:cNvSpPr>
            <a:spLocks noGrp="1"/>
          </p:cNvSpPr>
          <p:nvPr/>
        </p:nvSpPr>
        <p:spPr>
          <a:xfrm>
            <a:off x="1790700" y="2447925"/>
            <a:ext cx="800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3DA01E-ECDA-4A4D-B847-C981A3CE0BA3}"/>
              </a:ext>
            </a:extLst>
          </p:cNvPr>
          <p:cNvSpPr>
            <a:spLocks noGrp="1"/>
          </p:cNvSpPr>
          <p:nvPr/>
        </p:nvSpPr>
        <p:spPr>
          <a:xfrm>
            <a:off x="2667000" y="2447925"/>
            <a:ext cx="952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C6A724-B2E2-412F-9245-EEFA18F8B2DF}"/>
              </a:ext>
            </a:extLst>
          </p:cNvPr>
          <p:cNvSpPr>
            <a:spLocks noGrp="1"/>
          </p:cNvSpPr>
          <p:nvPr/>
        </p:nvSpPr>
        <p:spPr>
          <a:xfrm>
            <a:off x="2743200" y="2447925"/>
            <a:ext cx="800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B77DB0-2622-45B3-B02F-04863B883E27}"/>
              </a:ext>
            </a:extLst>
          </p:cNvPr>
          <p:cNvSpPr>
            <a:spLocks noGrp="1"/>
          </p:cNvSpPr>
          <p:nvPr/>
        </p:nvSpPr>
        <p:spPr>
          <a:xfrm>
            <a:off x="3619500" y="244792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46331A-13C5-46DB-B4BB-51F054F9A361}"/>
              </a:ext>
            </a:extLst>
          </p:cNvPr>
          <p:cNvSpPr>
            <a:spLocks noGrp="1"/>
          </p:cNvSpPr>
          <p:nvPr/>
        </p:nvSpPr>
        <p:spPr>
          <a:xfrm>
            <a:off x="3695700" y="2447925"/>
            <a:ext cx="16573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2F9E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9E75"/>
                </a:solidFill>
                <a:latin typeface="Helvetica Neue"/>
                <a:ea typeface="Helvetica Neue"/>
                <a:cs typeface="Helvetica Neue"/>
              </a:rPr>
              <a:t>+2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406CC7-C1DE-456B-84B9-5BCA31CA009B}"/>
              </a:ext>
            </a:extLst>
          </p:cNvPr>
          <p:cNvSpPr>
            <a:spLocks noGrp="1"/>
          </p:cNvSpPr>
          <p:nvPr/>
        </p:nvSpPr>
        <p:spPr>
          <a:xfrm>
            <a:off x="666750" y="3038475"/>
            <a:ext cx="1047750" cy="590550"/>
          </a:xfrm>
          <a:prstGeom prst="rect">
            <a:avLst/>
          </a:prstGeom>
          <a:solidFill>
            <a:srgbClr val="EAF4F6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8CA2B0-FF58-4B1A-8E68-44393A4D62A0}"/>
              </a:ext>
            </a:extLst>
          </p:cNvPr>
          <p:cNvSpPr>
            <a:spLocks noGrp="1"/>
          </p:cNvSpPr>
          <p:nvPr/>
        </p:nvSpPr>
        <p:spPr>
          <a:xfrm>
            <a:off x="742950" y="3038475"/>
            <a:ext cx="8953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D99724-8FB1-41F2-86EE-37B7979AB0F8}"/>
              </a:ext>
            </a:extLst>
          </p:cNvPr>
          <p:cNvSpPr>
            <a:spLocks noGrp="1"/>
          </p:cNvSpPr>
          <p:nvPr/>
        </p:nvSpPr>
        <p:spPr>
          <a:xfrm>
            <a:off x="1714500" y="3038475"/>
            <a:ext cx="952500" cy="590550"/>
          </a:xfrm>
          <a:prstGeom prst="rect">
            <a:avLst/>
          </a:prstGeom>
          <a:solidFill>
            <a:srgbClr val="EAF4F6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AEE7CA-C8D6-4B9B-A5A3-7080BCC005F6}"/>
              </a:ext>
            </a:extLst>
          </p:cNvPr>
          <p:cNvSpPr>
            <a:spLocks noGrp="1"/>
          </p:cNvSpPr>
          <p:nvPr/>
        </p:nvSpPr>
        <p:spPr>
          <a:xfrm>
            <a:off x="1790700" y="3038475"/>
            <a:ext cx="800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D0FF2E-809A-4AA3-8613-D8C477C93AF4}"/>
              </a:ext>
            </a:extLst>
          </p:cNvPr>
          <p:cNvSpPr>
            <a:spLocks noGrp="1"/>
          </p:cNvSpPr>
          <p:nvPr/>
        </p:nvSpPr>
        <p:spPr>
          <a:xfrm>
            <a:off x="2667000" y="3038475"/>
            <a:ext cx="952500" cy="590550"/>
          </a:xfrm>
          <a:prstGeom prst="rect">
            <a:avLst/>
          </a:prstGeom>
          <a:solidFill>
            <a:srgbClr val="EAF4F6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75145F-1C1D-4DC8-BD60-299D167FCEFE}"/>
              </a:ext>
            </a:extLst>
          </p:cNvPr>
          <p:cNvSpPr>
            <a:spLocks noGrp="1"/>
          </p:cNvSpPr>
          <p:nvPr/>
        </p:nvSpPr>
        <p:spPr>
          <a:xfrm>
            <a:off x="2743200" y="3038475"/>
            <a:ext cx="800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A6DEBA-5E8D-4370-9382-4091CA3C6948}"/>
              </a:ext>
            </a:extLst>
          </p:cNvPr>
          <p:cNvSpPr>
            <a:spLocks noGrp="1"/>
          </p:cNvSpPr>
          <p:nvPr/>
        </p:nvSpPr>
        <p:spPr>
          <a:xfrm>
            <a:off x="3619500" y="3038475"/>
            <a:ext cx="1809750" cy="590550"/>
          </a:xfrm>
          <a:prstGeom prst="rect">
            <a:avLst/>
          </a:prstGeom>
          <a:solidFill>
            <a:srgbClr val="EAF4F6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41F63F-0C36-4CF5-9D14-082BFB63C895}"/>
              </a:ext>
            </a:extLst>
          </p:cNvPr>
          <p:cNvSpPr>
            <a:spLocks noGrp="1"/>
          </p:cNvSpPr>
          <p:nvPr/>
        </p:nvSpPr>
        <p:spPr>
          <a:xfrm>
            <a:off x="3695700" y="3038475"/>
            <a:ext cx="16573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rPr>
              <a:t>−3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9CF82C-6B34-4444-8C2D-F389E7371BA7}"/>
              </a:ext>
            </a:extLst>
          </p:cNvPr>
          <p:cNvSpPr>
            <a:spLocks noGrp="1"/>
          </p:cNvSpPr>
          <p:nvPr/>
        </p:nvSpPr>
        <p:spPr>
          <a:xfrm>
            <a:off x="666750" y="3629025"/>
            <a:ext cx="1047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EAC47B-30CB-4507-920F-CDA56AD74D80}"/>
              </a:ext>
            </a:extLst>
          </p:cNvPr>
          <p:cNvSpPr>
            <a:spLocks noGrp="1"/>
          </p:cNvSpPr>
          <p:nvPr/>
        </p:nvSpPr>
        <p:spPr>
          <a:xfrm>
            <a:off x="742950" y="3629025"/>
            <a:ext cx="8953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F0D707-F96F-4288-B0C3-481DE7F90065}"/>
              </a:ext>
            </a:extLst>
          </p:cNvPr>
          <p:cNvSpPr>
            <a:spLocks noGrp="1"/>
          </p:cNvSpPr>
          <p:nvPr/>
        </p:nvSpPr>
        <p:spPr>
          <a:xfrm>
            <a:off x="1714500" y="3629025"/>
            <a:ext cx="952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A41E58-93DC-4827-BC41-573C0F08905E}"/>
              </a:ext>
            </a:extLst>
          </p:cNvPr>
          <p:cNvSpPr>
            <a:spLocks noGrp="1"/>
          </p:cNvSpPr>
          <p:nvPr/>
        </p:nvSpPr>
        <p:spPr>
          <a:xfrm>
            <a:off x="1790700" y="3629025"/>
            <a:ext cx="800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4D30B6-5356-4E43-89E9-F596C54ACC21}"/>
              </a:ext>
            </a:extLst>
          </p:cNvPr>
          <p:cNvSpPr>
            <a:spLocks noGrp="1"/>
          </p:cNvSpPr>
          <p:nvPr/>
        </p:nvSpPr>
        <p:spPr>
          <a:xfrm>
            <a:off x="2667000" y="3629025"/>
            <a:ext cx="952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D9DDD4-431C-4BE2-A376-2422F5841AA0}"/>
              </a:ext>
            </a:extLst>
          </p:cNvPr>
          <p:cNvSpPr>
            <a:spLocks noGrp="1"/>
          </p:cNvSpPr>
          <p:nvPr/>
        </p:nvSpPr>
        <p:spPr>
          <a:xfrm>
            <a:off x="2743200" y="3629025"/>
            <a:ext cx="800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D63F66B-CC67-4116-953D-D56D393D588F}"/>
              </a:ext>
            </a:extLst>
          </p:cNvPr>
          <p:cNvSpPr>
            <a:spLocks noGrp="1"/>
          </p:cNvSpPr>
          <p:nvPr/>
        </p:nvSpPr>
        <p:spPr>
          <a:xfrm>
            <a:off x="3619500" y="362902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856332A-D416-4B34-9BE3-D29D74AA927F}"/>
              </a:ext>
            </a:extLst>
          </p:cNvPr>
          <p:cNvSpPr>
            <a:spLocks noGrp="1"/>
          </p:cNvSpPr>
          <p:nvPr/>
        </p:nvSpPr>
        <p:spPr>
          <a:xfrm>
            <a:off x="3695700" y="3629025"/>
            <a:ext cx="16573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2F9E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9E75"/>
                </a:solidFill>
                <a:latin typeface="Helvetica Neue"/>
                <a:ea typeface="Helvetica Neue"/>
                <a:cs typeface="Helvetica Neue"/>
              </a:rPr>
              <a:t>+1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D3E5D7-6A21-4191-8164-AD95B540266C}"/>
              </a:ext>
            </a:extLst>
          </p:cNvPr>
          <p:cNvSpPr>
            <a:spLocks noGrp="1"/>
          </p:cNvSpPr>
          <p:nvPr/>
        </p:nvSpPr>
        <p:spPr>
          <a:xfrm>
            <a:off x="666750" y="4219575"/>
            <a:ext cx="1047750" cy="590550"/>
          </a:xfrm>
          <a:prstGeom prst="rect">
            <a:avLst/>
          </a:prstGeom>
          <a:solidFill>
            <a:srgbClr val="EAF4F6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F614BE0-406B-4F07-9A2B-434218FD06D2}"/>
              </a:ext>
            </a:extLst>
          </p:cNvPr>
          <p:cNvSpPr>
            <a:spLocks noGrp="1"/>
          </p:cNvSpPr>
          <p:nvPr/>
        </p:nvSpPr>
        <p:spPr>
          <a:xfrm>
            <a:off x="742950" y="4219575"/>
            <a:ext cx="8953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6E7AEA-32AA-4862-9027-ED86E180593B}"/>
              </a:ext>
            </a:extLst>
          </p:cNvPr>
          <p:cNvSpPr>
            <a:spLocks noGrp="1"/>
          </p:cNvSpPr>
          <p:nvPr/>
        </p:nvSpPr>
        <p:spPr>
          <a:xfrm>
            <a:off x="1714500" y="4219575"/>
            <a:ext cx="952500" cy="590550"/>
          </a:xfrm>
          <a:prstGeom prst="rect">
            <a:avLst/>
          </a:prstGeom>
          <a:solidFill>
            <a:srgbClr val="EAF4F6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B6D086-FEEF-4A09-8A28-BD3ABEA0E395}"/>
              </a:ext>
            </a:extLst>
          </p:cNvPr>
          <p:cNvSpPr>
            <a:spLocks noGrp="1"/>
          </p:cNvSpPr>
          <p:nvPr/>
        </p:nvSpPr>
        <p:spPr>
          <a:xfrm>
            <a:off x="1790700" y="4219575"/>
            <a:ext cx="800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39B128-89B9-46E5-A1D9-46E8C80667A2}"/>
              </a:ext>
            </a:extLst>
          </p:cNvPr>
          <p:cNvSpPr>
            <a:spLocks noGrp="1"/>
          </p:cNvSpPr>
          <p:nvPr/>
        </p:nvSpPr>
        <p:spPr>
          <a:xfrm>
            <a:off x="2667000" y="4219575"/>
            <a:ext cx="952500" cy="590550"/>
          </a:xfrm>
          <a:prstGeom prst="rect">
            <a:avLst/>
          </a:prstGeom>
          <a:solidFill>
            <a:srgbClr val="EAF4F6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C281AF-68D8-484A-AD2E-4C7C4065185D}"/>
              </a:ext>
            </a:extLst>
          </p:cNvPr>
          <p:cNvSpPr>
            <a:spLocks noGrp="1"/>
          </p:cNvSpPr>
          <p:nvPr/>
        </p:nvSpPr>
        <p:spPr>
          <a:xfrm>
            <a:off x="2743200" y="4219575"/>
            <a:ext cx="800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DCDA49A-A275-44E0-84FB-7AB920159692}"/>
              </a:ext>
            </a:extLst>
          </p:cNvPr>
          <p:cNvSpPr>
            <a:spLocks noGrp="1"/>
          </p:cNvSpPr>
          <p:nvPr/>
        </p:nvSpPr>
        <p:spPr>
          <a:xfrm>
            <a:off x="3619500" y="4219575"/>
            <a:ext cx="1809750" cy="590550"/>
          </a:xfrm>
          <a:prstGeom prst="rect">
            <a:avLst/>
          </a:prstGeom>
          <a:solidFill>
            <a:srgbClr val="EAF4F6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5F67004-D3E7-4486-BD2F-B5F628C5753D}"/>
              </a:ext>
            </a:extLst>
          </p:cNvPr>
          <p:cNvSpPr>
            <a:spLocks noGrp="1"/>
          </p:cNvSpPr>
          <p:nvPr/>
        </p:nvSpPr>
        <p:spPr>
          <a:xfrm>
            <a:off x="3695700" y="4219575"/>
            <a:ext cx="16573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9192C57B-B557-474C-A4EA-8E1CE12496AD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2000250" cy="742950"/>
          </a:xfrm>
          <a:prstGeom prst="roundRect">
            <a:avLst>
              <a:gd name="adj" fmla="val 10256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Árbol 1</a:t>
            </a:r>
          </a:p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Predice r₁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3DD7B87-0570-4ADE-BBBF-384F4E2CB4F9}"/>
              </a:ext>
            </a:extLst>
          </p:cNvPr>
          <p:cNvSpPr>
            <a:spLocks noGrp="1"/>
          </p:cNvSpPr>
          <p:nvPr/>
        </p:nvSpPr>
        <p:spPr>
          <a:xfrm>
            <a:off x="9477375" y="2238375"/>
            <a:ext cx="1809750" cy="742950"/>
          </a:xfrm>
          <a:prstGeom prst="roundRect">
            <a:avLst>
              <a:gd name="adj" fmla="val 10256"/>
            </a:avLst>
          </a:prstGeom>
          <a:solidFill>
            <a:srgbClr val="F4B64E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η × corrección</a:t>
            </a:r>
          </a:p>
        </p:txBody>
      </p:sp>
      <p:cxnSp>
        <p:nvCxnSpPr>
          <p:cNvPr id="101" name="Straight Arrow Connector 100"/>
          <p:cNvCxnSpPr>
            <a:stCxn id="47" idx="3"/>
            <a:endCxn id="48" idx="1"/>
          </p:cNvCxnSpPr>
          <p:nvPr/>
        </p:nvCxnSpPr>
        <p:spPr>
          <a:xfrm>
            <a:off x="8667750" y="2609850"/>
            <a:ext cx="809625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CA3C92B-4CD2-427E-B82A-7F1811DD0620}"/>
              </a:ext>
            </a:extLst>
          </p:cNvPr>
          <p:cNvSpPr>
            <a:spLocks noGrp="1"/>
          </p:cNvSpPr>
          <p:nvPr/>
        </p:nvSpPr>
        <p:spPr>
          <a:xfrm>
            <a:off x="7000875" y="381000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Nueva predicción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F12E8D5B-1B49-4E52-9F92-F64587E0A05C}"/>
              </a:ext>
            </a:extLst>
          </p:cNvPr>
          <p:cNvSpPr>
            <a:spLocks noGrp="1"/>
          </p:cNvSpPr>
          <p:nvPr/>
        </p:nvSpPr>
        <p:spPr>
          <a:xfrm>
            <a:off x="6762750" y="4286250"/>
            <a:ext cx="4476750" cy="723900"/>
          </a:xfrm>
          <a:prstGeom prst="roundRect">
            <a:avLst>
              <a:gd name="adj" fmla="val 10526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F₁(x) = 10 + η · h₁(x)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4F1429-8E50-4C51-BE59-77CA9381EE53}"/>
              </a:ext>
            </a:extLst>
          </p:cNvPr>
          <p:cNvSpPr>
            <a:spLocks noGrp="1"/>
          </p:cNvSpPr>
          <p:nvPr/>
        </p:nvSpPr>
        <p:spPr>
          <a:xfrm>
            <a:off x="6572250" y="542925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El siguiente árbol vuelve a estudiar lo que aún falta por explicar.</a:t>
            </a:r>
          </a:p>
        </p:txBody>
      </p:sp>
    </p:spTree>
    <p:extLst>
      <p:ext uri="{BB962C8B-B14F-4D97-AF65-F5344CB8AC3E}">
        <p14:creationId xmlns:p14="http://schemas.microsoft.com/office/powerpoint/2010/main" val="1125332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7AA1B0C-5EF8-43EA-A598-8912A897C75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Las tres perillas fundamentales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A2EAEC-85F2-437C-9CC8-D019CCF1BCB7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A8778-900A-40E2-BC98-0EFD45CC2F48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AA576D-EE94-4A4D-B4D5-28BE8EFC7DF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E6EFF0-AECD-48A6-A743-1B4EDFA55BC9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11/20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C88E53-8C96-498C-8AA9-C13B62F1EBCC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3429000" cy="34766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8575">
            <a:solidFill>
              <a:srgbClr val="2D6D8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CEB9C-E1FC-4DF2-BE4D-018910272001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2D6D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D6D8E"/>
                </a:solidFill>
                <a:latin typeface="Helvetica Neue"/>
                <a:ea typeface="Helvetica Neue"/>
                <a:cs typeface="Helvetica Neue"/>
              </a:rPr>
              <a:t>PÉRDIDA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8C5F09-8C84-4D1B-A366-4855F55DB67D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27622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Define qué significa equivocarse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BA800D-6E6A-4CB4-BAC4-785D9A3A7E2F}"/>
              </a:ext>
            </a:extLst>
          </p:cNvPr>
          <p:cNvSpPr>
            <a:spLocks noGrp="1"/>
          </p:cNvSpPr>
          <p:nvPr/>
        </p:nvSpPr>
        <p:spPr>
          <a:xfrm>
            <a:off x="952500" y="3667125"/>
            <a:ext cx="27622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Cuadrática, logística, absoluta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6F07459-A413-40F7-A382-DDC12A660802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3429000" cy="34766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8575">
            <a:solidFill>
              <a:srgbClr val="17B6B0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6C80BE-CBBD-424D-A6E4-8E60406AAE5F}"/>
              </a:ext>
            </a:extLst>
          </p:cNvPr>
          <p:cNvSpPr>
            <a:spLocks noGrp="1"/>
          </p:cNvSpPr>
          <p:nvPr/>
        </p:nvSpPr>
        <p:spPr>
          <a:xfrm>
            <a:off x="4714875" y="1905000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TASA η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DFB8FF-33DA-47C8-A74F-EC2656B47B36}"/>
              </a:ext>
            </a:extLst>
          </p:cNvPr>
          <p:cNvSpPr>
            <a:spLocks noGrp="1"/>
          </p:cNvSpPr>
          <p:nvPr/>
        </p:nvSpPr>
        <p:spPr>
          <a:xfrm>
            <a:off x="4810125" y="2571750"/>
            <a:ext cx="27622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Controla el tamaño de cada paso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452376-9E88-4C75-A2B7-34613219B90A}"/>
              </a:ext>
            </a:extLst>
          </p:cNvPr>
          <p:cNvSpPr>
            <a:spLocks noGrp="1"/>
          </p:cNvSpPr>
          <p:nvPr/>
        </p:nvSpPr>
        <p:spPr>
          <a:xfrm>
            <a:off x="4810125" y="3667125"/>
            <a:ext cx="27622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Menor η suele requerir más árboles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8DF4D5A-63EC-41B3-8DA2-28F226D1E45D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3429000" cy="34766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8575">
            <a:solidFill>
              <a:srgbClr val="F4B64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58C1E5-742D-4361-9BF4-C73038B1E69D}"/>
              </a:ext>
            </a:extLst>
          </p:cNvPr>
          <p:cNvSpPr>
            <a:spLocks noGrp="1"/>
          </p:cNvSpPr>
          <p:nvPr/>
        </p:nvSpPr>
        <p:spPr>
          <a:xfrm>
            <a:off x="8572500" y="1905000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COMPLEJIDAD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EAEE07-6DFB-4A8D-9D11-DF3D7AD998CE}"/>
              </a:ext>
            </a:extLst>
          </p:cNvPr>
          <p:cNvSpPr>
            <a:spLocks noGrp="1"/>
          </p:cNvSpPr>
          <p:nvPr/>
        </p:nvSpPr>
        <p:spPr>
          <a:xfrm>
            <a:off x="8667750" y="2571750"/>
            <a:ext cx="27622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Limita lo que aprende cada árbol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EE5D37-2DAA-4996-8FF2-6375D46D52D4}"/>
              </a:ext>
            </a:extLst>
          </p:cNvPr>
          <p:cNvSpPr>
            <a:spLocks noGrp="1"/>
          </p:cNvSpPr>
          <p:nvPr/>
        </p:nvSpPr>
        <p:spPr>
          <a:xfrm>
            <a:off x="8667750" y="3667125"/>
            <a:ext cx="27622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Profundidad, hojas, muestras mínimas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F52986-A491-456F-9785-C3CDD760E742}"/>
              </a:ext>
            </a:extLst>
          </p:cNvPr>
          <p:cNvSpPr>
            <a:spLocks noGrp="1"/>
          </p:cNvSpPr>
          <p:nvPr/>
        </p:nvSpPr>
        <p:spPr>
          <a:xfrm>
            <a:off x="1000125" y="5619750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Más árboles + menor tasa de aprendizaje suele ser una combinación estable, pero aumenta el costo.</a:t>
            </a:r>
          </a:p>
        </p:txBody>
      </p:sp>
    </p:spTree>
    <p:extLst>
      <p:ext uri="{BB962C8B-B14F-4D97-AF65-F5344CB8AC3E}">
        <p14:creationId xmlns:p14="http://schemas.microsoft.com/office/powerpoint/2010/main" val="125565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BF4F799-189E-4117-BE99-A522D9ABB4C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XGBoost: boosting regularizado y escalable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4F10DC-47FB-4804-BE48-7829CBB0951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9AD927-0169-4766-A44C-009950B2DC0E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D3CE9F-160D-4E24-93FA-B3BC1B322AE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58A9C3-BBF8-4030-8F94-14D06D77ED83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12/20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CD553F-7609-4AD2-B823-9240476E2F7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XGBoost convierte Gradient Boosting en un sistema optimizado para datos tabulares y producción.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0B873E-78FE-4F83-9A5B-75499FA43BCE}"/>
              </a:ext>
            </a:extLst>
          </p:cNvPr>
          <p:cNvSpPr>
            <a:spLocks noGrp="1"/>
          </p:cNvSpPr>
          <p:nvPr/>
        </p:nvSpPr>
        <p:spPr>
          <a:xfrm>
            <a:off x="4762500" y="2619375"/>
            <a:ext cx="2667000" cy="1000125"/>
          </a:xfrm>
          <a:prstGeom prst="roundRect">
            <a:avLst>
              <a:gd name="adj" fmla="val 7619"/>
            </a:avLst>
          </a:prstGeom>
          <a:solidFill>
            <a:srgbClr val="071B2D"/>
          </a:solidFill>
          <a:ln w="19050">
            <a:solidFill>
              <a:srgbClr val="071B2D"/>
            </a:solidFill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XGBOOST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4F76B1-3B0E-4D62-81C9-AC2B3C0CDA40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Objetivo regularizado</a:t>
            </a:r>
          </a:p>
        </p:txBody>
      </p:sp>
      <p:cxnSp>
        <p:nvCxnSpPr>
          <p:cNvPr id="25" name="Elbow Connector 24"/>
          <p:cNvCxnSpPr>
            <a:stCxn id="8" idx="3"/>
            <a:endCxn id="7" idx="1"/>
          </p:cNvCxnSpPr>
          <p:nvPr/>
        </p:nvCxnSpPr>
        <p:spPr>
          <a:xfrm>
            <a:off x="3143250" y="2324100"/>
            <a:ext cx="1619250" cy="795338"/>
          </a:xfrm>
          <a:prstGeom prst="bentConnector3">
            <a:avLst>
              <a:gd name="adj1" fmla="val 50000"/>
            </a:avLst>
          </a:prstGeom>
          <a:ln w="19050">
            <a:solidFill>
              <a:srgbClr val="17B6B0"/>
            </a:solidFill>
            <a:prstDash val="solid"/>
            <a:tailEnd type="arrow" w="med" len="med"/>
          </a:ln>
        </p:spPr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CA58774-91A9-4F7A-AD3E-323EAE37AD67}"/>
              </a:ext>
            </a:extLst>
          </p:cNvPr>
          <p:cNvSpPr>
            <a:spLocks noGrp="1"/>
          </p:cNvSpPr>
          <p:nvPr/>
        </p:nvSpPr>
        <p:spPr>
          <a:xfrm>
            <a:off x="762000" y="3857625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EAF4F6"/>
          </a:solidFill>
          <a:ln w="19050">
            <a:solidFill>
              <a:srgbClr val="6F65A8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Gradientes de 1.er y 2.º orden</a:t>
            </a:r>
          </a:p>
        </p:txBody>
      </p:sp>
      <p:cxnSp>
        <p:nvCxnSpPr>
          <p:cNvPr id="27" name="Elbow Connector 26"/>
          <p:cNvCxnSpPr>
            <a:stCxn id="10" idx="3"/>
            <a:endCxn id="7" idx="1"/>
          </p:cNvCxnSpPr>
          <p:nvPr/>
        </p:nvCxnSpPr>
        <p:spPr>
          <a:xfrm flipV="1">
            <a:off x="3143250" y="3119438"/>
            <a:ext cx="1619250" cy="1109663"/>
          </a:xfrm>
          <a:prstGeom prst="bentConnector3">
            <a:avLst>
              <a:gd name="adj1" fmla="val 50000"/>
            </a:avLst>
          </a:prstGeom>
          <a:ln w="19050">
            <a:solidFill>
              <a:srgbClr val="6F65A8"/>
            </a:solidFill>
            <a:prstDash val="solid"/>
            <a:tailEnd type="arrow" w="med" len="med"/>
          </a:ln>
        </p:spPr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4A73652-C410-4205-A3FB-E4875741004B}"/>
              </a:ext>
            </a:extLst>
          </p:cNvPr>
          <p:cNvSpPr>
            <a:spLocks noGrp="1"/>
          </p:cNvSpPr>
          <p:nvPr/>
        </p:nvSpPr>
        <p:spPr>
          <a:xfrm>
            <a:off x="8572500" y="1952625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EAF4F6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Submuestreo de filas y columnas</a:t>
            </a:r>
          </a:p>
        </p:txBody>
      </p:sp>
      <p:cxnSp>
        <p:nvCxnSpPr>
          <p:cNvPr id="29" name="Elbow Connector 28"/>
          <p:cNvCxnSpPr>
            <a:stCxn id="7" idx="3"/>
            <a:endCxn id="12" idx="1"/>
          </p:cNvCxnSpPr>
          <p:nvPr/>
        </p:nvCxnSpPr>
        <p:spPr>
          <a:xfrm flipV="1">
            <a:off x="7429500" y="2324100"/>
            <a:ext cx="1143000" cy="795338"/>
          </a:xfrm>
          <a:prstGeom prst="bentConnector3">
            <a:avLst>
              <a:gd name="adj1" fmla="val 50000"/>
            </a:avLst>
          </a:prstGeom>
          <a:ln w="19050">
            <a:solidFill>
              <a:srgbClr val="F4B64E"/>
            </a:solidFill>
            <a:prstDash val="solid"/>
            <a:tailEnd type="arrow" w="med" len="med"/>
          </a:ln>
        </p:spPr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7A3CE3C-9BD9-4C58-9B41-E928FDA8D22F}"/>
              </a:ext>
            </a:extLst>
          </p:cNvPr>
          <p:cNvSpPr>
            <a:spLocks noGrp="1"/>
          </p:cNvSpPr>
          <p:nvPr/>
        </p:nvSpPr>
        <p:spPr>
          <a:xfrm>
            <a:off x="8572500" y="3857625"/>
            <a:ext cx="2381250" cy="742950"/>
          </a:xfrm>
          <a:prstGeom prst="roundRect">
            <a:avLst>
              <a:gd name="adj" fmla="val 10256"/>
            </a:avLst>
          </a:prstGeom>
          <a:solidFill>
            <a:srgbClr val="EAF4F6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Tratamiento eficiente de dispersión</a:t>
            </a:r>
          </a:p>
        </p:txBody>
      </p:sp>
      <p:cxnSp>
        <p:nvCxnSpPr>
          <p:cNvPr id="31" name="Elbow Connector 30"/>
          <p:cNvCxnSpPr>
            <a:stCxn id="7" idx="3"/>
            <a:endCxn id="14" idx="1"/>
          </p:cNvCxnSpPr>
          <p:nvPr/>
        </p:nvCxnSpPr>
        <p:spPr>
          <a:xfrm>
            <a:off x="7429500" y="3119438"/>
            <a:ext cx="1143000" cy="1109663"/>
          </a:xfrm>
          <a:prstGeom prst="bentConnector3">
            <a:avLst>
              <a:gd name="adj1" fmla="val 50000"/>
            </a:avLst>
          </a:prstGeom>
          <a:ln w="19050">
            <a:solidFill>
              <a:srgbClr val="2F9E75"/>
            </a:solidFill>
            <a:prstDash val="solid"/>
            <a:tailEnd type="arrow" w="med" len="med"/>
          </a:ln>
        </p:spPr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64F15E6-06CF-4779-8572-32A0EEAE4F46}"/>
              </a:ext>
            </a:extLst>
          </p:cNvPr>
          <p:cNvSpPr>
            <a:spLocks noGrp="1"/>
          </p:cNvSpPr>
          <p:nvPr/>
        </p:nvSpPr>
        <p:spPr>
          <a:xfrm>
            <a:off x="2333625" y="5191125"/>
            <a:ext cx="7524750" cy="647700"/>
          </a:xfrm>
          <a:prstGeom prst="roundRect">
            <a:avLst>
              <a:gd name="adj" fmla="val 11765"/>
            </a:avLst>
          </a:prstGeom>
          <a:solidFill>
            <a:srgbClr val="FFF1D9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Objetivo = pérdida de entrenamiento + penalización por complejidad</a:t>
            </a:r>
          </a:p>
        </p:txBody>
      </p:sp>
    </p:spTree>
    <p:extLst>
      <p:ext uri="{BB962C8B-B14F-4D97-AF65-F5344CB8AC3E}">
        <p14:creationId xmlns:p14="http://schemas.microsoft.com/office/powerpoint/2010/main" val="617531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642430A-1190-4106-A03C-3CD19EF5DD1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LightGBM: eficiencia con histogramas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ED00AE-0AF8-469A-A71B-D6098A5093B1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DCC8B5-342B-4382-99A6-D04825A59123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739FB2-E09B-4B60-BD41-71BB7334EB0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44B1D7-630E-45D7-83C8-95BAF195873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13/20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88E9E4-3BDF-445B-882F-7F694437734F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LightGBM busca entrenar rápido y escalar a muchas filas y variables.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1CBF6D-07E3-4D01-A7C9-347CC62548E2}"/>
              </a:ext>
            </a:extLst>
          </p:cNvPr>
          <p:cNvSpPr>
            <a:spLocks noGrp="1"/>
          </p:cNvSpPr>
          <p:nvPr/>
        </p:nvSpPr>
        <p:spPr>
          <a:xfrm>
            <a:off x="714375" y="2333625"/>
            <a:ext cx="2095500" cy="704850"/>
          </a:xfrm>
          <a:prstGeom prst="roundRect">
            <a:avLst>
              <a:gd name="adj" fmla="val 10811"/>
            </a:avLst>
          </a:prstGeom>
          <a:solidFill>
            <a:srgbClr val="2D6D8E"/>
          </a:solidFill>
          <a:ln w="19050">
            <a:solidFill>
              <a:srgbClr val="2D6D8E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Valores continuos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3DA342D-6935-4548-A49F-07703932008C}"/>
              </a:ext>
            </a:extLst>
          </p:cNvPr>
          <p:cNvSpPr>
            <a:spLocks noGrp="1"/>
          </p:cNvSpPr>
          <p:nvPr/>
        </p:nvSpPr>
        <p:spPr>
          <a:xfrm>
            <a:off x="3810000" y="2333625"/>
            <a:ext cx="2095500" cy="704850"/>
          </a:xfrm>
          <a:prstGeom prst="roundRect">
            <a:avLst>
              <a:gd name="adj" fmla="val 10811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Bins del histograma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581E97-239B-4F39-9688-B0EF0BD765ED}"/>
              </a:ext>
            </a:extLst>
          </p:cNvPr>
          <p:cNvSpPr>
            <a:spLocks noGrp="1"/>
          </p:cNvSpPr>
          <p:nvPr/>
        </p:nvSpPr>
        <p:spPr>
          <a:xfrm>
            <a:off x="6905625" y="2333625"/>
            <a:ext cx="2095500" cy="704850"/>
          </a:xfrm>
          <a:prstGeom prst="roundRect">
            <a:avLst>
              <a:gd name="adj" fmla="val 10811"/>
            </a:avLst>
          </a:prstGeom>
          <a:solidFill>
            <a:srgbClr val="F4B64E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Buscar cortes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32D3154-24FF-4AD1-B2DF-561585935551}"/>
              </a:ext>
            </a:extLst>
          </p:cNvPr>
          <p:cNvSpPr>
            <a:spLocks noGrp="1"/>
          </p:cNvSpPr>
          <p:nvPr/>
        </p:nvSpPr>
        <p:spPr>
          <a:xfrm>
            <a:off x="10001250" y="2333625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2F9E75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Árbol leaf-wise</a:t>
            </a:r>
          </a:p>
        </p:txBody>
      </p:sp>
      <p:cxnSp>
        <p:nvCxnSpPr>
          <p:cNvPr id="33" name="Straight Arrow Connector 32"/>
          <p:cNvCxnSpPr>
            <a:stCxn id="7" idx="3"/>
            <a:endCxn id="8" idx="1"/>
          </p:cNvCxnSpPr>
          <p:nvPr/>
        </p:nvCxnSpPr>
        <p:spPr>
          <a:xfrm>
            <a:off x="2809875" y="2686050"/>
            <a:ext cx="1000125" cy="0"/>
          </a:xfrm>
          <a:prstGeom prst="straightConnector1">
            <a:avLst/>
          </a:prstGeom>
          <a:ln w="19050">
            <a:solidFill>
              <a:srgbClr val="55D9D2"/>
            </a:solidFill>
            <a:prstDash val="solid"/>
            <a:tailEnd type="arrow" w="med" len="med"/>
          </a:ln>
        </p:spPr>
      </p:cxnSp>
      <p:cxnSp>
        <p:nvCxnSpPr>
          <p:cNvPr id="34" name="Straight Arrow Connector 33"/>
          <p:cNvCxnSpPr>
            <a:stCxn id="8" idx="3"/>
            <a:endCxn id="9" idx="1"/>
          </p:cNvCxnSpPr>
          <p:nvPr/>
        </p:nvCxnSpPr>
        <p:spPr>
          <a:xfrm>
            <a:off x="5905500" y="2686050"/>
            <a:ext cx="1000125" cy="0"/>
          </a:xfrm>
          <a:prstGeom prst="straightConnector1">
            <a:avLst/>
          </a:prstGeom>
          <a:ln w="19050">
            <a:solidFill>
              <a:srgbClr val="55D9D2"/>
            </a:solidFill>
            <a:prstDash val="solid"/>
            <a:tailEnd type="arrow" w="med" len="med"/>
          </a:ln>
        </p:spPr>
      </p:cxnSp>
      <p:cxnSp>
        <p:nvCxnSpPr>
          <p:cNvPr id="35" name="Straight Arrow Connector 34"/>
          <p:cNvCxnSpPr>
            <a:stCxn id="9" idx="3"/>
            <a:endCxn id="10" idx="1"/>
          </p:cNvCxnSpPr>
          <p:nvPr/>
        </p:nvCxnSpPr>
        <p:spPr>
          <a:xfrm>
            <a:off x="9001125" y="2686050"/>
            <a:ext cx="1000125" cy="0"/>
          </a:xfrm>
          <a:prstGeom prst="straightConnector1">
            <a:avLst/>
          </a:prstGeom>
          <a:ln w="19050">
            <a:solidFill>
              <a:srgbClr val="55D9D2"/>
            </a:solidFill>
            <a:prstDash val="solid"/>
            <a:tailEnd type="arrow" w="med" len="med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970680E-43D6-47F7-A059-92DDB4DDEB16}"/>
              </a:ext>
            </a:extLst>
          </p:cNvPr>
          <p:cNvSpPr>
            <a:spLocks noGrp="1"/>
          </p:cNvSpPr>
          <p:nvPr/>
        </p:nvSpPr>
        <p:spPr>
          <a:xfrm>
            <a:off x="714375" y="385762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Histogramas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9D32BC-ACAD-4433-B659-D6936776518C}"/>
              </a:ext>
            </a:extLst>
          </p:cNvPr>
          <p:cNvSpPr>
            <a:spLocks noGrp="1"/>
          </p:cNvSpPr>
          <p:nvPr/>
        </p:nvSpPr>
        <p:spPr>
          <a:xfrm>
            <a:off x="2095500" y="3781425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Reducen memoria y costo de búsqueda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4CAFC9-6D2E-45C9-A40F-531186CD7791}"/>
              </a:ext>
            </a:extLst>
          </p:cNvPr>
          <p:cNvSpPr>
            <a:spLocks noGrp="1"/>
          </p:cNvSpPr>
          <p:nvPr/>
        </p:nvSpPr>
        <p:spPr>
          <a:xfrm>
            <a:off x="6429375" y="385762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Leaf-wise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E86571-13EE-49A1-9EBE-4B4EBAFAF2BB}"/>
              </a:ext>
            </a:extLst>
          </p:cNvPr>
          <p:cNvSpPr>
            <a:spLocks noGrp="1"/>
          </p:cNvSpPr>
          <p:nvPr/>
        </p:nvSpPr>
        <p:spPr>
          <a:xfrm>
            <a:off x="7810500" y="3781425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Expande la hoja con mayor ganancia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F76ECE-34C4-44A2-80BE-4E8A73BEEE8B}"/>
              </a:ext>
            </a:extLst>
          </p:cNvPr>
          <p:cNvSpPr>
            <a:spLocks noGrp="1"/>
          </p:cNvSpPr>
          <p:nvPr/>
        </p:nvSpPr>
        <p:spPr>
          <a:xfrm>
            <a:off x="714375" y="481012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GOSS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877E00-4590-4F19-90AC-61762A2CD510}"/>
              </a:ext>
            </a:extLst>
          </p:cNvPr>
          <p:cNvSpPr>
            <a:spLocks noGrp="1"/>
          </p:cNvSpPr>
          <p:nvPr/>
        </p:nvSpPr>
        <p:spPr>
          <a:xfrm>
            <a:off x="2095500" y="4733925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Conserva gradientes grandes y muestrea pequeños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5BAA3F-E861-42D2-9BDC-9FA861FE8468}"/>
              </a:ext>
            </a:extLst>
          </p:cNvPr>
          <p:cNvSpPr>
            <a:spLocks noGrp="1"/>
          </p:cNvSpPr>
          <p:nvPr/>
        </p:nvSpPr>
        <p:spPr>
          <a:xfrm>
            <a:off x="6429375" y="481012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EFB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AFB3F7-EC03-4928-BC77-6E4544BBF45C}"/>
              </a:ext>
            </a:extLst>
          </p:cNvPr>
          <p:cNvSpPr>
            <a:spLocks noGrp="1"/>
          </p:cNvSpPr>
          <p:nvPr/>
        </p:nvSpPr>
        <p:spPr>
          <a:xfrm>
            <a:off x="7810500" y="4733925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Agrupa variables dispersas casi excluyentes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D96DF8-30A4-4D3B-9436-859FE15443C1}"/>
              </a:ext>
            </a:extLst>
          </p:cNvPr>
          <p:cNvSpPr>
            <a:spLocks noGrp="1"/>
          </p:cNvSpPr>
          <p:nvPr/>
        </p:nvSpPr>
        <p:spPr>
          <a:xfrm>
            <a:off x="1952625" y="5905500"/>
            <a:ext cx="828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Riesgo: el crecimiento leaf-wise puede sobreajustar datos pequeños si no se limita.</a:t>
            </a:r>
          </a:p>
        </p:txBody>
      </p:sp>
    </p:spTree>
    <p:extLst>
      <p:ext uri="{BB962C8B-B14F-4D97-AF65-F5344CB8AC3E}">
        <p14:creationId xmlns:p14="http://schemas.microsoft.com/office/powerpoint/2010/main" val="553136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2602C96-25F1-41EA-A7B5-4771FA94F5C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Cómo crecen los árboles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67CDE8-2F6F-48F8-A754-C427547812CB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0FA8A7-1B1C-4A61-9500-B47AC9B8D92A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F13D6B-85EE-42CD-A8B9-27AD54AC737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FA34E-2C84-44F7-BFFF-30292FDE8FB1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15/20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2763D9A-1BDC-4725-AA98-6209958701F6}"/>
              </a:ext>
            </a:extLst>
          </p:cNvPr>
          <p:cNvSpPr>
            <a:spLocks noGrp="1"/>
          </p:cNvSpPr>
          <p:nvPr/>
        </p:nvSpPr>
        <p:spPr>
          <a:xfrm>
            <a:off x="2492557" y="1328737"/>
            <a:ext cx="3524250" cy="4143375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28575">
            <a:solidFill>
              <a:srgbClr val="2D6D8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1CE65-F97E-47D5-A741-BE4AED454C33}"/>
              </a:ext>
            </a:extLst>
          </p:cNvPr>
          <p:cNvSpPr>
            <a:spLocks noGrp="1"/>
          </p:cNvSpPr>
          <p:nvPr/>
        </p:nvSpPr>
        <p:spPr>
          <a:xfrm>
            <a:off x="2683057" y="1566862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2D6D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6D8E"/>
                </a:solidFill>
                <a:latin typeface="Helvetica Neue"/>
                <a:ea typeface="Helvetica Neue"/>
                <a:cs typeface="Helvetica Neue"/>
              </a:rPr>
              <a:t>NIVEL POR NIVEL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3BAC82-8EA3-41B7-8E64-EA247A14327E}"/>
              </a:ext>
            </a:extLst>
          </p:cNvPr>
          <p:cNvSpPr>
            <a:spLocks noGrp="1"/>
          </p:cNvSpPr>
          <p:nvPr/>
        </p:nvSpPr>
        <p:spPr>
          <a:xfrm>
            <a:off x="2778307" y="1995487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Expande un nivel completo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ED2250F-02B7-4AE9-BB37-EF358A9E3E75}"/>
              </a:ext>
            </a:extLst>
          </p:cNvPr>
          <p:cNvSpPr>
            <a:spLocks noGrp="1"/>
          </p:cNvSpPr>
          <p:nvPr/>
        </p:nvSpPr>
        <p:spPr>
          <a:xfrm>
            <a:off x="3778432" y="2757487"/>
            <a:ext cx="952500" cy="400050"/>
          </a:xfrm>
          <a:prstGeom prst="roundRect">
            <a:avLst>
              <a:gd name="adj" fmla="val 19048"/>
            </a:avLst>
          </a:prstGeom>
          <a:solidFill>
            <a:srgbClr val="071B2D"/>
          </a:solidFill>
          <a:ln w="19050">
            <a:solidFill>
              <a:srgbClr val="071B2D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Raíz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CC6FD02-9FEE-4512-8E70-4E1224C106FD}"/>
              </a:ext>
            </a:extLst>
          </p:cNvPr>
          <p:cNvSpPr>
            <a:spLocks noGrp="1"/>
          </p:cNvSpPr>
          <p:nvPr/>
        </p:nvSpPr>
        <p:spPr>
          <a:xfrm>
            <a:off x="3045007" y="3614737"/>
            <a:ext cx="666750" cy="361950"/>
          </a:xfrm>
          <a:prstGeom prst="roundRect">
            <a:avLst>
              <a:gd name="adj" fmla="val 21053"/>
            </a:avLst>
          </a:prstGeom>
          <a:solidFill>
            <a:srgbClr val="EAF4F6"/>
          </a:solidFill>
          <a:ln w="19050">
            <a:solidFill>
              <a:srgbClr val="2D6D8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4EE071-7003-426E-83E2-C698460BFB07}"/>
              </a:ext>
            </a:extLst>
          </p:cNvPr>
          <p:cNvSpPr>
            <a:spLocks noGrp="1"/>
          </p:cNvSpPr>
          <p:nvPr/>
        </p:nvSpPr>
        <p:spPr>
          <a:xfrm>
            <a:off x="4797607" y="3614737"/>
            <a:ext cx="666750" cy="361950"/>
          </a:xfrm>
          <a:prstGeom prst="roundRect">
            <a:avLst>
              <a:gd name="adj" fmla="val 21053"/>
            </a:avLst>
          </a:prstGeom>
          <a:solidFill>
            <a:srgbClr val="EAF4F6"/>
          </a:solidFill>
          <a:ln w="19050">
            <a:solidFill>
              <a:srgbClr val="2D6D8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</a:t>
            </a:r>
          </a:p>
        </p:txBody>
      </p:sp>
      <p:cxnSp>
        <p:nvCxnSpPr>
          <p:cNvPr id="62" name="Elbow Connector 61"/>
          <p:cNvCxnSpPr>
            <a:stCxn id="9" idx="2"/>
            <a:endCxn id="10" idx="0"/>
          </p:cNvCxnSpPr>
          <p:nvPr/>
        </p:nvCxnSpPr>
        <p:spPr>
          <a:xfrm flipH="1">
            <a:off x="3378382" y="3157537"/>
            <a:ext cx="876300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D6D8E"/>
            </a:solidFill>
            <a:prstDash val="solid"/>
          </a:ln>
        </p:spPr>
      </p:cxnSp>
      <p:cxnSp>
        <p:nvCxnSpPr>
          <p:cNvPr id="63" name="Elbow Connector 62"/>
          <p:cNvCxnSpPr>
            <a:stCxn id="9" idx="2"/>
            <a:endCxn id="11" idx="0"/>
          </p:cNvCxnSpPr>
          <p:nvPr/>
        </p:nvCxnSpPr>
        <p:spPr>
          <a:xfrm>
            <a:off x="4254682" y="3157537"/>
            <a:ext cx="876300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D6D8E"/>
            </a:solidFill>
            <a:prstDash val="solid"/>
          </a:ln>
        </p:spPr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D757059-E3B1-430C-92DE-8B9F8FC8DD57}"/>
              </a:ext>
            </a:extLst>
          </p:cNvPr>
          <p:cNvSpPr>
            <a:spLocks noGrp="1"/>
          </p:cNvSpPr>
          <p:nvPr/>
        </p:nvSpPr>
        <p:spPr>
          <a:xfrm>
            <a:off x="2778307" y="4471987"/>
            <a:ext cx="52387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2D6D8E"/>
            </a:solidFill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LL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6FB266-32CA-4831-BEE7-2B34AA9B070D}"/>
              </a:ext>
            </a:extLst>
          </p:cNvPr>
          <p:cNvSpPr>
            <a:spLocks noGrp="1"/>
          </p:cNvSpPr>
          <p:nvPr/>
        </p:nvSpPr>
        <p:spPr>
          <a:xfrm>
            <a:off x="3492682" y="4471987"/>
            <a:ext cx="52387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2D6D8E"/>
            </a:solidFill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LR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54FFE3C-0D8B-4A5C-ABAB-C00A8392349D}"/>
              </a:ext>
            </a:extLst>
          </p:cNvPr>
          <p:cNvSpPr>
            <a:spLocks noGrp="1"/>
          </p:cNvSpPr>
          <p:nvPr/>
        </p:nvSpPr>
        <p:spPr>
          <a:xfrm>
            <a:off x="4540432" y="4471987"/>
            <a:ext cx="52387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2D6D8E"/>
            </a:solidFill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EB2C6E2-3916-419E-ACBD-500D55EC0C80}"/>
              </a:ext>
            </a:extLst>
          </p:cNvPr>
          <p:cNvSpPr>
            <a:spLocks noGrp="1"/>
          </p:cNvSpPr>
          <p:nvPr/>
        </p:nvSpPr>
        <p:spPr>
          <a:xfrm>
            <a:off x="5254807" y="4471987"/>
            <a:ext cx="52387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2D6D8E"/>
            </a:solidFill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RR</a:t>
            </a:r>
          </a:p>
        </p:txBody>
      </p:sp>
      <p:cxnSp>
        <p:nvCxnSpPr>
          <p:cNvPr id="68" name="Elbow Connector 67"/>
          <p:cNvCxnSpPr>
            <a:stCxn id="10" idx="2"/>
            <a:endCxn id="14" idx="0"/>
          </p:cNvCxnSpPr>
          <p:nvPr/>
        </p:nvCxnSpPr>
        <p:spPr>
          <a:xfrm flipH="1">
            <a:off x="3040245" y="3976687"/>
            <a:ext cx="338138" cy="495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D6D8E"/>
            </a:solidFill>
            <a:prstDash val="solid"/>
          </a:ln>
        </p:spPr>
      </p:cxnSp>
      <p:cxnSp>
        <p:nvCxnSpPr>
          <p:cNvPr id="69" name="Elbow Connector 68"/>
          <p:cNvCxnSpPr>
            <a:stCxn id="10" idx="2"/>
            <a:endCxn id="15" idx="0"/>
          </p:cNvCxnSpPr>
          <p:nvPr/>
        </p:nvCxnSpPr>
        <p:spPr>
          <a:xfrm>
            <a:off x="3378382" y="3976687"/>
            <a:ext cx="376238" cy="495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D6D8E"/>
            </a:solidFill>
            <a:prstDash val="solid"/>
          </a:ln>
        </p:spPr>
      </p:cxnSp>
      <p:cxnSp>
        <p:nvCxnSpPr>
          <p:cNvPr id="70" name="Elbow Connector 69"/>
          <p:cNvCxnSpPr>
            <a:stCxn id="11" idx="2"/>
            <a:endCxn id="16" idx="0"/>
          </p:cNvCxnSpPr>
          <p:nvPr/>
        </p:nvCxnSpPr>
        <p:spPr>
          <a:xfrm flipH="1">
            <a:off x="4802370" y="3976687"/>
            <a:ext cx="328613" cy="495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D6D8E"/>
            </a:solidFill>
            <a:prstDash val="solid"/>
          </a:ln>
        </p:spPr>
      </p:cxnSp>
      <p:cxnSp>
        <p:nvCxnSpPr>
          <p:cNvPr id="71" name="Elbow Connector 70"/>
          <p:cNvCxnSpPr>
            <a:stCxn id="11" idx="2"/>
            <a:endCxn id="17" idx="0"/>
          </p:cNvCxnSpPr>
          <p:nvPr/>
        </p:nvCxnSpPr>
        <p:spPr>
          <a:xfrm>
            <a:off x="5130982" y="3976687"/>
            <a:ext cx="385763" cy="495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D6D8E"/>
            </a:solidFill>
            <a:prstDash val="solid"/>
          </a:ln>
        </p:spPr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76A86F3-1B27-4E1C-A824-4939A3282FA2}"/>
              </a:ext>
            </a:extLst>
          </p:cNvPr>
          <p:cNvSpPr>
            <a:spLocks noGrp="1"/>
          </p:cNvSpPr>
          <p:nvPr/>
        </p:nvSpPr>
        <p:spPr>
          <a:xfrm>
            <a:off x="6397807" y="1328737"/>
            <a:ext cx="3524250" cy="4143375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28575">
            <a:solidFill>
              <a:srgbClr val="17B6B0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0BA0F8-37B6-44CB-9809-0098FA81E35D}"/>
              </a:ext>
            </a:extLst>
          </p:cNvPr>
          <p:cNvSpPr>
            <a:spLocks noGrp="1"/>
          </p:cNvSpPr>
          <p:nvPr/>
        </p:nvSpPr>
        <p:spPr>
          <a:xfrm>
            <a:off x="6588307" y="1566862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HOJA POR HOJA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4ADC86-2439-40F4-831F-E1A9C6403C98}"/>
              </a:ext>
            </a:extLst>
          </p:cNvPr>
          <p:cNvSpPr>
            <a:spLocks noGrp="1"/>
          </p:cNvSpPr>
          <p:nvPr/>
        </p:nvSpPr>
        <p:spPr>
          <a:xfrm>
            <a:off x="6683557" y="1995487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Expande la hoja con mayor ganancia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80BF0F0-193B-42A5-B01E-FB40FC3CEEB1}"/>
              </a:ext>
            </a:extLst>
          </p:cNvPr>
          <p:cNvSpPr>
            <a:spLocks noGrp="1"/>
          </p:cNvSpPr>
          <p:nvPr/>
        </p:nvSpPr>
        <p:spPr>
          <a:xfrm>
            <a:off x="7683682" y="2757487"/>
            <a:ext cx="952500" cy="400050"/>
          </a:xfrm>
          <a:prstGeom prst="roundRect">
            <a:avLst>
              <a:gd name="adj" fmla="val 19048"/>
            </a:avLst>
          </a:prstGeom>
          <a:solidFill>
            <a:srgbClr val="071B2D"/>
          </a:solidFill>
          <a:ln w="19050">
            <a:solidFill>
              <a:srgbClr val="071B2D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Raíz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2E64627-9CAD-45B8-9320-A45F60C0CE62}"/>
              </a:ext>
            </a:extLst>
          </p:cNvPr>
          <p:cNvSpPr>
            <a:spLocks noGrp="1"/>
          </p:cNvSpPr>
          <p:nvPr/>
        </p:nvSpPr>
        <p:spPr>
          <a:xfrm>
            <a:off x="6950257" y="3614737"/>
            <a:ext cx="666750" cy="361950"/>
          </a:xfrm>
          <a:prstGeom prst="roundRect">
            <a:avLst>
              <a:gd name="adj" fmla="val 21053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L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7E2F6E-33FB-4E40-998F-D83558C3746C}"/>
              </a:ext>
            </a:extLst>
          </p:cNvPr>
          <p:cNvSpPr>
            <a:spLocks noGrp="1"/>
          </p:cNvSpPr>
          <p:nvPr/>
        </p:nvSpPr>
        <p:spPr>
          <a:xfrm>
            <a:off x="8702857" y="3614737"/>
            <a:ext cx="666750" cy="361950"/>
          </a:xfrm>
          <a:prstGeom prst="roundRect">
            <a:avLst>
              <a:gd name="adj" fmla="val 21053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</a:t>
            </a:r>
          </a:p>
        </p:txBody>
      </p:sp>
      <p:cxnSp>
        <p:nvCxnSpPr>
          <p:cNvPr id="78" name="Elbow Connector 77"/>
          <p:cNvCxnSpPr>
            <a:stCxn id="25" idx="2"/>
            <a:endCxn id="26" idx="0"/>
          </p:cNvCxnSpPr>
          <p:nvPr/>
        </p:nvCxnSpPr>
        <p:spPr>
          <a:xfrm flipH="1">
            <a:off x="7283632" y="3157537"/>
            <a:ext cx="876300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B6B0"/>
            </a:solidFill>
            <a:prstDash val="solid"/>
          </a:ln>
        </p:spPr>
      </p:cxnSp>
      <p:cxnSp>
        <p:nvCxnSpPr>
          <p:cNvPr id="79" name="Elbow Connector 78"/>
          <p:cNvCxnSpPr>
            <a:stCxn id="25" idx="2"/>
            <a:endCxn id="27" idx="0"/>
          </p:cNvCxnSpPr>
          <p:nvPr/>
        </p:nvCxnSpPr>
        <p:spPr>
          <a:xfrm>
            <a:off x="8159932" y="3157537"/>
            <a:ext cx="876300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B6B0"/>
            </a:solidFill>
            <a:prstDash val="solid"/>
          </a:ln>
        </p:spPr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7403D59-2852-40FB-8D2B-704EF9918A82}"/>
              </a:ext>
            </a:extLst>
          </p:cNvPr>
          <p:cNvSpPr>
            <a:spLocks noGrp="1"/>
          </p:cNvSpPr>
          <p:nvPr/>
        </p:nvSpPr>
        <p:spPr>
          <a:xfrm>
            <a:off x="8445682" y="4471987"/>
            <a:ext cx="52387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RL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FA0381E-7BC0-4920-A0F3-1B7219C09788}"/>
              </a:ext>
            </a:extLst>
          </p:cNvPr>
          <p:cNvSpPr>
            <a:spLocks noGrp="1"/>
          </p:cNvSpPr>
          <p:nvPr/>
        </p:nvSpPr>
        <p:spPr>
          <a:xfrm>
            <a:off x="9160057" y="4471987"/>
            <a:ext cx="52387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RR</a:t>
            </a:r>
          </a:p>
        </p:txBody>
      </p:sp>
      <p:cxnSp>
        <p:nvCxnSpPr>
          <p:cNvPr id="82" name="Elbow Connector 81"/>
          <p:cNvCxnSpPr>
            <a:stCxn id="27" idx="2"/>
            <a:endCxn id="30" idx="0"/>
          </p:cNvCxnSpPr>
          <p:nvPr/>
        </p:nvCxnSpPr>
        <p:spPr>
          <a:xfrm flipH="1">
            <a:off x="8707620" y="3976687"/>
            <a:ext cx="328613" cy="495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B6B0"/>
            </a:solidFill>
            <a:prstDash val="solid"/>
          </a:ln>
        </p:spPr>
      </p:cxnSp>
      <p:cxnSp>
        <p:nvCxnSpPr>
          <p:cNvPr id="83" name="Elbow Connector 82"/>
          <p:cNvCxnSpPr>
            <a:stCxn id="27" idx="2"/>
            <a:endCxn id="31" idx="0"/>
          </p:cNvCxnSpPr>
          <p:nvPr/>
        </p:nvCxnSpPr>
        <p:spPr>
          <a:xfrm>
            <a:off x="9036232" y="3976687"/>
            <a:ext cx="385763" cy="495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B6B0"/>
            </a:solidFill>
            <a:prstDash val="solid"/>
          </a:ln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6CC4DA30-E5A6-4EC2-BD96-1F038E6EB39A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XGBoost</a:t>
            </a:r>
            <a:r>
              <a:rPr sz="15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suele</a:t>
            </a:r>
            <a:r>
              <a:rPr sz="15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crecer</a:t>
            </a:r>
            <a:r>
              <a:rPr sz="15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por</a:t>
            </a:r>
            <a:r>
              <a:rPr sz="15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nivel</a:t>
            </a:r>
            <a:r>
              <a:rPr sz="15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· </a:t>
            </a:r>
            <a:r>
              <a:rPr sz="15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LightGBM</a:t>
            </a:r>
            <a:r>
              <a:rPr sz="15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por</a:t>
            </a:r>
            <a:r>
              <a:rPr sz="15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hoja</a:t>
            </a:r>
          </a:p>
        </p:txBody>
      </p:sp>
    </p:spTree>
    <p:extLst>
      <p:ext uri="{BB962C8B-B14F-4D97-AF65-F5344CB8AC3E}">
        <p14:creationId xmlns:p14="http://schemas.microsoft.com/office/powerpoint/2010/main" val="1504265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1D58A90-CA17-4254-B76A-CD0F83C10AC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Hiperparámetros que realmente mueven el resultado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EFBDB7-0A89-4F51-896C-4D18A9ED0401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2B0225-F221-45DF-B63F-D695E00A70C8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A02EE1-C72F-4C0F-B0E1-8812C5880DD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6F9E6B-B17A-444A-B689-FFFA36B96C1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16/20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98E52D-8F3C-4E26-ADD6-7A48352A6F4B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2238375" cy="495300"/>
          </a:xfrm>
          <a:prstGeom prst="rect">
            <a:avLst/>
          </a:prstGeom>
          <a:solidFill>
            <a:srgbClr val="071B2D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B6863-68AF-4C0E-996C-A47EA37F0AE9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20478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FUNCIÓN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7F5DB6-5A9E-451A-9AC4-412E7C2901D2}"/>
              </a:ext>
            </a:extLst>
          </p:cNvPr>
          <p:cNvSpPr>
            <a:spLocks noGrp="1"/>
          </p:cNvSpPr>
          <p:nvPr/>
        </p:nvSpPr>
        <p:spPr>
          <a:xfrm>
            <a:off x="2857500" y="1428750"/>
            <a:ext cx="4143375" cy="495300"/>
          </a:xfrm>
          <a:prstGeom prst="rect">
            <a:avLst/>
          </a:prstGeom>
          <a:solidFill>
            <a:srgbClr val="071B2D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BD4841-7B47-4F43-9E0F-C70D9B3234A9}"/>
              </a:ext>
            </a:extLst>
          </p:cNvPr>
          <p:cNvSpPr>
            <a:spLocks noGrp="1"/>
          </p:cNvSpPr>
          <p:nvPr/>
        </p:nvSpPr>
        <p:spPr>
          <a:xfrm>
            <a:off x="2952750" y="1428750"/>
            <a:ext cx="39528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PARÁMETROS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052E8E-915F-4998-8239-E7A783A920AB}"/>
              </a:ext>
            </a:extLst>
          </p:cNvPr>
          <p:cNvSpPr>
            <a:spLocks noGrp="1"/>
          </p:cNvSpPr>
          <p:nvPr/>
        </p:nvSpPr>
        <p:spPr>
          <a:xfrm>
            <a:off x="7000875" y="1428750"/>
            <a:ext cx="4572000" cy="495300"/>
          </a:xfrm>
          <a:prstGeom prst="rect">
            <a:avLst/>
          </a:prstGeom>
          <a:solidFill>
            <a:srgbClr val="071B2D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1FC17A-8B3D-4B0B-BA2F-281EBE3358AA}"/>
              </a:ext>
            </a:extLst>
          </p:cNvPr>
          <p:cNvSpPr>
            <a:spLocks noGrp="1"/>
          </p:cNvSpPr>
          <p:nvPr/>
        </p:nvSpPr>
        <p:spPr>
          <a:xfrm>
            <a:off x="7096125" y="1428750"/>
            <a:ext cx="4381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EFECTO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A99841-897A-4FDB-B6DE-7182635B133C}"/>
              </a:ext>
            </a:extLst>
          </p:cNvPr>
          <p:cNvSpPr>
            <a:spLocks noGrp="1"/>
          </p:cNvSpPr>
          <p:nvPr/>
        </p:nvSpPr>
        <p:spPr>
          <a:xfrm>
            <a:off x="619125" y="1924050"/>
            <a:ext cx="2238375" cy="685800"/>
          </a:xfrm>
          <a:prstGeom prst="rect">
            <a:avLst/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608D16-BA15-4AB7-82B1-BED4453D3A96}"/>
              </a:ext>
            </a:extLst>
          </p:cNvPr>
          <p:cNvSpPr>
            <a:spLocks noGrp="1"/>
          </p:cNvSpPr>
          <p:nvPr/>
        </p:nvSpPr>
        <p:spPr>
          <a:xfrm>
            <a:off x="733425" y="1962150"/>
            <a:ext cx="20097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Capacidad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9AC45C-DAC0-4F5E-A28C-584915E1D402}"/>
              </a:ext>
            </a:extLst>
          </p:cNvPr>
          <p:cNvSpPr>
            <a:spLocks noGrp="1"/>
          </p:cNvSpPr>
          <p:nvPr/>
        </p:nvSpPr>
        <p:spPr>
          <a:xfrm>
            <a:off x="2857500" y="1924050"/>
            <a:ext cx="4143375" cy="685800"/>
          </a:xfrm>
          <a:prstGeom prst="rect">
            <a:avLst/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EA2E48-BAD3-4F03-819A-9AE70885E8E8}"/>
              </a:ext>
            </a:extLst>
          </p:cNvPr>
          <p:cNvSpPr>
            <a:spLocks noGrp="1"/>
          </p:cNvSpPr>
          <p:nvPr/>
        </p:nvSpPr>
        <p:spPr>
          <a:xfrm>
            <a:off x="2971800" y="1962150"/>
            <a:ext cx="39147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n_estimators / iterations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A985A0-7DE4-482C-A599-E9139CCB78AC}"/>
              </a:ext>
            </a:extLst>
          </p:cNvPr>
          <p:cNvSpPr>
            <a:spLocks noGrp="1"/>
          </p:cNvSpPr>
          <p:nvPr/>
        </p:nvSpPr>
        <p:spPr>
          <a:xfrm>
            <a:off x="7000875" y="1924050"/>
            <a:ext cx="4572000" cy="685800"/>
          </a:xfrm>
          <a:prstGeom prst="rect">
            <a:avLst/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36F775-565A-4833-9897-9005CA7AF02F}"/>
              </a:ext>
            </a:extLst>
          </p:cNvPr>
          <p:cNvSpPr>
            <a:spLocks noGrp="1"/>
          </p:cNvSpPr>
          <p:nvPr/>
        </p:nvSpPr>
        <p:spPr>
          <a:xfrm>
            <a:off x="7115175" y="1962150"/>
            <a:ext cx="43434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Cantidad de etapas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3730D4-F25A-4039-ACB2-590852B0904B}"/>
              </a:ext>
            </a:extLst>
          </p:cNvPr>
          <p:cNvSpPr>
            <a:spLocks noGrp="1"/>
          </p:cNvSpPr>
          <p:nvPr/>
        </p:nvSpPr>
        <p:spPr>
          <a:xfrm>
            <a:off x="619125" y="2609850"/>
            <a:ext cx="22383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D514F1-391C-4DC3-8D61-312FF62D2B63}"/>
              </a:ext>
            </a:extLst>
          </p:cNvPr>
          <p:cNvSpPr>
            <a:spLocks noGrp="1"/>
          </p:cNvSpPr>
          <p:nvPr/>
        </p:nvSpPr>
        <p:spPr>
          <a:xfrm>
            <a:off x="733425" y="2647950"/>
            <a:ext cx="20097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Paso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4C94C8-E222-4B20-BED8-254A28B346E3}"/>
              </a:ext>
            </a:extLst>
          </p:cNvPr>
          <p:cNvSpPr>
            <a:spLocks noGrp="1"/>
          </p:cNvSpPr>
          <p:nvPr/>
        </p:nvSpPr>
        <p:spPr>
          <a:xfrm>
            <a:off x="2857500" y="2609850"/>
            <a:ext cx="41433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09B06D-D950-4306-8565-554A53A2E934}"/>
              </a:ext>
            </a:extLst>
          </p:cNvPr>
          <p:cNvSpPr>
            <a:spLocks noGrp="1"/>
          </p:cNvSpPr>
          <p:nvPr/>
        </p:nvSpPr>
        <p:spPr>
          <a:xfrm>
            <a:off x="2971800" y="2647950"/>
            <a:ext cx="39147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learning_rate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036BD0-11CA-4A37-8031-A26B10F9FF11}"/>
              </a:ext>
            </a:extLst>
          </p:cNvPr>
          <p:cNvSpPr>
            <a:spLocks noGrp="1"/>
          </p:cNvSpPr>
          <p:nvPr/>
        </p:nvSpPr>
        <p:spPr>
          <a:xfrm>
            <a:off x="7000875" y="2609850"/>
            <a:ext cx="4572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893F48-30F8-4497-AB1E-F3B68CCF53F8}"/>
              </a:ext>
            </a:extLst>
          </p:cNvPr>
          <p:cNvSpPr>
            <a:spLocks noGrp="1"/>
          </p:cNvSpPr>
          <p:nvPr/>
        </p:nvSpPr>
        <p:spPr>
          <a:xfrm>
            <a:off x="7115175" y="2647950"/>
            <a:ext cx="43434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Aporte de cada etapa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002ED7-1075-4D75-B1DE-AB0ABEE270D7}"/>
              </a:ext>
            </a:extLst>
          </p:cNvPr>
          <p:cNvSpPr>
            <a:spLocks noGrp="1"/>
          </p:cNvSpPr>
          <p:nvPr/>
        </p:nvSpPr>
        <p:spPr>
          <a:xfrm>
            <a:off x="619125" y="3295650"/>
            <a:ext cx="2238375" cy="685800"/>
          </a:xfrm>
          <a:prstGeom prst="rect">
            <a:avLst/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BFAF2C-1E73-48C4-AA6F-43B651AE2778}"/>
              </a:ext>
            </a:extLst>
          </p:cNvPr>
          <p:cNvSpPr>
            <a:spLocks noGrp="1"/>
          </p:cNvSpPr>
          <p:nvPr/>
        </p:nvSpPr>
        <p:spPr>
          <a:xfrm>
            <a:off x="733425" y="3333750"/>
            <a:ext cx="20097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Árbol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9ABA46-3426-495A-BCA1-4A73560E3677}"/>
              </a:ext>
            </a:extLst>
          </p:cNvPr>
          <p:cNvSpPr>
            <a:spLocks noGrp="1"/>
          </p:cNvSpPr>
          <p:nvPr/>
        </p:nvSpPr>
        <p:spPr>
          <a:xfrm>
            <a:off x="2857500" y="3295650"/>
            <a:ext cx="4143375" cy="685800"/>
          </a:xfrm>
          <a:prstGeom prst="rect">
            <a:avLst/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FE2707-DDF1-4DB7-9A06-6C1D1A7F207C}"/>
              </a:ext>
            </a:extLst>
          </p:cNvPr>
          <p:cNvSpPr>
            <a:spLocks noGrp="1"/>
          </p:cNvSpPr>
          <p:nvPr/>
        </p:nvSpPr>
        <p:spPr>
          <a:xfrm>
            <a:off x="2971800" y="3333750"/>
            <a:ext cx="39147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max_depth / num_leaves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CD0EA9-FCE6-43A2-9DD0-B77A6224F05D}"/>
              </a:ext>
            </a:extLst>
          </p:cNvPr>
          <p:cNvSpPr>
            <a:spLocks noGrp="1"/>
          </p:cNvSpPr>
          <p:nvPr/>
        </p:nvSpPr>
        <p:spPr>
          <a:xfrm>
            <a:off x="7000875" y="3295650"/>
            <a:ext cx="4572000" cy="685800"/>
          </a:xfrm>
          <a:prstGeom prst="rect">
            <a:avLst/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989CB6-4AF1-4894-A8FD-6F0DE01A6055}"/>
              </a:ext>
            </a:extLst>
          </p:cNvPr>
          <p:cNvSpPr>
            <a:spLocks noGrp="1"/>
          </p:cNvSpPr>
          <p:nvPr/>
        </p:nvSpPr>
        <p:spPr>
          <a:xfrm>
            <a:off x="7115175" y="3333750"/>
            <a:ext cx="43434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Complejidad e interacciones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F17074-64EC-40A0-BFD8-D4CD0A5EBEE9}"/>
              </a:ext>
            </a:extLst>
          </p:cNvPr>
          <p:cNvSpPr>
            <a:spLocks noGrp="1"/>
          </p:cNvSpPr>
          <p:nvPr/>
        </p:nvSpPr>
        <p:spPr>
          <a:xfrm>
            <a:off x="619125" y="3981450"/>
            <a:ext cx="22383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C4CA0D-0BAE-41D7-A9CB-45318C800374}"/>
              </a:ext>
            </a:extLst>
          </p:cNvPr>
          <p:cNvSpPr>
            <a:spLocks noGrp="1"/>
          </p:cNvSpPr>
          <p:nvPr/>
        </p:nvSpPr>
        <p:spPr>
          <a:xfrm>
            <a:off x="733425" y="4019550"/>
            <a:ext cx="20097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Regularización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5BB08A-7BF3-4A09-BB41-C065CEEFB1FC}"/>
              </a:ext>
            </a:extLst>
          </p:cNvPr>
          <p:cNvSpPr>
            <a:spLocks noGrp="1"/>
          </p:cNvSpPr>
          <p:nvPr/>
        </p:nvSpPr>
        <p:spPr>
          <a:xfrm>
            <a:off x="2857500" y="3981450"/>
            <a:ext cx="41433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4D6B7F-9175-4F65-9F1E-41AD92C783C3}"/>
              </a:ext>
            </a:extLst>
          </p:cNvPr>
          <p:cNvSpPr>
            <a:spLocks noGrp="1"/>
          </p:cNvSpPr>
          <p:nvPr/>
        </p:nvSpPr>
        <p:spPr>
          <a:xfrm>
            <a:off x="2971800" y="4019550"/>
            <a:ext cx="39147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min_child_weight, min_data_in_leaf, l2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33F103-BB4F-465C-AC9A-F899F678BC6C}"/>
              </a:ext>
            </a:extLst>
          </p:cNvPr>
          <p:cNvSpPr>
            <a:spLocks noGrp="1"/>
          </p:cNvSpPr>
          <p:nvPr/>
        </p:nvSpPr>
        <p:spPr>
          <a:xfrm>
            <a:off x="7000875" y="3981450"/>
            <a:ext cx="4572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F274F52-AC8F-4091-97DA-ECA0F9A3754B}"/>
              </a:ext>
            </a:extLst>
          </p:cNvPr>
          <p:cNvSpPr>
            <a:spLocks noGrp="1"/>
          </p:cNvSpPr>
          <p:nvPr/>
        </p:nvSpPr>
        <p:spPr>
          <a:xfrm>
            <a:off x="7115175" y="4019550"/>
            <a:ext cx="43434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Evitar hojas frágiles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53F79D-4BB0-4F75-876D-D9F6CEC855C0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2238375" cy="685800"/>
          </a:xfrm>
          <a:prstGeom prst="rect">
            <a:avLst/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85BD4CE-543F-4438-9436-E608B27D182D}"/>
              </a:ext>
            </a:extLst>
          </p:cNvPr>
          <p:cNvSpPr>
            <a:spLocks noGrp="1"/>
          </p:cNvSpPr>
          <p:nvPr/>
        </p:nvSpPr>
        <p:spPr>
          <a:xfrm>
            <a:off x="733425" y="4705350"/>
            <a:ext cx="20097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Aleatoriedad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EFE5E3-7525-4E41-9DF7-67FA3B617DDA}"/>
              </a:ext>
            </a:extLst>
          </p:cNvPr>
          <p:cNvSpPr>
            <a:spLocks noGrp="1"/>
          </p:cNvSpPr>
          <p:nvPr/>
        </p:nvSpPr>
        <p:spPr>
          <a:xfrm>
            <a:off x="2857500" y="4667250"/>
            <a:ext cx="4143375" cy="685800"/>
          </a:xfrm>
          <a:prstGeom prst="rect">
            <a:avLst/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6B85A8B-6F3F-4616-B112-A7F417ED5AF2}"/>
              </a:ext>
            </a:extLst>
          </p:cNvPr>
          <p:cNvSpPr>
            <a:spLocks noGrp="1"/>
          </p:cNvSpPr>
          <p:nvPr/>
        </p:nvSpPr>
        <p:spPr>
          <a:xfrm>
            <a:off x="2971800" y="4705350"/>
            <a:ext cx="39147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subsample, colsample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8E26CE4-14CE-4BBA-AE81-18A860E9BDC7}"/>
              </a:ext>
            </a:extLst>
          </p:cNvPr>
          <p:cNvSpPr>
            <a:spLocks noGrp="1"/>
          </p:cNvSpPr>
          <p:nvPr/>
        </p:nvSpPr>
        <p:spPr>
          <a:xfrm>
            <a:off x="7000875" y="4667250"/>
            <a:ext cx="4572000" cy="685800"/>
          </a:xfrm>
          <a:prstGeom prst="rect">
            <a:avLst/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7CE065-1BD1-4DFD-A58C-1E4237ECAAB5}"/>
              </a:ext>
            </a:extLst>
          </p:cNvPr>
          <p:cNvSpPr>
            <a:spLocks noGrp="1"/>
          </p:cNvSpPr>
          <p:nvPr/>
        </p:nvSpPr>
        <p:spPr>
          <a:xfrm>
            <a:off x="7115175" y="4705350"/>
            <a:ext cx="43434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Diversidad y menor sobreajuste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8CCF081-C0B4-4B49-A7A7-AB0CFF715632}"/>
              </a:ext>
            </a:extLst>
          </p:cNvPr>
          <p:cNvSpPr>
            <a:spLocks noGrp="1"/>
          </p:cNvSpPr>
          <p:nvPr/>
        </p:nvSpPr>
        <p:spPr>
          <a:xfrm>
            <a:off x="1238250" y="5667375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Ajusta con validación cruzada o early stopping. Conserva el test para la evaluación final.</a:t>
            </a:r>
          </a:p>
        </p:txBody>
      </p:sp>
    </p:spTree>
    <p:extLst>
      <p:ext uri="{BB962C8B-B14F-4D97-AF65-F5344CB8AC3E}">
        <p14:creationId xmlns:p14="http://schemas.microsoft.com/office/powerpoint/2010/main" val="641470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7CEE3CA0-EF59-4D3D-9978-198584D210C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Comparación de los cinco modelos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10F2C3-A2D2-4DC9-B4B4-9958A9FC410D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DA5EC7-86BC-45B1-910F-E6DF61E5F248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7CDDDC-34DE-4D3B-BCA5-E6260BB627F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128E8D-30DA-4F93-9EE8-A1963311B9DE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17/20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2C5E40-F7C4-4CBE-967C-30FCDB6297E2}"/>
              </a:ext>
            </a:extLst>
          </p:cNvPr>
          <p:cNvSpPr>
            <a:spLocks noGrp="1"/>
          </p:cNvSpPr>
          <p:nvPr/>
        </p:nvSpPr>
        <p:spPr>
          <a:xfrm>
            <a:off x="428625" y="1781721"/>
            <a:ext cx="1524000" cy="523875"/>
          </a:xfrm>
          <a:prstGeom prst="rect">
            <a:avLst/>
          </a:prstGeom>
          <a:solidFill>
            <a:srgbClr val="17B6B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1347FC-FF77-4706-ABE5-D4CEE104AD46}"/>
              </a:ext>
            </a:extLst>
          </p:cNvPr>
          <p:cNvSpPr>
            <a:spLocks noGrp="1"/>
          </p:cNvSpPr>
          <p:nvPr/>
        </p:nvSpPr>
        <p:spPr>
          <a:xfrm>
            <a:off x="485775" y="1781721"/>
            <a:ext cx="1409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5FDCC2-93B0-4047-A690-6E1A45E28177}"/>
              </a:ext>
            </a:extLst>
          </p:cNvPr>
          <p:cNvSpPr>
            <a:spLocks noGrp="1"/>
          </p:cNvSpPr>
          <p:nvPr/>
        </p:nvSpPr>
        <p:spPr>
          <a:xfrm>
            <a:off x="1952625" y="1781721"/>
            <a:ext cx="2809875" cy="523875"/>
          </a:xfrm>
          <a:prstGeom prst="rect">
            <a:avLst/>
          </a:prstGeom>
          <a:solidFill>
            <a:srgbClr val="17B6B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16801-539A-4E6C-98ED-3C9A9CF56C33}"/>
              </a:ext>
            </a:extLst>
          </p:cNvPr>
          <p:cNvSpPr>
            <a:spLocks noGrp="1"/>
          </p:cNvSpPr>
          <p:nvPr/>
        </p:nvSpPr>
        <p:spPr>
          <a:xfrm>
            <a:off x="2009775" y="1781721"/>
            <a:ext cx="26955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Sello distintivo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12168E-B4FE-4F6B-AEF8-D77E0CC5706D}"/>
              </a:ext>
            </a:extLst>
          </p:cNvPr>
          <p:cNvSpPr>
            <a:spLocks noGrp="1"/>
          </p:cNvSpPr>
          <p:nvPr/>
        </p:nvSpPr>
        <p:spPr>
          <a:xfrm>
            <a:off x="4762500" y="1781721"/>
            <a:ext cx="2333625" cy="523875"/>
          </a:xfrm>
          <a:prstGeom prst="rect">
            <a:avLst/>
          </a:prstGeom>
          <a:solidFill>
            <a:srgbClr val="17B6B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D4AA7B-D9A6-4D24-A8E8-95395BE22DFF}"/>
              </a:ext>
            </a:extLst>
          </p:cNvPr>
          <p:cNvSpPr>
            <a:spLocks noGrp="1"/>
          </p:cNvSpPr>
          <p:nvPr/>
        </p:nvSpPr>
        <p:spPr>
          <a:xfrm>
            <a:off x="4819650" y="1781721"/>
            <a:ext cx="22193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Categorías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317295-EF94-4D0D-B247-396659BDDF44}"/>
              </a:ext>
            </a:extLst>
          </p:cNvPr>
          <p:cNvSpPr>
            <a:spLocks noGrp="1"/>
          </p:cNvSpPr>
          <p:nvPr/>
        </p:nvSpPr>
        <p:spPr>
          <a:xfrm>
            <a:off x="7096125" y="1781721"/>
            <a:ext cx="1762125" cy="523875"/>
          </a:xfrm>
          <a:prstGeom prst="rect">
            <a:avLst/>
          </a:prstGeom>
          <a:solidFill>
            <a:srgbClr val="17B6B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299D53-8D3A-4E90-9CAE-5F2BAEB369F4}"/>
              </a:ext>
            </a:extLst>
          </p:cNvPr>
          <p:cNvSpPr>
            <a:spLocks noGrp="1"/>
          </p:cNvSpPr>
          <p:nvPr/>
        </p:nvSpPr>
        <p:spPr>
          <a:xfrm>
            <a:off x="7153275" y="1781721"/>
            <a:ext cx="16478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Velocidad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135B0D-AB06-477F-BFB8-54C303B43A17}"/>
              </a:ext>
            </a:extLst>
          </p:cNvPr>
          <p:cNvSpPr>
            <a:spLocks noGrp="1"/>
          </p:cNvSpPr>
          <p:nvPr/>
        </p:nvSpPr>
        <p:spPr>
          <a:xfrm>
            <a:off x="8858250" y="1781721"/>
            <a:ext cx="2905125" cy="523875"/>
          </a:xfrm>
          <a:prstGeom prst="rect">
            <a:avLst/>
          </a:prstGeom>
          <a:solidFill>
            <a:srgbClr val="17B6B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4DA238-5BD3-4661-9BCF-9380D6848475}"/>
              </a:ext>
            </a:extLst>
          </p:cNvPr>
          <p:cNvSpPr>
            <a:spLocks noGrp="1"/>
          </p:cNvSpPr>
          <p:nvPr/>
        </p:nvSpPr>
        <p:spPr>
          <a:xfrm>
            <a:off x="8915400" y="1781721"/>
            <a:ext cx="27908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Riesgo principal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585651-0433-4C34-96DC-974EA8567A6D}"/>
              </a:ext>
            </a:extLst>
          </p:cNvPr>
          <p:cNvSpPr>
            <a:spLocks noGrp="1"/>
          </p:cNvSpPr>
          <p:nvPr/>
        </p:nvSpPr>
        <p:spPr>
          <a:xfrm>
            <a:off x="428625" y="2305596"/>
            <a:ext cx="1524000" cy="781050"/>
          </a:xfrm>
          <a:prstGeom prst="rect">
            <a:avLst/>
          </a:prstGeom>
          <a:solidFill>
            <a:srgbClr val="10334E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88DEE1-5E2A-4EE2-B34D-7F8536521559}"/>
              </a:ext>
            </a:extLst>
          </p:cNvPr>
          <p:cNvSpPr>
            <a:spLocks noGrp="1"/>
          </p:cNvSpPr>
          <p:nvPr/>
        </p:nvSpPr>
        <p:spPr>
          <a:xfrm>
            <a:off x="504825" y="2343696"/>
            <a:ext cx="13716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AdaBoost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697251-CC52-4B43-89B8-6162D903F314}"/>
              </a:ext>
            </a:extLst>
          </p:cNvPr>
          <p:cNvSpPr>
            <a:spLocks noGrp="1"/>
          </p:cNvSpPr>
          <p:nvPr/>
        </p:nvSpPr>
        <p:spPr>
          <a:xfrm>
            <a:off x="1952625" y="2305596"/>
            <a:ext cx="2809875" cy="781050"/>
          </a:xfrm>
          <a:prstGeom prst="rect">
            <a:avLst/>
          </a:prstGeom>
          <a:solidFill>
            <a:srgbClr val="10334E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E3E461-9F17-4745-B0CB-38D376308E27}"/>
              </a:ext>
            </a:extLst>
          </p:cNvPr>
          <p:cNvSpPr>
            <a:spLocks noGrp="1"/>
          </p:cNvSpPr>
          <p:nvPr/>
        </p:nvSpPr>
        <p:spPr>
          <a:xfrm>
            <a:off x="2028825" y="2343696"/>
            <a:ext cx="265747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Pondera casos difíciles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287F1B-CBEE-44FF-8EA6-72AA6383937D}"/>
              </a:ext>
            </a:extLst>
          </p:cNvPr>
          <p:cNvSpPr>
            <a:spLocks noGrp="1"/>
          </p:cNvSpPr>
          <p:nvPr/>
        </p:nvSpPr>
        <p:spPr>
          <a:xfrm>
            <a:off x="4762500" y="2305596"/>
            <a:ext cx="2333625" cy="781050"/>
          </a:xfrm>
          <a:prstGeom prst="rect">
            <a:avLst/>
          </a:prstGeom>
          <a:solidFill>
            <a:srgbClr val="10334E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C21A3F-D8FF-48A4-B3F8-797569CF8328}"/>
              </a:ext>
            </a:extLst>
          </p:cNvPr>
          <p:cNvSpPr>
            <a:spLocks noGrp="1"/>
          </p:cNvSpPr>
          <p:nvPr/>
        </p:nvSpPr>
        <p:spPr>
          <a:xfrm>
            <a:off x="4838700" y="2343696"/>
            <a:ext cx="218122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Codificar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9ED309-742E-4020-A457-5E727259D191}"/>
              </a:ext>
            </a:extLst>
          </p:cNvPr>
          <p:cNvSpPr>
            <a:spLocks noGrp="1"/>
          </p:cNvSpPr>
          <p:nvPr/>
        </p:nvSpPr>
        <p:spPr>
          <a:xfrm>
            <a:off x="7096125" y="2305596"/>
            <a:ext cx="1762125" cy="781050"/>
          </a:xfrm>
          <a:prstGeom prst="rect">
            <a:avLst/>
          </a:prstGeom>
          <a:solidFill>
            <a:srgbClr val="10334E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55609A-5418-446A-9E17-4E277B0B415D}"/>
              </a:ext>
            </a:extLst>
          </p:cNvPr>
          <p:cNvSpPr>
            <a:spLocks noGrp="1"/>
          </p:cNvSpPr>
          <p:nvPr/>
        </p:nvSpPr>
        <p:spPr>
          <a:xfrm>
            <a:off x="7172325" y="2343696"/>
            <a:ext cx="160972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A28B8B-2783-4CD5-BF55-807AA6DFF793}"/>
              </a:ext>
            </a:extLst>
          </p:cNvPr>
          <p:cNvSpPr>
            <a:spLocks noGrp="1"/>
          </p:cNvSpPr>
          <p:nvPr/>
        </p:nvSpPr>
        <p:spPr>
          <a:xfrm>
            <a:off x="8858250" y="2305596"/>
            <a:ext cx="2905125" cy="781050"/>
          </a:xfrm>
          <a:prstGeom prst="rect">
            <a:avLst/>
          </a:prstGeom>
          <a:solidFill>
            <a:srgbClr val="10334E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36B995-3CF4-4989-8E17-A4AA6EDBC600}"/>
              </a:ext>
            </a:extLst>
          </p:cNvPr>
          <p:cNvSpPr>
            <a:spLocks noGrp="1"/>
          </p:cNvSpPr>
          <p:nvPr/>
        </p:nvSpPr>
        <p:spPr>
          <a:xfrm>
            <a:off x="8934450" y="2343696"/>
            <a:ext cx="275272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Ruido y outliers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7A0267-6214-45EE-83BF-6915C25D7189}"/>
              </a:ext>
            </a:extLst>
          </p:cNvPr>
          <p:cNvSpPr>
            <a:spLocks noGrp="1"/>
          </p:cNvSpPr>
          <p:nvPr/>
        </p:nvSpPr>
        <p:spPr>
          <a:xfrm>
            <a:off x="428625" y="3086646"/>
            <a:ext cx="1524000" cy="781050"/>
          </a:xfrm>
          <a:prstGeom prst="rect">
            <a:avLst/>
          </a:prstGeom>
          <a:solidFill>
            <a:srgbClr val="0C2940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61DA9E-7330-402F-852C-BBD4AAE6AD75}"/>
              </a:ext>
            </a:extLst>
          </p:cNvPr>
          <p:cNvSpPr>
            <a:spLocks noGrp="1"/>
          </p:cNvSpPr>
          <p:nvPr/>
        </p:nvSpPr>
        <p:spPr>
          <a:xfrm>
            <a:off x="504825" y="3124746"/>
            <a:ext cx="13716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Gradient Boosting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E5C047-5A60-4E98-B64B-8EC5547529F9}"/>
              </a:ext>
            </a:extLst>
          </p:cNvPr>
          <p:cNvSpPr>
            <a:spLocks noGrp="1"/>
          </p:cNvSpPr>
          <p:nvPr/>
        </p:nvSpPr>
        <p:spPr>
          <a:xfrm>
            <a:off x="1952625" y="3086646"/>
            <a:ext cx="2809875" cy="781050"/>
          </a:xfrm>
          <a:prstGeom prst="rect">
            <a:avLst/>
          </a:prstGeom>
          <a:solidFill>
            <a:srgbClr val="0C2940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C05F9D-3A92-4239-BE95-F782EFA401CC}"/>
              </a:ext>
            </a:extLst>
          </p:cNvPr>
          <p:cNvSpPr>
            <a:spLocks noGrp="1"/>
          </p:cNvSpPr>
          <p:nvPr/>
        </p:nvSpPr>
        <p:spPr>
          <a:xfrm>
            <a:off x="2028825" y="3124746"/>
            <a:ext cx="265747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Gradiente de una pérdida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8EE0F2-94BF-45EF-93D3-963DF2A277E2}"/>
              </a:ext>
            </a:extLst>
          </p:cNvPr>
          <p:cNvSpPr>
            <a:spLocks noGrp="1"/>
          </p:cNvSpPr>
          <p:nvPr/>
        </p:nvSpPr>
        <p:spPr>
          <a:xfrm>
            <a:off x="4762500" y="3086646"/>
            <a:ext cx="2333625" cy="781050"/>
          </a:xfrm>
          <a:prstGeom prst="rect">
            <a:avLst/>
          </a:prstGeom>
          <a:solidFill>
            <a:srgbClr val="0C2940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88C75A-E5B1-44AB-A563-E76B721AD0BC}"/>
              </a:ext>
            </a:extLst>
          </p:cNvPr>
          <p:cNvSpPr>
            <a:spLocks noGrp="1"/>
          </p:cNvSpPr>
          <p:nvPr/>
        </p:nvSpPr>
        <p:spPr>
          <a:xfrm>
            <a:off x="4838700" y="3124746"/>
            <a:ext cx="218122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Codificar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D32EFA-DA8B-438D-A533-0000811372BD}"/>
              </a:ext>
            </a:extLst>
          </p:cNvPr>
          <p:cNvSpPr>
            <a:spLocks noGrp="1"/>
          </p:cNvSpPr>
          <p:nvPr/>
        </p:nvSpPr>
        <p:spPr>
          <a:xfrm>
            <a:off x="7096125" y="3086646"/>
            <a:ext cx="1762125" cy="781050"/>
          </a:xfrm>
          <a:prstGeom prst="rect">
            <a:avLst/>
          </a:prstGeom>
          <a:solidFill>
            <a:srgbClr val="0C2940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B20E5B-0B17-43AA-83D5-7F6E259F888C}"/>
              </a:ext>
            </a:extLst>
          </p:cNvPr>
          <p:cNvSpPr>
            <a:spLocks noGrp="1"/>
          </p:cNvSpPr>
          <p:nvPr/>
        </p:nvSpPr>
        <p:spPr>
          <a:xfrm>
            <a:off x="7172325" y="3124746"/>
            <a:ext cx="160972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Media-baja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BFD7C7-FB80-489F-A6DE-A718D34ADEA3}"/>
              </a:ext>
            </a:extLst>
          </p:cNvPr>
          <p:cNvSpPr>
            <a:spLocks noGrp="1"/>
          </p:cNvSpPr>
          <p:nvPr/>
        </p:nvSpPr>
        <p:spPr>
          <a:xfrm>
            <a:off x="8858250" y="3086646"/>
            <a:ext cx="2905125" cy="781050"/>
          </a:xfrm>
          <a:prstGeom prst="rect">
            <a:avLst/>
          </a:prstGeom>
          <a:solidFill>
            <a:srgbClr val="0C2940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0EBFE3-E9B0-4C04-86CC-3CC56632CC14}"/>
              </a:ext>
            </a:extLst>
          </p:cNvPr>
          <p:cNvSpPr>
            <a:spLocks noGrp="1"/>
          </p:cNvSpPr>
          <p:nvPr/>
        </p:nvSpPr>
        <p:spPr>
          <a:xfrm>
            <a:off x="8934450" y="3124746"/>
            <a:ext cx="275272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Ajuste sensible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9AF3EA-668A-4065-9759-1EE585EEC430}"/>
              </a:ext>
            </a:extLst>
          </p:cNvPr>
          <p:cNvSpPr>
            <a:spLocks noGrp="1"/>
          </p:cNvSpPr>
          <p:nvPr/>
        </p:nvSpPr>
        <p:spPr>
          <a:xfrm>
            <a:off x="428625" y="3867696"/>
            <a:ext cx="1524000" cy="781050"/>
          </a:xfrm>
          <a:prstGeom prst="rect">
            <a:avLst/>
          </a:prstGeom>
          <a:solidFill>
            <a:srgbClr val="10334E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DC246E-63AF-4E45-BA79-3BA66CF93082}"/>
              </a:ext>
            </a:extLst>
          </p:cNvPr>
          <p:cNvSpPr>
            <a:spLocks noGrp="1"/>
          </p:cNvSpPr>
          <p:nvPr/>
        </p:nvSpPr>
        <p:spPr>
          <a:xfrm>
            <a:off x="504825" y="3905796"/>
            <a:ext cx="13716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XGBoost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ACC3EA-CFEA-43AA-85EC-23C416AE0C58}"/>
              </a:ext>
            </a:extLst>
          </p:cNvPr>
          <p:cNvSpPr>
            <a:spLocks noGrp="1"/>
          </p:cNvSpPr>
          <p:nvPr/>
        </p:nvSpPr>
        <p:spPr>
          <a:xfrm>
            <a:off x="1952625" y="3867696"/>
            <a:ext cx="2809875" cy="781050"/>
          </a:xfrm>
          <a:prstGeom prst="rect">
            <a:avLst/>
          </a:prstGeom>
          <a:solidFill>
            <a:srgbClr val="10334E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9473979-4A19-4A03-98A6-039588D38D8B}"/>
              </a:ext>
            </a:extLst>
          </p:cNvPr>
          <p:cNvSpPr>
            <a:spLocks noGrp="1"/>
          </p:cNvSpPr>
          <p:nvPr/>
        </p:nvSpPr>
        <p:spPr>
          <a:xfrm>
            <a:off x="2028825" y="3905796"/>
            <a:ext cx="265747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Regularización y sistema escalable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915119-B4F5-46E8-83CF-EE31D2A0B252}"/>
              </a:ext>
            </a:extLst>
          </p:cNvPr>
          <p:cNvSpPr>
            <a:spLocks noGrp="1"/>
          </p:cNvSpPr>
          <p:nvPr/>
        </p:nvSpPr>
        <p:spPr>
          <a:xfrm>
            <a:off x="4762500" y="3867696"/>
            <a:ext cx="2333625" cy="781050"/>
          </a:xfrm>
          <a:prstGeom prst="rect">
            <a:avLst/>
          </a:prstGeom>
          <a:solidFill>
            <a:srgbClr val="10334E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0AEC26-E1C4-492C-9146-CED236009826}"/>
              </a:ext>
            </a:extLst>
          </p:cNvPr>
          <p:cNvSpPr>
            <a:spLocks noGrp="1"/>
          </p:cNvSpPr>
          <p:nvPr/>
        </p:nvSpPr>
        <p:spPr>
          <a:xfrm>
            <a:off x="4838700" y="3905796"/>
            <a:ext cx="218122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Depende de implementación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9101EA-B495-44B3-B1F2-10F8D3236D28}"/>
              </a:ext>
            </a:extLst>
          </p:cNvPr>
          <p:cNvSpPr>
            <a:spLocks noGrp="1"/>
          </p:cNvSpPr>
          <p:nvPr/>
        </p:nvSpPr>
        <p:spPr>
          <a:xfrm>
            <a:off x="7096125" y="3867696"/>
            <a:ext cx="1762125" cy="781050"/>
          </a:xfrm>
          <a:prstGeom prst="rect">
            <a:avLst/>
          </a:prstGeom>
          <a:solidFill>
            <a:srgbClr val="10334E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0181D3-A2D9-4BEC-B6F3-1E80E4B8B00E}"/>
              </a:ext>
            </a:extLst>
          </p:cNvPr>
          <p:cNvSpPr>
            <a:spLocks noGrp="1"/>
          </p:cNvSpPr>
          <p:nvPr/>
        </p:nvSpPr>
        <p:spPr>
          <a:xfrm>
            <a:off x="7172325" y="3905796"/>
            <a:ext cx="160972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Alta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2E817BF-898B-41FE-9473-3819F1ED21BD}"/>
              </a:ext>
            </a:extLst>
          </p:cNvPr>
          <p:cNvSpPr>
            <a:spLocks noGrp="1"/>
          </p:cNvSpPr>
          <p:nvPr/>
        </p:nvSpPr>
        <p:spPr>
          <a:xfrm>
            <a:off x="8858250" y="3867696"/>
            <a:ext cx="2905125" cy="781050"/>
          </a:xfrm>
          <a:prstGeom prst="rect">
            <a:avLst/>
          </a:prstGeom>
          <a:solidFill>
            <a:srgbClr val="10334E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516A8E-D608-47A1-9FB6-ED30B43F0A02}"/>
              </a:ext>
            </a:extLst>
          </p:cNvPr>
          <p:cNvSpPr>
            <a:spLocks noGrp="1"/>
          </p:cNvSpPr>
          <p:nvPr/>
        </p:nvSpPr>
        <p:spPr>
          <a:xfrm>
            <a:off x="8934450" y="3905796"/>
            <a:ext cx="275272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Complejidad de tuning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202F82-5238-4590-AB18-CEDA0EF5C1C9}"/>
              </a:ext>
            </a:extLst>
          </p:cNvPr>
          <p:cNvSpPr>
            <a:spLocks noGrp="1"/>
          </p:cNvSpPr>
          <p:nvPr/>
        </p:nvSpPr>
        <p:spPr>
          <a:xfrm>
            <a:off x="428625" y="4648746"/>
            <a:ext cx="1524000" cy="781050"/>
          </a:xfrm>
          <a:prstGeom prst="rect">
            <a:avLst/>
          </a:prstGeom>
          <a:solidFill>
            <a:srgbClr val="0C2940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AD3F4EA-96B5-4140-936B-68B09375CAF6}"/>
              </a:ext>
            </a:extLst>
          </p:cNvPr>
          <p:cNvSpPr>
            <a:spLocks noGrp="1"/>
          </p:cNvSpPr>
          <p:nvPr/>
        </p:nvSpPr>
        <p:spPr>
          <a:xfrm>
            <a:off x="504825" y="4686846"/>
            <a:ext cx="13716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LightGBM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7BA8D3B-1A7B-4805-A13B-66085119088F}"/>
              </a:ext>
            </a:extLst>
          </p:cNvPr>
          <p:cNvSpPr>
            <a:spLocks noGrp="1"/>
          </p:cNvSpPr>
          <p:nvPr/>
        </p:nvSpPr>
        <p:spPr>
          <a:xfrm>
            <a:off x="1952625" y="4648746"/>
            <a:ext cx="2809875" cy="781050"/>
          </a:xfrm>
          <a:prstGeom prst="rect">
            <a:avLst/>
          </a:prstGeom>
          <a:solidFill>
            <a:srgbClr val="0C2940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EC0BADA-F0D1-4E2E-81FC-25680134DB70}"/>
              </a:ext>
            </a:extLst>
          </p:cNvPr>
          <p:cNvSpPr>
            <a:spLocks noGrp="1"/>
          </p:cNvSpPr>
          <p:nvPr/>
        </p:nvSpPr>
        <p:spPr>
          <a:xfrm>
            <a:off x="2028825" y="4686846"/>
            <a:ext cx="265747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Histogramas y leaf-wise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2213F34-BB6E-476F-B3C3-FCC53908575A}"/>
              </a:ext>
            </a:extLst>
          </p:cNvPr>
          <p:cNvSpPr>
            <a:spLocks noGrp="1"/>
          </p:cNvSpPr>
          <p:nvPr/>
        </p:nvSpPr>
        <p:spPr>
          <a:xfrm>
            <a:off x="4762500" y="4648746"/>
            <a:ext cx="2333625" cy="781050"/>
          </a:xfrm>
          <a:prstGeom prst="rect">
            <a:avLst/>
          </a:prstGeom>
          <a:solidFill>
            <a:srgbClr val="0C2940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7B57062-6EAE-49B9-91C0-5F44B4481A6F}"/>
              </a:ext>
            </a:extLst>
          </p:cNvPr>
          <p:cNvSpPr>
            <a:spLocks noGrp="1"/>
          </p:cNvSpPr>
          <p:nvPr/>
        </p:nvSpPr>
        <p:spPr>
          <a:xfrm>
            <a:off x="4838700" y="4686846"/>
            <a:ext cx="218122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Nativas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9622123-9C7E-47F9-8C31-808D5F3C429A}"/>
              </a:ext>
            </a:extLst>
          </p:cNvPr>
          <p:cNvSpPr>
            <a:spLocks noGrp="1"/>
          </p:cNvSpPr>
          <p:nvPr/>
        </p:nvSpPr>
        <p:spPr>
          <a:xfrm>
            <a:off x="7096125" y="4648746"/>
            <a:ext cx="1762125" cy="781050"/>
          </a:xfrm>
          <a:prstGeom prst="rect">
            <a:avLst/>
          </a:prstGeom>
          <a:solidFill>
            <a:srgbClr val="0C2940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25F4381-98F5-481C-9C0F-494FFE3B06C5}"/>
              </a:ext>
            </a:extLst>
          </p:cNvPr>
          <p:cNvSpPr>
            <a:spLocks noGrp="1"/>
          </p:cNvSpPr>
          <p:nvPr/>
        </p:nvSpPr>
        <p:spPr>
          <a:xfrm>
            <a:off x="7172325" y="4686846"/>
            <a:ext cx="160972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Muy alta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099AF9D-73D6-48F5-A482-E88B7D777D3B}"/>
              </a:ext>
            </a:extLst>
          </p:cNvPr>
          <p:cNvSpPr>
            <a:spLocks noGrp="1"/>
          </p:cNvSpPr>
          <p:nvPr/>
        </p:nvSpPr>
        <p:spPr>
          <a:xfrm>
            <a:off x="8858250" y="4648746"/>
            <a:ext cx="2905125" cy="781050"/>
          </a:xfrm>
          <a:prstGeom prst="rect">
            <a:avLst/>
          </a:prstGeom>
          <a:solidFill>
            <a:srgbClr val="0C2940"/>
          </a:solidFill>
          <a:ln w="9525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C6258AE-58A9-4C13-A44A-F9CBE824B35F}"/>
              </a:ext>
            </a:extLst>
          </p:cNvPr>
          <p:cNvSpPr>
            <a:spLocks noGrp="1"/>
          </p:cNvSpPr>
          <p:nvPr/>
        </p:nvSpPr>
        <p:spPr>
          <a:xfrm>
            <a:off x="8934450" y="4686846"/>
            <a:ext cx="275272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Overfit en datos pequeños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2978831-5F61-4FE7-B413-3A57D81E7CF5}"/>
              </a:ext>
            </a:extLst>
          </p:cNvPr>
          <p:cNvSpPr>
            <a:spLocks noGrp="1"/>
          </p:cNvSpPr>
          <p:nvPr/>
        </p:nvSpPr>
        <p:spPr>
          <a:xfrm>
            <a:off x="1143000" y="600075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La mejor opción depende del tamaño, las categorías, el presupuesto de cómputo y la validación.</a:t>
            </a:r>
          </a:p>
        </p:txBody>
      </p:sp>
    </p:spTree>
    <p:extLst>
      <p:ext uri="{BB962C8B-B14F-4D97-AF65-F5344CB8AC3E}">
        <p14:creationId xmlns:p14="http://schemas.microsoft.com/office/powerpoint/2010/main" val="1001019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0B2607A1-6A77-48E3-A692-83541E3D3BC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Aplicaciones en datos tabulares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255E65-ACA0-4BC1-AEF7-269AA9EC1C53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2F661-AEBA-4920-8DD6-D182B0433730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6496D4-91B4-419D-ABCE-996D67F7C8A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363BF8-A926-45FF-96AE-452ACD761C7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18/20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2E75A5-097F-4EC6-B4FB-DB2283E8A409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3429000" cy="1571625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 w="28575">
            <a:solidFill>
              <a:srgbClr val="C95757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7BE7089-B5EE-4EDE-8FBD-2CA06F0D11B3}"/>
              </a:ext>
            </a:extLst>
          </p:cNvPr>
          <p:cNvSpPr>
            <a:spLocks noGrp="1"/>
          </p:cNvSpPr>
          <p:nvPr/>
        </p:nvSpPr>
        <p:spPr>
          <a:xfrm>
            <a:off x="885825" y="1809750"/>
            <a:ext cx="457200" cy="457200"/>
          </a:xfrm>
          <a:prstGeom prst="ellipse">
            <a:avLst/>
          </a:prstGeom>
          <a:solidFill>
            <a:srgbClr val="C95757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506F43-D5D2-4EED-B04A-2BF911777C64}"/>
              </a:ext>
            </a:extLst>
          </p:cNvPr>
          <p:cNvSpPr>
            <a:spLocks noGrp="1"/>
          </p:cNvSpPr>
          <p:nvPr/>
        </p:nvSpPr>
        <p:spPr>
          <a:xfrm>
            <a:off x="885825" y="18097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D94806-E456-44BD-B7B2-D1EB6318097D}"/>
              </a:ext>
            </a:extLst>
          </p:cNvPr>
          <p:cNvSpPr>
            <a:spLocks noGrp="1"/>
          </p:cNvSpPr>
          <p:nvPr/>
        </p:nvSpPr>
        <p:spPr>
          <a:xfrm>
            <a:off x="1524000" y="175260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rPr>
              <a:t>RIESGO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E3FCA7-331D-45E2-9612-12DA3995CF58}"/>
              </a:ext>
            </a:extLst>
          </p:cNvPr>
          <p:cNvSpPr>
            <a:spLocks noGrp="1"/>
          </p:cNvSpPr>
          <p:nvPr/>
        </p:nvSpPr>
        <p:spPr>
          <a:xfrm>
            <a:off x="923925" y="2333625"/>
            <a:ext cx="28098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Incumplimiento, fraude, churn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8391453-97DF-4ADB-AA22-26D32C6FA311}"/>
              </a:ext>
            </a:extLst>
          </p:cNvPr>
          <p:cNvSpPr>
            <a:spLocks noGrp="1"/>
          </p:cNvSpPr>
          <p:nvPr/>
        </p:nvSpPr>
        <p:spPr>
          <a:xfrm>
            <a:off x="4476750" y="1524000"/>
            <a:ext cx="3429000" cy="1571625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 w="28575">
            <a:solidFill>
              <a:srgbClr val="17B6B0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A36E8A-1B0C-4D84-9850-00300B4CBB6A}"/>
              </a:ext>
            </a:extLst>
          </p:cNvPr>
          <p:cNvSpPr>
            <a:spLocks noGrp="1"/>
          </p:cNvSpPr>
          <p:nvPr/>
        </p:nvSpPr>
        <p:spPr>
          <a:xfrm>
            <a:off x="4743450" y="1809750"/>
            <a:ext cx="457200" cy="45720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35E793-8217-420D-AA7F-69542FA4A849}"/>
              </a:ext>
            </a:extLst>
          </p:cNvPr>
          <p:cNvSpPr>
            <a:spLocks noGrp="1"/>
          </p:cNvSpPr>
          <p:nvPr/>
        </p:nvSpPr>
        <p:spPr>
          <a:xfrm>
            <a:off x="4743450" y="18097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37D3FF-2EA8-42DF-AAD9-D957AC96CB5B}"/>
              </a:ext>
            </a:extLst>
          </p:cNvPr>
          <p:cNvSpPr>
            <a:spLocks noGrp="1"/>
          </p:cNvSpPr>
          <p:nvPr/>
        </p:nvSpPr>
        <p:spPr>
          <a:xfrm>
            <a:off x="5381625" y="175260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DEMANDA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FCA121-A70A-42D2-B815-8BD68DB9D23D}"/>
              </a:ext>
            </a:extLst>
          </p:cNvPr>
          <p:cNvSpPr>
            <a:spLocks noGrp="1"/>
          </p:cNvSpPr>
          <p:nvPr/>
        </p:nvSpPr>
        <p:spPr>
          <a:xfrm>
            <a:off x="4781550" y="2333625"/>
            <a:ext cx="28098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Ventas, energía, inventario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80F55D5-CE6E-4CC2-840E-8A4168B7ECD8}"/>
              </a:ext>
            </a:extLst>
          </p:cNvPr>
          <p:cNvSpPr>
            <a:spLocks noGrp="1"/>
          </p:cNvSpPr>
          <p:nvPr/>
        </p:nvSpPr>
        <p:spPr>
          <a:xfrm>
            <a:off x="8334375" y="1524000"/>
            <a:ext cx="3429000" cy="1571625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 w="28575">
            <a:solidFill>
              <a:srgbClr val="6F65A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DD039AB-D258-4427-B7B8-04CFF579E99F}"/>
              </a:ext>
            </a:extLst>
          </p:cNvPr>
          <p:cNvSpPr>
            <a:spLocks noGrp="1"/>
          </p:cNvSpPr>
          <p:nvPr/>
        </p:nvSpPr>
        <p:spPr>
          <a:xfrm>
            <a:off x="8601075" y="1809750"/>
            <a:ext cx="457200" cy="457200"/>
          </a:xfrm>
          <a:prstGeom prst="ellipse">
            <a:avLst/>
          </a:prstGeom>
          <a:solidFill>
            <a:srgbClr val="6F65A8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3B16C8-254E-42D0-9945-BC1A9E64CFDA}"/>
              </a:ext>
            </a:extLst>
          </p:cNvPr>
          <p:cNvSpPr>
            <a:spLocks noGrp="1"/>
          </p:cNvSpPr>
          <p:nvPr/>
        </p:nvSpPr>
        <p:spPr>
          <a:xfrm>
            <a:off x="8601075" y="18097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B7077C-049C-455C-8A5F-DC144082394E}"/>
              </a:ext>
            </a:extLst>
          </p:cNvPr>
          <p:cNvSpPr>
            <a:spLocks noGrp="1"/>
          </p:cNvSpPr>
          <p:nvPr/>
        </p:nvSpPr>
        <p:spPr>
          <a:xfrm>
            <a:off x="9239250" y="175260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6F65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F65A8"/>
                </a:solidFill>
                <a:latin typeface="Helvetica Neue"/>
                <a:ea typeface="Helvetica Neue"/>
                <a:cs typeface="Helvetica Neue"/>
              </a:rPr>
              <a:t>SALUD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C54ECF-7EE4-44CF-A9C6-EE84885570C8}"/>
              </a:ext>
            </a:extLst>
          </p:cNvPr>
          <p:cNvSpPr>
            <a:spLocks noGrp="1"/>
          </p:cNvSpPr>
          <p:nvPr/>
        </p:nvSpPr>
        <p:spPr>
          <a:xfrm>
            <a:off x="8639175" y="2333625"/>
            <a:ext cx="28098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Riesgo clínico y priorización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B08099C-A398-469A-878E-685AC215226E}"/>
              </a:ext>
            </a:extLst>
          </p:cNvPr>
          <p:cNvSpPr>
            <a:spLocks noGrp="1"/>
          </p:cNvSpPr>
          <p:nvPr/>
        </p:nvSpPr>
        <p:spPr>
          <a:xfrm>
            <a:off x="619125" y="3524250"/>
            <a:ext cx="3429000" cy="1571625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 w="28575">
            <a:solidFill>
              <a:srgbClr val="F4B64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DA9E938-C4D7-4CC7-9F9D-D6DBBEE5F850}"/>
              </a:ext>
            </a:extLst>
          </p:cNvPr>
          <p:cNvSpPr>
            <a:spLocks noGrp="1"/>
          </p:cNvSpPr>
          <p:nvPr/>
        </p:nvSpPr>
        <p:spPr>
          <a:xfrm>
            <a:off x="885825" y="3810000"/>
            <a:ext cx="457200" cy="457200"/>
          </a:xfrm>
          <a:prstGeom prst="ellipse">
            <a:avLst/>
          </a:prstGeom>
          <a:solidFill>
            <a:srgbClr val="F4B64E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8CBBDA-BEAB-42A6-932C-C1FFFC399944}"/>
              </a:ext>
            </a:extLst>
          </p:cNvPr>
          <p:cNvSpPr>
            <a:spLocks noGrp="1"/>
          </p:cNvSpPr>
          <p:nvPr/>
        </p:nvSpPr>
        <p:spPr>
          <a:xfrm>
            <a:off x="885825" y="38100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92744-83C3-4E2D-BE39-D6E8E9745621}"/>
              </a:ext>
            </a:extLst>
          </p:cNvPr>
          <p:cNvSpPr>
            <a:spLocks noGrp="1"/>
          </p:cNvSpPr>
          <p:nvPr/>
        </p:nvSpPr>
        <p:spPr>
          <a:xfrm>
            <a:off x="1524000" y="375285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E4A17E-E75E-44B0-A30D-394F574167F0}"/>
              </a:ext>
            </a:extLst>
          </p:cNvPr>
          <p:cNvSpPr>
            <a:spLocks noGrp="1"/>
          </p:cNvSpPr>
          <p:nvPr/>
        </p:nvSpPr>
        <p:spPr>
          <a:xfrm>
            <a:off x="923925" y="4333875"/>
            <a:ext cx="28098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Propensión y respuesta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665B2E7-1272-469B-AFB6-193745BC3804}"/>
              </a:ext>
            </a:extLst>
          </p:cNvPr>
          <p:cNvSpPr>
            <a:spLocks noGrp="1"/>
          </p:cNvSpPr>
          <p:nvPr/>
        </p:nvSpPr>
        <p:spPr>
          <a:xfrm>
            <a:off x="4476750" y="3524250"/>
            <a:ext cx="3429000" cy="1571625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 w="28575">
            <a:solidFill>
              <a:srgbClr val="2D6D8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79F0F05-DC8E-42A0-A309-6303B02D7C31}"/>
              </a:ext>
            </a:extLst>
          </p:cNvPr>
          <p:cNvSpPr>
            <a:spLocks noGrp="1"/>
          </p:cNvSpPr>
          <p:nvPr/>
        </p:nvSpPr>
        <p:spPr>
          <a:xfrm>
            <a:off x="4743450" y="3810000"/>
            <a:ext cx="457200" cy="457200"/>
          </a:xfrm>
          <a:prstGeom prst="ellipse">
            <a:avLst/>
          </a:prstGeom>
          <a:solidFill>
            <a:srgbClr val="2D6D8E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D60920-6281-4447-AD4A-9FC646BD10B0}"/>
              </a:ext>
            </a:extLst>
          </p:cNvPr>
          <p:cNvSpPr>
            <a:spLocks noGrp="1"/>
          </p:cNvSpPr>
          <p:nvPr/>
        </p:nvSpPr>
        <p:spPr>
          <a:xfrm>
            <a:off x="4743450" y="38100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676FF2-88CA-4E66-B2BF-01DED54DBD9E}"/>
              </a:ext>
            </a:extLst>
          </p:cNvPr>
          <p:cNvSpPr>
            <a:spLocks noGrp="1"/>
          </p:cNvSpPr>
          <p:nvPr/>
        </p:nvSpPr>
        <p:spPr>
          <a:xfrm>
            <a:off x="5381625" y="375285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2D6D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6D8E"/>
                </a:solidFill>
                <a:latin typeface="Helvetica Neue"/>
                <a:ea typeface="Helvetica Neue"/>
                <a:cs typeface="Helvetica Neue"/>
              </a:rPr>
              <a:t>OPERACIONES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B1E371-1F61-4D20-9FB0-F2BF5317DF81}"/>
              </a:ext>
            </a:extLst>
          </p:cNvPr>
          <p:cNvSpPr>
            <a:spLocks noGrp="1"/>
          </p:cNvSpPr>
          <p:nvPr/>
        </p:nvSpPr>
        <p:spPr>
          <a:xfrm>
            <a:off x="4781550" y="4333875"/>
            <a:ext cx="28098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Fallas y mantenimiento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C0156A5-A0C7-4C75-A9E5-96F95AEBBA23}"/>
              </a:ext>
            </a:extLst>
          </p:cNvPr>
          <p:cNvSpPr>
            <a:spLocks noGrp="1"/>
          </p:cNvSpPr>
          <p:nvPr/>
        </p:nvSpPr>
        <p:spPr>
          <a:xfrm>
            <a:off x="8334375" y="3524250"/>
            <a:ext cx="3429000" cy="1571625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 w="28575">
            <a:solidFill>
              <a:srgbClr val="2F9E75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F022F15-5E1A-4FCC-820B-AEDA25127817}"/>
              </a:ext>
            </a:extLst>
          </p:cNvPr>
          <p:cNvSpPr>
            <a:spLocks noGrp="1"/>
          </p:cNvSpPr>
          <p:nvPr/>
        </p:nvSpPr>
        <p:spPr>
          <a:xfrm>
            <a:off x="8601075" y="3810000"/>
            <a:ext cx="457200" cy="457200"/>
          </a:xfrm>
          <a:prstGeom prst="ellipse">
            <a:avLst/>
          </a:prstGeom>
          <a:solidFill>
            <a:srgbClr val="2F9E75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D3A4D9-749D-452F-9F7F-37F646B28ADA}"/>
              </a:ext>
            </a:extLst>
          </p:cNvPr>
          <p:cNvSpPr>
            <a:spLocks noGrp="1"/>
          </p:cNvSpPr>
          <p:nvPr/>
        </p:nvSpPr>
        <p:spPr>
          <a:xfrm>
            <a:off x="8601075" y="38100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BC9D96-A74D-4F9B-A26D-4D77DBDBFA89}"/>
              </a:ext>
            </a:extLst>
          </p:cNvPr>
          <p:cNvSpPr>
            <a:spLocks noGrp="1"/>
          </p:cNvSpPr>
          <p:nvPr/>
        </p:nvSpPr>
        <p:spPr>
          <a:xfrm>
            <a:off x="9239250" y="375285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2F9E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9E75"/>
                </a:solidFill>
                <a:latin typeface="Helvetica Neue"/>
                <a:ea typeface="Helvetica Neue"/>
                <a:cs typeface="Helvetica Neue"/>
              </a:rPr>
              <a:t>PRECIOS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3C1F3C0-3C3E-422B-9D83-A4A63B70CD99}"/>
              </a:ext>
            </a:extLst>
          </p:cNvPr>
          <p:cNvSpPr>
            <a:spLocks noGrp="1"/>
          </p:cNvSpPr>
          <p:nvPr/>
        </p:nvSpPr>
        <p:spPr>
          <a:xfrm>
            <a:off x="8639175" y="4333875"/>
            <a:ext cx="28098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Valoración y revenue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7E18A8-0A36-40CE-AB22-6BC593B546C5}"/>
              </a:ext>
            </a:extLst>
          </p:cNvPr>
          <p:cNvSpPr>
            <a:spLocks noGrp="1"/>
          </p:cNvSpPr>
          <p:nvPr/>
        </p:nvSpPr>
        <p:spPr>
          <a:xfrm>
            <a:off x="1000125" y="5857875"/>
            <a:ext cx="10191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Boosting destaca cuando hay relaciones no lineales, interacciones y datos estructurados heterogéneos.</a:t>
            </a:r>
          </a:p>
        </p:txBody>
      </p:sp>
    </p:spTree>
    <p:extLst>
      <p:ext uri="{BB962C8B-B14F-4D97-AF65-F5344CB8AC3E}">
        <p14:creationId xmlns:p14="http://schemas.microsoft.com/office/powerpoint/2010/main" val="164830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3100FA7-09A0-4B71-92C2-D4E4D982EAB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Guía práctica de elección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1D0E3B-B6BF-4529-9261-C3AA894B7307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49A000-2A98-4E2C-88C4-97AF565275ED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CF0B7F-09E6-4031-AC78-579872687FB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D3504-6074-42DD-88B1-9BE694048D23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19/20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0922AE-469A-4DB4-B1E1-C59AF857D403}"/>
              </a:ext>
            </a:extLst>
          </p:cNvPr>
          <p:cNvSpPr>
            <a:spLocks noGrp="1"/>
          </p:cNvSpPr>
          <p:nvPr/>
        </p:nvSpPr>
        <p:spPr>
          <a:xfrm>
            <a:off x="523875" y="2667000"/>
            <a:ext cx="1809750" cy="857250"/>
          </a:xfrm>
          <a:prstGeom prst="roundRect">
            <a:avLst>
              <a:gd name="adj" fmla="val 8889"/>
            </a:avLst>
          </a:prstGeom>
          <a:solidFill>
            <a:srgbClr val="071B2D"/>
          </a:solidFill>
          <a:ln w="19050">
            <a:solidFill>
              <a:srgbClr val="071B2D"/>
            </a:solidFill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¿Qué domina</a:t>
            </a:r>
          </a:p>
          <a:p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tu problema?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15FB6E1-B8CE-4188-80B5-E63466FBA19D}"/>
              </a:ext>
            </a:extLst>
          </p:cNvPr>
          <p:cNvSpPr>
            <a:spLocks noGrp="1"/>
          </p:cNvSpPr>
          <p:nvPr/>
        </p:nvSpPr>
        <p:spPr>
          <a:xfrm>
            <a:off x="3476625" y="1428750"/>
            <a:ext cx="21907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2D6D8E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Línea base simple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36D00A-914E-4D5D-B7BE-85E1BEAEE803}"/>
              </a:ext>
            </a:extLst>
          </p:cNvPr>
          <p:cNvSpPr>
            <a:spLocks noGrp="1"/>
          </p:cNvSpPr>
          <p:nvPr/>
        </p:nvSpPr>
        <p:spPr>
          <a:xfrm>
            <a:off x="7239000" y="1428750"/>
            <a:ext cx="2238375" cy="628650"/>
          </a:xfrm>
          <a:prstGeom prst="roundRect">
            <a:avLst>
              <a:gd name="adj" fmla="val 12121"/>
            </a:avLst>
          </a:prstGeom>
          <a:solidFill>
            <a:srgbClr val="2D6D8E"/>
          </a:solidFill>
          <a:ln w="19050">
            <a:solidFill>
              <a:srgbClr val="2D6D8E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AdaBoost</a:t>
            </a:r>
          </a:p>
        </p:txBody>
      </p:sp>
      <p:cxnSp>
        <p:nvCxnSpPr>
          <p:cNvPr id="37" name="Elbow Connector 36"/>
          <p:cNvCxnSpPr>
            <a:stCxn id="6" idx="3"/>
            <a:endCxn id="7" idx="1"/>
          </p:cNvCxnSpPr>
          <p:nvPr/>
        </p:nvCxnSpPr>
        <p:spPr>
          <a:xfrm flipV="1">
            <a:off x="2333625" y="1743075"/>
            <a:ext cx="1143000" cy="1352550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38" name="Straight Arrow Connector 37"/>
          <p:cNvCxnSpPr>
            <a:stCxn id="7" idx="3"/>
            <a:endCxn id="8" idx="1"/>
          </p:cNvCxnSpPr>
          <p:nvPr/>
        </p:nvCxnSpPr>
        <p:spPr>
          <a:xfrm>
            <a:off x="5667375" y="1743075"/>
            <a:ext cx="1571625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11EE326-539D-48A1-9F18-2B9A8ADDC405}"/>
              </a:ext>
            </a:extLst>
          </p:cNvPr>
          <p:cNvSpPr>
            <a:spLocks noGrp="1"/>
          </p:cNvSpPr>
          <p:nvPr/>
        </p:nvSpPr>
        <p:spPr>
          <a:xfrm>
            <a:off x="3476625" y="2524125"/>
            <a:ext cx="21907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Control didáctico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9696BF1-4FFB-4657-BEE7-09A618E4C6A0}"/>
              </a:ext>
            </a:extLst>
          </p:cNvPr>
          <p:cNvSpPr>
            <a:spLocks noGrp="1"/>
          </p:cNvSpPr>
          <p:nvPr/>
        </p:nvSpPr>
        <p:spPr>
          <a:xfrm>
            <a:off x="7239000" y="2524125"/>
            <a:ext cx="2238375" cy="628650"/>
          </a:xfrm>
          <a:prstGeom prst="roundRect">
            <a:avLst>
              <a:gd name="adj" fmla="val 12121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Gradient Boosting</a:t>
            </a:r>
          </a:p>
        </p:txBody>
      </p:sp>
      <p:cxnSp>
        <p:nvCxnSpPr>
          <p:cNvPr id="41" name="Elbow Connector 40"/>
          <p:cNvCxnSpPr>
            <a:stCxn id="6" idx="3"/>
            <a:endCxn id="11" idx="1"/>
          </p:cNvCxnSpPr>
          <p:nvPr/>
        </p:nvCxnSpPr>
        <p:spPr>
          <a:xfrm flipV="1">
            <a:off x="2333625" y="2838450"/>
            <a:ext cx="1143000" cy="257175"/>
          </a:xfrm>
          <a:prstGeom prst="bentConnector3">
            <a:avLst>
              <a:gd name="adj1" fmla="val 50000"/>
            </a:avLst>
          </a:prstGeom>
          <a:ln w="19050">
            <a:solidFill>
              <a:srgbClr val="17B6B0"/>
            </a:solidFill>
            <a:prstDash val="solid"/>
            <a:tailEnd type="arrow" w="med" len="med"/>
          </a:ln>
        </p:spPr>
      </p:cxnSp>
      <p:cxnSp>
        <p:nvCxnSpPr>
          <p:cNvPr id="42" name="Straight Arrow Connector 41"/>
          <p:cNvCxnSpPr>
            <a:stCxn id="11" idx="3"/>
            <a:endCxn id="12" idx="1"/>
          </p:cNvCxnSpPr>
          <p:nvPr/>
        </p:nvCxnSpPr>
        <p:spPr>
          <a:xfrm>
            <a:off x="5667375" y="2838450"/>
            <a:ext cx="1571625" cy="0"/>
          </a:xfrm>
          <a:prstGeom prst="straightConnector1">
            <a:avLst/>
          </a:prstGeom>
          <a:ln w="19050">
            <a:solidFill>
              <a:srgbClr val="17B6B0"/>
            </a:solidFill>
            <a:prstDash val="solid"/>
            <a:tailEnd type="arrow" w="med" len="med"/>
          </a:ln>
        </p:spPr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B32599E-5C8E-403E-94B5-99522079DB5F}"/>
              </a:ext>
            </a:extLst>
          </p:cNvPr>
          <p:cNvSpPr>
            <a:spLocks noGrp="1"/>
          </p:cNvSpPr>
          <p:nvPr/>
        </p:nvSpPr>
        <p:spPr>
          <a:xfrm>
            <a:off x="3476625" y="3619500"/>
            <a:ext cx="21907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Rendimiento general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16F57C7-50D7-4B6F-8407-BE8CDE496DB7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2238375" cy="628650"/>
          </a:xfrm>
          <a:prstGeom prst="roundRect">
            <a:avLst>
              <a:gd name="adj" fmla="val 12121"/>
            </a:avLst>
          </a:prstGeom>
          <a:solidFill>
            <a:srgbClr val="F4B64E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XGBoost</a:t>
            </a:r>
          </a:p>
        </p:txBody>
      </p:sp>
      <p:cxnSp>
        <p:nvCxnSpPr>
          <p:cNvPr id="45" name="Elbow Connector 44"/>
          <p:cNvCxnSpPr>
            <a:stCxn id="6" idx="3"/>
            <a:endCxn id="15" idx="1"/>
          </p:cNvCxnSpPr>
          <p:nvPr/>
        </p:nvCxnSpPr>
        <p:spPr>
          <a:xfrm>
            <a:off x="2333625" y="3095625"/>
            <a:ext cx="1143000" cy="838200"/>
          </a:xfrm>
          <a:prstGeom prst="bentConnector3">
            <a:avLst>
              <a:gd name="adj1" fmla="val 50000"/>
            </a:avLst>
          </a:prstGeom>
          <a:ln w="19050">
            <a:solidFill>
              <a:srgbClr val="F4B64E"/>
            </a:solidFill>
            <a:prstDash val="solid"/>
            <a:tailEnd type="arrow" w="med" len="med"/>
          </a:ln>
        </p:spPr>
      </p:cxnSp>
      <p:cxnSp>
        <p:nvCxnSpPr>
          <p:cNvPr id="46" name="Straight Arrow Connector 45"/>
          <p:cNvCxnSpPr>
            <a:stCxn id="15" idx="3"/>
            <a:endCxn id="16" idx="1"/>
          </p:cNvCxnSpPr>
          <p:nvPr/>
        </p:nvCxnSpPr>
        <p:spPr>
          <a:xfrm>
            <a:off x="5667375" y="3933825"/>
            <a:ext cx="1571625" cy="0"/>
          </a:xfrm>
          <a:prstGeom prst="straightConnector1">
            <a:avLst/>
          </a:prstGeom>
          <a:ln w="19050">
            <a:solidFill>
              <a:srgbClr val="F4B64E"/>
            </a:solidFill>
            <a:prstDash val="solid"/>
            <a:tailEnd type="arrow" w="med" len="med"/>
          </a:ln>
        </p:spPr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DDD6B6-00EF-44D2-8B1A-13B490102108}"/>
              </a:ext>
            </a:extLst>
          </p:cNvPr>
          <p:cNvSpPr>
            <a:spLocks noGrp="1"/>
          </p:cNvSpPr>
          <p:nvPr/>
        </p:nvSpPr>
        <p:spPr>
          <a:xfrm>
            <a:off x="3476625" y="4714875"/>
            <a:ext cx="21907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Gran escala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BE7FF48-5E92-4D64-8377-0B3C8F984CCE}"/>
              </a:ext>
            </a:extLst>
          </p:cNvPr>
          <p:cNvSpPr>
            <a:spLocks noGrp="1"/>
          </p:cNvSpPr>
          <p:nvPr/>
        </p:nvSpPr>
        <p:spPr>
          <a:xfrm>
            <a:off x="7239000" y="4714875"/>
            <a:ext cx="2238375" cy="628650"/>
          </a:xfrm>
          <a:prstGeom prst="roundRect">
            <a:avLst>
              <a:gd name="adj" fmla="val 12121"/>
            </a:avLst>
          </a:prstGeom>
          <a:solidFill>
            <a:srgbClr val="2F9E75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LightGBM</a:t>
            </a:r>
          </a:p>
        </p:txBody>
      </p:sp>
      <p:cxnSp>
        <p:nvCxnSpPr>
          <p:cNvPr id="49" name="Elbow Connector 48"/>
          <p:cNvCxnSpPr>
            <a:stCxn id="6" idx="3"/>
            <a:endCxn id="19" idx="1"/>
          </p:cNvCxnSpPr>
          <p:nvPr/>
        </p:nvCxnSpPr>
        <p:spPr>
          <a:xfrm>
            <a:off x="2333625" y="3095625"/>
            <a:ext cx="1143000" cy="1933575"/>
          </a:xfrm>
          <a:prstGeom prst="bentConnector3">
            <a:avLst>
              <a:gd name="adj1" fmla="val 50000"/>
            </a:avLst>
          </a:prstGeom>
          <a:ln w="19050">
            <a:solidFill>
              <a:srgbClr val="2F9E75"/>
            </a:solidFill>
            <a:prstDash val="solid"/>
            <a:tailEnd type="arrow" w="med" len="med"/>
          </a:ln>
        </p:spPr>
      </p:cxnSp>
      <p:cxnSp>
        <p:nvCxnSpPr>
          <p:cNvPr id="50" name="Straight Arrow Connector 49"/>
          <p:cNvCxnSpPr>
            <a:stCxn id="19" idx="3"/>
            <a:endCxn id="20" idx="1"/>
          </p:cNvCxnSpPr>
          <p:nvPr/>
        </p:nvCxnSpPr>
        <p:spPr>
          <a:xfrm>
            <a:off x="5667375" y="5029200"/>
            <a:ext cx="1571625" cy="0"/>
          </a:xfrm>
          <a:prstGeom prst="straightConnector1">
            <a:avLst/>
          </a:prstGeom>
          <a:ln w="19050">
            <a:solidFill>
              <a:srgbClr val="2F9E75"/>
            </a:solidFill>
            <a:prstDash val="solid"/>
            <a:tailEnd type="arrow" w="med" len="med"/>
          </a:ln>
        </p:spPr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335C5C7-DC88-41F6-8DF8-F9E6138FED97}"/>
              </a:ext>
            </a:extLst>
          </p:cNvPr>
          <p:cNvSpPr>
            <a:spLocks noGrp="1"/>
          </p:cNvSpPr>
          <p:nvPr/>
        </p:nvSpPr>
        <p:spPr>
          <a:xfrm>
            <a:off x="3476625" y="5810250"/>
            <a:ext cx="2190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6F65A8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Muchas categorías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D1298A8-693D-47C7-919E-B7DCC1AE466E}"/>
              </a:ext>
            </a:extLst>
          </p:cNvPr>
          <p:cNvSpPr>
            <a:spLocks noGrp="1"/>
          </p:cNvSpPr>
          <p:nvPr/>
        </p:nvSpPr>
        <p:spPr>
          <a:xfrm>
            <a:off x="7239000" y="5810250"/>
            <a:ext cx="2238375" cy="514350"/>
          </a:xfrm>
          <a:prstGeom prst="roundRect">
            <a:avLst>
              <a:gd name="adj" fmla="val 14815"/>
            </a:avLst>
          </a:prstGeom>
          <a:solidFill>
            <a:srgbClr val="6F65A8"/>
          </a:solidFill>
          <a:ln w="19050">
            <a:solidFill>
              <a:srgbClr val="6F65A8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CatBoost</a:t>
            </a:r>
          </a:p>
        </p:txBody>
      </p:sp>
      <p:cxnSp>
        <p:nvCxnSpPr>
          <p:cNvPr id="53" name="Elbow Connector 52"/>
          <p:cNvCxnSpPr>
            <a:stCxn id="6" idx="3"/>
            <a:endCxn id="23" idx="1"/>
          </p:cNvCxnSpPr>
          <p:nvPr/>
        </p:nvCxnSpPr>
        <p:spPr>
          <a:xfrm>
            <a:off x="2333625" y="3095625"/>
            <a:ext cx="1143000" cy="2971800"/>
          </a:xfrm>
          <a:prstGeom prst="bentConnector3">
            <a:avLst>
              <a:gd name="adj1" fmla="val 50000"/>
            </a:avLst>
          </a:prstGeom>
          <a:ln w="19050">
            <a:solidFill>
              <a:srgbClr val="6F65A8"/>
            </a:solidFill>
            <a:prstDash val="solid"/>
            <a:tailEnd type="arrow" w="med" len="med"/>
          </a:ln>
        </p:spPr>
      </p:cxnSp>
      <p:cxnSp>
        <p:nvCxnSpPr>
          <p:cNvPr id="54" name="Straight Arrow Connector 53"/>
          <p:cNvCxnSpPr>
            <a:stCxn id="23" idx="3"/>
            <a:endCxn id="24" idx="1"/>
          </p:cNvCxnSpPr>
          <p:nvPr/>
        </p:nvCxnSpPr>
        <p:spPr>
          <a:xfrm>
            <a:off x="5667375" y="6067425"/>
            <a:ext cx="1571625" cy="0"/>
          </a:xfrm>
          <a:prstGeom prst="straightConnector1">
            <a:avLst/>
          </a:prstGeom>
          <a:ln w="19050">
            <a:solidFill>
              <a:srgbClr val="6F65A8"/>
            </a:solidFill>
            <a:prstDash val="solid"/>
            <a:tailEnd type="arrow" w="med" len="med"/>
          </a:ln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9133186-924E-41CC-A809-9D015782CCCC}"/>
              </a:ext>
            </a:extLst>
          </p:cNvPr>
          <p:cNvSpPr>
            <a:spLocks noGrp="1"/>
          </p:cNvSpPr>
          <p:nvPr/>
        </p:nvSpPr>
        <p:spPr>
          <a:xfrm>
            <a:off x="9906000" y="2476500"/>
            <a:ext cx="16668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Valida la hipótesis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3B3496-4073-478F-919C-3E1C75793EC8}"/>
              </a:ext>
            </a:extLst>
          </p:cNvPr>
          <p:cNvSpPr>
            <a:spLocks noGrp="1"/>
          </p:cNvSpPr>
          <p:nvPr/>
        </p:nvSpPr>
        <p:spPr>
          <a:xfrm>
            <a:off x="9763125" y="2952750"/>
            <a:ext cx="1905000" cy="1952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28600" indent="-114300" algn="l">
              <a:spcAft>
                <a:spcPts val="800"/>
              </a:spcAft>
              <a:buChar char="•"/>
              <a:def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Misma partición</a:t>
            </a:r>
          </a:p>
          <a:p>
            <a:pPr marL="228600" indent="-114300" algn="l">
              <a:spcAft>
                <a:spcPts val="800"/>
              </a:spcAft>
              <a:buChar char="•"/>
              <a:def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Métrica adecuada</a:t>
            </a:r>
          </a:p>
          <a:p>
            <a:pPr marL="228600" indent="-114300" algn="l">
              <a:spcAft>
                <a:spcPts val="800"/>
              </a:spcAft>
              <a:buChar char="•"/>
              <a:def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Tiempo y memoria</a:t>
            </a:r>
          </a:p>
          <a:p>
            <a:pPr marL="228600" indent="-114300" algn="l">
              <a:spcAft>
                <a:spcPts val="800"/>
              </a:spcAft>
              <a:buChar char="•"/>
              <a:def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Estabilidad</a:t>
            </a:r>
          </a:p>
        </p:txBody>
      </p:sp>
    </p:spTree>
    <p:extLst>
      <p:ext uri="{BB962C8B-B14F-4D97-AF65-F5344CB8AC3E}">
        <p14:creationId xmlns:p14="http://schemas.microsoft.com/office/powerpoint/2010/main" val="2016600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517C9BE-74E0-48B5-800A-EE200DBA482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Síntesis y comprobación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43A2B4-66A3-467A-999B-C10A453F2036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4772F9-7E0D-4179-9F9B-45CD5ADFD509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470C07-89A9-49F7-923D-7E707C578C2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Modelos de Boosting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AD5D32-578C-4623-845A-1D04F6B02D63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20/20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B7CA6B-B1C0-40F3-9C9C-0FB786A3E7D6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Tres ideas para llevar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C63D5E-862C-4205-A0FD-79EC32EB1D0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514350" cy="51435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3D3827-CF7E-449A-8D12-A7849688776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D2B570-5814-46F5-B041-7A3EFEF28821}"/>
              </a:ext>
            </a:extLst>
          </p:cNvPr>
          <p:cNvSpPr>
            <a:spLocks noGrp="1"/>
          </p:cNvSpPr>
          <p:nvPr/>
        </p:nvSpPr>
        <p:spPr>
          <a:xfrm>
            <a:off x="1524000" y="2000250"/>
            <a:ext cx="44767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Boosting aprende de forma secuencial.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0E4638-1A4C-45E5-A32A-8B6FB8421C51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514350" cy="51435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727A69-B06A-4CDB-821A-43999E1F4D4E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A9F964-1858-47DB-A8A8-73605FE64913}"/>
              </a:ext>
            </a:extLst>
          </p:cNvPr>
          <p:cNvSpPr>
            <a:spLocks noGrp="1"/>
          </p:cNvSpPr>
          <p:nvPr/>
        </p:nvSpPr>
        <p:spPr>
          <a:xfrm>
            <a:off x="1524000" y="3000375"/>
            <a:ext cx="44767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La pérdida define qué corrige cada etapa.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2869C0-B3CB-49A8-B2D2-4B0EE3666516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514350" cy="514350"/>
          </a:xfrm>
          <a:prstGeom prst="ellipse">
            <a:avLst/>
          </a:prstGeom>
          <a:solidFill>
            <a:srgbClr val="F4B64E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8E2D2-60E6-416E-AFC6-86FCACF08D36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67ECA8-1BE5-441B-91B7-864C841A3001}"/>
              </a:ext>
            </a:extLst>
          </p:cNvPr>
          <p:cNvSpPr>
            <a:spLocks noGrp="1"/>
          </p:cNvSpPr>
          <p:nvPr/>
        </p:nvSpPr>
        <p:spPr>
          <a:xfrm>
            <a:off x="1524000" y="4000500"/>
            <a:ext cx="44767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Cada biblioteca prioriza un problema distinto.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67DA4172-ACBA-4B81-87A2-B2988FA76856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0" cy="4381500"/>
          </a:xfrm>
          <a:prstGeom prst="line">
            <a:avLst/>
          </a:prstGeom>
          <a:noFill/>
          <a:ln w="19050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E27B2D-98C2-4964-903B-1B72353E3799}"/>
              </a:ext>
            </a:extLst>
          </p:cNvPr>
          <p:cNvSpPr>
            <a:spLocks noGrp="1"/>
          </p:cNvSpPr>
          <p:nvPr/>
        </p:nvSpPr>
        <p:spPr>
          <a:xfrm>
            <a:off x="6715125" y="1381125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Preguntas de repaso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0ADFFBB-F246-4C49-B660-A1862362D5DA}"/>
              </a:ext>
            </a:extLst>
          </p:cNvPr>
          <p:cNvSpPr>
            <a:spLocks noGrp="1"/>
          </p:cNvSpPr>
          <p:nvPr/>
        </p:nvSpPr>
        <p:spPr>
          <a:xfrm>
            <a:off x="6715125" y="2095500"/>
            <a:ext cx="4429125" cy="781050"/>
          </a:xfrm>
          <a:prstGeom prst="roundRect">
            <a:avLst>
              <a:gd name="adj" fmla="val 9756"/>
            </a:avLst>
          </a:prstGeom>
          <a:solidFill>
            <a:srgbClr val="EAF4F6"/>
          </a:solidFill>
          <a:ln w="19050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¿Qué cambia entre AdaBoost y Gradient Boosting?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B3AB354-B694-4822-BDD6-CFBDA5B8D9BA}"/>
              </a:ext>
            </a:extLst>
          </p:cNvPr>
          <p:cNvSpPr>
            <a:spLocks noGrp="1"/>
          </p:cNvSpPr>
          <p:nvPr/>
        </p:nvSpPr>
        <p:spPr>
          <a:xfrm>
            <a:off x="6715125" y="3238500"/>
            <a:ext cx="4429125" cy="781050"/>
          </a:xfrm>
          <a:prstGeom prst="roundRect">
            <a:avLst>
              <a:gd name="adj" fmla="val 9756"/>
            </a:avLst>
          </a:prstGeom>
          <a:solidFill>
            <a:srgbClr val="FFF1D9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¿Por qué learning_rate y número de árboles interactúan?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B8B5DEA-B4A2-42D8-A920-C2E07F2D7F28}"/>
              </a:ext>
            </a:extLst>
          </p:cNvPr>
          <p:cNvSpPr>
            <a:spLocks noGrp="1"/>
          </p:cNvSpPr>
          <p:nvPr/>
        </p:nvSpPr>
        <p:spPr>
          <a:xfrm>
            <a:off x="6715125" y="4381500"/>
            <a:ext cx="4429125" cy="781050"/>
          </a:xfrm>
          <a:prstGeom prst="roundRect">
            <a:avLst>
              <a:gd name="adj" fmla="val 9756"/>
            </a:avLst>
          </a:prstGeom>
          <a:solidFill>
            <a:srgbClr val="EAF4F6"/>
          </a:solidFill>
          <a:ln w="19050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¿</a:t>
            </a:r>
            <a:r>
              <a:rPr sz="15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Cuándo</a:t>
            </a:r>
            <a:r>
              <a:rPr sz="15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priorizarías</a:t>
            </a:r>
            <a:r>
              <a:rPr sz="15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LightGBM</a:t>
            </a:r>
            <a:r>
              <a:rPr sz="15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1EEDED-557F-4B1E-9E90-CD0F775A0FB0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Siguiente paso: comparar los cinco modelos bajo el mismo pipeline, validación y presupuesto.</a:t>
            </a:r>
          </a:p>
        </p:txBody>
      </p:sp>
    </p:spTree>
    <p:extLst>
      <p:ext uri="{BB962C8B-B14F-4D97-AF65-F5344CB8AC3E}">
        <p14:creationId xmlns:p14="http://schemas.microsoft.com/office/powerpoint/2010/main" val="20830999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1172</Words>
  <Application>Microsoft Macintosh PowerPoint</Application>
  <DocSecurity>0</DocSecurity>
  <PresentationFormat>Widescreen</PresentationFormat>
  <Paragraphs>333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Calibri</vt:lpstr>
      <vt:lpstr>Cambria Math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Bastian Galasso</cp:lastModifiedBy>
  <cp:revision>2</cp:revision>
  <dcterms:created xsi:type="dcterms:W3CDTF">2026-09-08T21:31:30Z</dcterms:created>
  <dcterms:modified xsi:type="dcterms:W3CDTF">2026-09-10T14:27:17Z</dcterms:modified>
</cp:coreProperties>
</file>